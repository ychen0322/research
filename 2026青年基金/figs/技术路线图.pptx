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7" r:id="rId2"/>
    <p:sldId id="272" r:id="rId3"/>
    <p:sldId id="278" r:id="rId4"/>
    <p:sldId id="275" r:id="rId5"/>
    <p:sldId id="282" r:id="rId6"/>
    <p:sldId id="269" r:id="rId7"/>
    <p:sldId id="283" r:id="rId8"/>
    <p:sldId id="280" r:id="rId9"/>
    <p:sldId id="281" r:id="rId10"/>
    <p:sldId id="273" r:id="rId11"/>
    <p:sldId id="28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490F"/>
    <a:srgbClr val="C8B9DB"/>
    <a:srgbClr val="843DBB"/>
    <a:srgbClr val="CA9916"/>
    <a:srgbClr val="D3A41D"/>
    <a:srgbClr val="7030A0"/>
    <a:srgbClr val="E2AD09"/>
    <a:srgbClr val="DF0004"/>
    <a:srgbClr val="C4ACEE"/>
    <a:srgbClr val="633D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5" autoAdjust="0"/>
    <p:restoredTop sz="96949"/>
  </p:normalViewPr>
  <p:slideViewPr>
    <p:cSldViewPr snapToGrid="0">
      <p:cViewPr>
        <p:scale>
          <a:sx n="75" d="100"/>
          <a:sy n="75" d="100"/>
        </p:scale>
        <p:origin x="2469" y="1327"/>
      </p:cViewPr>
      <p:guideLst/>
    </p:cSldViewPr>
  </p:slideViewPr>
  <p:notesTextViewPr>
    <p:cViewPr>
      <p:scale>
        <a:sx n="120" d="100"/>
        <a:sy n="1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0EEB8-9624-4C4E-AC03-B1F3846BEC63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B99D15-6DE8-E043-85B9-375D2B6510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32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5A35-3393-F662-CB01-6F1D938B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657A5-8F68-419F-7BD0-1D9810CEC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5F06F-D6A7-7D99-5688-FAEE4B88B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87E7F-864D-50FB-732D-0F1D649614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5172D-E651-37BD-C99A-13184553F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7CFBF-4BBB-8E4E-EA10-1792E1149D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5C19C-31A0-1F87-73ED-F4CF4E96C9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BC769-3960-4AC3-159A-391C42141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49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54FEA-BCD1-5B01-46D8-CC08361D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72D99-15E7-9D16-C451-C6EBEAADA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D315A-3B53-361B-0D90-2E46F476C9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8259F-A9C2-48DE-CAF6-25C120B4CB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293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01B4B-6F93-DC6D-3444-8930DB7FB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2B834-50A7-C793-52BA-01CF2A35B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D4012-D5E1-A083-083E-49C92116D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76DCF-0A72-829B-44A9-F641300183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76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5D51-9294-BFCA-3DC7-F8F433B82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774C2-8473-E9F6-DF68-B73AD015A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0F6D51-A686-69E4-A55D-E607E65F7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83499-0F12-8B69-539D-742CC6EB2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5045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45D4D-15CE-B625-BD6B-C931AB0DF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8C2559-C7D5-3759-31BB-22D43399A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82FE0F-B2DD-084A-837E-6AFB54A5B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7B5CC-9CB0-DC60-0BA3-C05B4F48F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26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2294A-436D-4036-FA34-915A30A93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4F9D6-920E-774B-C0F3-D40639F58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0CEA7-A4C0-F753-4D3D-3BAC24A20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8D12F-A990-BC8A-8672-2918A5F92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4859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3FE09-172D-9B6A-5A44-3F389C051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21743-1905-8A74-A09D-3D222B2CE4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C517D-DDB3-AFD6-C364-CAA36C21D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CBDC2-0662-F86D-EA94-32736E3C40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95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E60F1-6B0E-B4D3-9DC5-DC84EC576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FE1AE0-E7BA-DD49-A2C4-5EA5AD909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BE76D-CACC-AD8E-5BC1-3A3441C81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1EEFD-21CE-B1CD-03B7-BE193BD61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9842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AC4F-43BB-0FA6-35F9-4414B464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F082C5-517F-5883-BDEB-EA7AE0DB7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7CA4F-C24C-EF16-38C8-21D92800A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ACA43-C0D0-E5E5-745A-7752613C7F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67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85090-9DCC-2E7B-FE81-AFD7BDC00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FDCD1-9488-7C72-1EA0-B48E45479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3278F-8CED-BD03-2E3B-297EC57EB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7601BB-5F89-623B-329C-9F0D8D69C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B99D15-6DE8-E043-85B9-375D2B6510D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86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6742-F5B6-7166-9CDB-AB007DF50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D306E6-EB43-6281-3F87-E8F8EACE59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24B99-2F25-5584-3500-FA94050D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8FAC3-23B3-4D50-402B-78C5BB46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E591A-5319-880B-7A87-581D1D1F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28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B0A1-CBD2-F9E4-9298-E4C6054C8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4C01E-79BE-1319-527F-F954374B6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89948-A6CD-33F5-569E-9304B1629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B8606-C203-0997-39AE-586CBFCB2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E00A6-64A9-E2FD-06EB-59F16EA5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52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A0E6-8BC2-EA0B-1821-90FFD5517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9AE38-A21E-F9FB-7607-471B16236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8C0D3-1C53-E1D1-1777-7EE6B212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1BA26-98D5-3162-F0E4-9601F2CF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0232E-63C8-6695-920A-9D43EA26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3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C359-B198-4A3F-7A35-221506A9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9E1CA-A090-1C60-7E25-06000E354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A3CB49-89C3-EB93-A032-A79136987B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C6D4F-087C-29CD-7245-6602947A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901F7-6D53-5678-EF7A-89944E676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A5530-EA9A-1C5E-CB98-042B0CAED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07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61C9C-AF3B-6070-C608-3C6F63695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2AF36-8810-0F16-3FF2-BEA66E4D0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E5EB3-FFD1-74DC-97EC-0D633EE6B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07A843-AC2C-63F0-53E4-22BE75768D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110C03-7197-D81B-68AB-9E19287FF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E60B-AF4F-6C9C-89EF-A6F3E725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49F91A-0F5C-788F-F402-9A2DBA94F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2B69C-2B03-3ABF-004E-9D127804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64D6F-B2FE-1BAA-6A2A-9956F6F52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CAE22-3D68-657D-65E6-45240745A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1D1E0-19FC-4315-AC74-5DBD64A4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5948F-AB0A-F2B0-7265-AB8656DF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90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03EDB6-816E-60D5-623A-F53AEC90F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CA54EC-CB61-28BE-EE9D-922D4E29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D9B57-8E97-4713-F6C0-D4E0A18E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84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8EB23-5642-862F-D444-3F41DC8D0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580ED-9386-2C35-AE1A-B6F1A9229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48CBA-4326-F3EB-2EDF-CDE7E3E9A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4B3A1-C3CD-77CA-6C6A-65E955905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9F652-3F67-AD83-0C5A-9FEA61DEB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3F92F-0CC4-1DAE-D592-8E8B09A2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23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3D49-38A5-5F9F-8F5C-0DF3801B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19382-191A-6F52-6DDA-E6E0A5823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8478D-6E19-C26D-B4CF-B40AFCE66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2BF40-01BA-C3BE-098D-C30435DB6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084432-4630-01D3-1493-88059A559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39DA9C-CC56-27D4-EF15-F685834D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54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5ABB5-066C-D6C9-8728-7A745DC6D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6F17B-0793-61B4-DB6C-19A3BE1CA4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3486-0826-9B8F-B82A-37A9DC5DE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B7BF8-2329-3E45-1DDA-D26CB4D6B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EF102-7119-4853-2F24-B8C0FE93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7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65108-4608-3570-B8C1-DD48EE59A1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B9670-DD92-4A71-A545-CB52513CC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5704FA-6BF1-34EA-11CC-230312C6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29551-1669-C8CE-5274-CF6573B8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A376E-39D9-EEE1-AE1E-A6686ABB6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17343-20C7-21D9-B739-5254F158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B9618-0A0F-F666-113D-81CAB170E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C433C-1CBA-DB9D-E8A5-6976EB4EF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F3379-F8B5-C245-9050-DD47E4D52610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D3873-AD44-6F90-FAD1-33F813044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AD465-BE83-EF6C-619A-D7A20F263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36B9-BF8B-2244-AC7F-4E6050D037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21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207F-8945-AFC2-DC12-D560CB176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51D5E0B-44F9-4390-1DA3-53105D381B1D}"/>
              </a:ext>
            </a:extLst>
          </p:cNvPr>
          <p:cNvGrpSpPr/>
          <p:nvPr/>
        </p:nvGrpSpPr>
        <p:grpSpPr>
          <a:xfrm>
            <a:off x="1232576" y="1754941"/>
            <a:ext cx="8733190" cy="2109566"/>
            <a:chOff x="1232576" y="1754941"/>
            <a:chExt cx="8733190" cy="2109566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29635C68-DEAE-7D08-DF1F-5BC540ED5AC3}"/>
                </a:ext>
              </a:extLst>
            </p:cNvPr>
            <p:cNvSpPr/>
            <p:nvPr/>
          </p:nvSpPr>
          <p:spPr>
            <a:xfrm>
              <a:off x="1232576" y="1754941"/>
              <a:ext cx="2523650" cy="329128"/>
            </a:xfrm>
            <a:prstGeom prst="roundRect">
              <a:avLst>
                <a:gd name="adj" fmla="val 0"/>
              </a:avLst>
            </a:prstGeom>
            <a:solidFill>
              <a:srgbClr val="CA9916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图神经网络构建</a:t>
              </a:r>
              <a:endParaRPr lang="en-US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Rounded Rectangle 74">
              <a:extLst>
                <a:ext uri="{FF2B5EF4-FFF2-40B4-BE49-F238E27FC236}">
                  <a16:creationId xmlns:a16="http://schemas.microsoft.com/office/drawing/2014/main" id="{DCD78A1F-CB7A-434F-C4AC-172A90BC48DC}"/>
                </a:ext>
              </a:extLst>
            </p:cNvPr>
            <p:cNvSpPr/>
            <p:nvPr/>
          </p:nvSpPr>
          <p:spPr>
            <a:xfrm>
              <a:off x="1232576" y="2084068"/>
              <a:ext cx="2523650" cy="1780439"/>
            </a:xfrm>
            <a:prstGeom prst="roundRect">
              <a:avLst>
                <a:gd name="adj" fmla="val 0"/>
              </a:avLst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2" name="Rounded Rectangle 74">
              <a:extLst>
                <a:ext uri="{FF2B5EF4-FFF2-40B4-BE49-F238E27FC236}">
                  <a16:creationId xmlns:a16="http://schemas.microsoft.com/office/drawing/2014/main" id="{1D45E8F6-0C8A-690E-E58C-272E8307EE1F}"/>
                </a:ext>
              </a:extLst>
            </p:cNvPr>
            <p:cNvSpPr/>
            <p:nvPr/>
          </p:nvSpPr>
          <p:spPr>
            <a:xfrm>
              <a:off x="1471254" y="2246782"/>
              <a:ext cx="1902857" cy="376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各向异性粗糙元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Rounded Rectangle 74">
              <a:extLst>
                <a:ext uri="{FF2B5EF4-FFF2-40B4-BE49-F238E27FC236}">
                  <a16:creationId xmlns:a16="http://schemas.microsoft.com/office/drawing/2014/main" id="{6C9C31E0-16D0-6266-C837-9A6030540CD7}"/>
                </a:ext>
              </a:extLst>
            </p:cNvPr>
            <p:cNvSpPr/>
            <p:nvPr/>
          </p:nvSpPr>
          <p:spPr>
            <a:xfrm>
              <a:off x="1471253" y="2817838"/>
              <a:ext cx="1902857" cy="376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图网络映射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Rounded Rectangle 74">
              <a:extLst>
                <a:ext uri="{FF2B5EF4-FFF2-40B4-BE49-F238E27FC236}">
                  <a16:creationId xmlns:a16="http://schemas.microsoft.com/office/drawing/2014/main" id="{CF837A5B-88B9-B75B-0F3F-ED5FECBA7910}"/>
                </a:ext>
              </a:extLst>
            </p:cNvPr>
            <p:cNvSpPr/>
            <p:nvPr/>
          </p:nvSpPr>
          <p:spPr>
            <a:xfrm>
              <a:off x="1471253" y="3397728"/>
              <a:ext cx="1902857" cy="376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图网络优化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40510E5-FD8B-2D8E-2DFE-8870F24E0339}"/>
                </a:ext>
              </a:extLst>
            </p:cNvPr>
            <p:cNvGrpSpPr/>
            <p:nvPr/>
          </p:nvGrpSpPr>
          <p:grpSpPr>
            <a:xfrm>
              <a:off x="4332190" y="1754942"/>
              <a:ext cx="2523650" cy="2109565"/>
              <a:chOff x="4340355" y="1754942"/>
              <a:chExt cx="2523650" cy="2109565"/>
            </a:xfrm>
          </p:grpSpPr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035C0D28-4D72-1266-327C-C55299A086B3}"/>
                  </a:ext>
                </a:extLst>
              </p:cNvPr>
              <p:cNvSpPr/>
              <p:nvPr/>
            </p:nvSpPr>
            <p:spPr>
              <a:xfrm>
                <a:off x="4340355" y="1754942"/>
                <a:ext cx="2523650" cy="329128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75000"/>
                </a:schemeClr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空间可变泛化阻抗</a:t>
                </a:r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Rounded Rectangle 74">
                <a:extLst>
                  <a:ext uri="{FF2B5EF4-FFF2-40B4-BE49-F238E27FC236}">
                    <a16:creationId xmlns:a16="http://schemas.microsoft.com/office/drawing/2014/main" id="{0F5D8629-0578-8DBF-CC55-FBAD21A09214}"/>
                  </a:ext>
                </a:extLst>
              </p:cNvPr>
              <p:cNvSpPr/>
              <p:nvPr/>
            </p:nvSpPr>
            <p:spPr>
              <a:xfrm>
                <a:off x="4340355" y="2084068"/>
                <a:ext cx="2523650" cy="1780439"/>
              </a:xfrm>
              <a:prstGeom prst="roundRect">
                <a:avLst>
                  <a:gd name="adj" fmla="val 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ounded Rectangle 74">
                <a:extLst>
                  <a:ext uri="{FF2B5EF4-FFF2-40B4-BE49-F238E27FC236}">
                    <a16:creationId xmlns:a16="http://schemas.microsoft.com/office/drawing/2014/main" id="{69C430C4-DCF1-0505-8AA5-537502F426FD}"/>
                  </a:ext>
                </a:extLst>
              </p:cNvPr>
              <p:cNvSpPr/>
              <p:nvPr/>
            </p:nvSpPr>
            <p:spPr>
              <a:xfrm>
                <a:off x="4668421" y="2833528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生成式</a:t>
                </a:r>
                <a:r>
                  <a:rPr lang="en-US" altLang="zh-CN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AI</a:t>
                </a:r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框架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Rounded Rectangle 74">
                <a:extLst>
                  <a:ext uri="{FF2B5EF4-FFF2-40B4-BE49-F238E27FC236}">
                    <a16:creationId xmlns:a16="http://schemas.microsoft.com/office/drawing/2014/main" id="{7A5EE6A7-7D17-6642-775D-EA969C6A48E0}"/>
                  </a:ext>
                </a:extLst>
              </p:cNvPr>
              <p:cNvSpPr/>
              <p:nvPr/>
            </p:nvSpPr>
            <p:spPr>
              <a:xfrm>
                <a:off x="4668421" y="3397729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阻抗模型构建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D387B1A-8EB5-5380-5066-8F41166FA6DA}"/>
                </a:ext>
              </a:extLst>
            </p:cNvPr>
            <p:cNvGrpSpPr/>
            <p:nvPr/>
          </p:nvGrpSpPr>
          <p:grpSpPr>
            <a:xfrm>
              <a:off x="7442116" y="1768289"/>
              <a:ext cx="2523650" cy="2096030"/>
              <a:chOff x="7450281" y="1768289"/>
              <a:chExt cx="2523650" cy="2096030"/>
            </a:xfrm>
          </p:grpSpPr>
          <p:sp>
            <p:nvSpPr>
              <p:cNvPr id="40" name="Rounded Rectangle 8">
                <a:extLst>
                  <a:ext uri="{FF2B5EF4-FFF2-40B4-BE49-F238E27FC236}">
                    <a16:creationId xmlns:a16="http://schemas.microsoft.com/office/drawing/2014/main" id="{F821D0E4-AD8D-CE49-9868-B146EB1FF5EC}"/>
                  </a:ext>
                </a:extLst>
              </p:cNvPr>
              <p:cNvSpPr/>
              <p:nvPr/>
            </p:nvSpPr>
            <p:spPr>
              <a:xfrm>
                <a:off x="7450281" y="1768289"/>
                <a:ext cx="2523650" cy="315779"/>
              </a:xfrm>
              <a:prstGeom prst="roundRect">
                <a:avLst>
                  <a:gd name="adj" fmla="val 0"/>
                </a:avLst>
              </a:prstGeom>
              <a:solidFill>
                <a:srgbClr val="7030A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高超粗糙壁湍流机理</a:t>
                </a:r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" name="Rounded Rectangle 74">
                <a:extLst>
                  <a:ext uri="{FF2B5EF4-FFF2-40B4-BE49-F238E27FC236}">
                    <a16:creationId xmlns:a16="http://schemas.microsoft.com/office/drawing/2014/main" id="{DFD0B717-0849-81D2-938E-D76154E43B11}"/>
                  </a:ext>
                </a:extLst>
              </p:cNvPr>
              <p:cNvSpPr/>
              <p:nvPr/>
            </p:nvSpPr>
            <p:spPr>
              <a:xfrm>
                <a:off x="7450281" y="2083880"/>
                <a:ext cx="2523650" cy="1780439"/>
              </a:xfrm>
              <a:prstGeom prst="roundRect">
                <a:avLst>
                  <a:gd name="adj" fmla="val 0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ounded Rectangle 74">
                <a:extLst>
                  <a:ext uri="{FF2B5EF4-FFF2-40B4-BE49-F238E27FC236}">
                    <a16:creationId xmlns:a16="http://schemas.microsoft.com/office/drawing/2014/main" id="{9F99C956-DBD6-9D9C-7A94-807A577DB37D}"/>
                  </a:ext>
                </a:extLst>
              </p:cNvPr>
              <p:cNvSpPr/>
              <p:nvPr/>
            </p:nvSpPr>
            <p:spPr>
              <a:xfrm>
                <a:off x="7770230" y="2260130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数据库扩充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4" name="Rounded Rectangle 74">
                <a:extLst>
                  <a:ext uri="{FF2B5EF4-FFF2-40B4-BE49-F238E27FC236}">
                    <a16:creationId xmlns:a16="http://schemas.microsoft.com/office/drawing/2014/main" id="{9F2BDEAE-AC2F-FBB4-5E76-80AB4319638A}"/>
                  </a:ext>
                </a:extLst>
              </p:cNvPr>
              <p:cNvSpPr/>
              <p:nvPr/>
            </p:nvSpPr>
            <p:spPr>
              <a:xfrm>
                <a:off x="7787900" y="2846875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模态分解与分析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5" name="Rounded Rectangle 74">
                <a:extLst>
                  <a:ext uri="{FF2B5EF4-FFF2-40B4-BE49-F238E27FC236}">
                    <a16:creationId xmlns:a16="http://schemas.microsoft.com/office/drawing/2014/main" id="{A6A70EF8-A463-B5F6-B439-70320B3F5308}"/>
                  </a:ext>
                </a:extLst>
              </p:cNvPr>
              <p:cNvSpPr/>
              <p:nvPr/>
            </p:nvSpPr>
            <p:spPr>
              <a:xfrm>
                <a:off x="7787900" y="3411076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可压缩效应探究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" name="Down Arrow 66">
              <a:extLst>
                <a:ext uri="{FF2B5EF4-FFF2-40B4-BE49-F238E27FC236}">
                  <a16:creationId xmlns:a16="http://schemas.microsoft.com/office/drawing/2014/main" id="{6F42D148-09E9-AAFE-B03D-F50DB70A012B}"/>
                </a:ext>
              </a:extLst>
            </p:cNvPr>
            <p:cNvSpPr/>
            <p:nvPr/>
          </p:nvSpPr>
          <p:spPr>
            <a:xfrm rot="16200000">
              <a:off x="6939276" y="2841132"/>
              <a:ext cx="439333" cy="329128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0" name="Down Arrow 66">
              <a:extLst>
                <a:ext uri="{FF2B5EF4-FFF2-40B4-BE49-F238E27FC236}">
                  <a16:creationId xmlns:a16="http://schemas.microsoft.com/office/drawing/2014/main" id="{EBE936DE-DDAE-7E65-B42E-BC1FB533BFBE}"/>
                </a:ext>
              </a:extLst>
            </p:cNvPr>
            <p:cNvSpPr/>
            <p:nvPr/>
          </p:nvSpPr>
          <p:spPr>
            <a:xfrm rot="16200000">
              <a:off x="3864626" y="2841319"/>
              <a:ext cx="439333" cy="329128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Rounded Rectangle 74">
              <a:extLst>
                <a:ext uri="{FF2B5EF4-FFF2-40B4-BE49-F238E27FC236}">
                  <a16:creationId xmlns:a16="http://schemas.microsoft.com/office/drawing/2014/main" id="{44264EA5-6AA0-AA32-F929-3E50806FA646}"/>
                </a:ext>
              </a:extLst>
            </p:cNvPr>
            <p:cNvSpPr/>
            <p:nvPr/>
          </p:nvSpPr>
          <p:spPr>
            <a:xfrm>
              <a:off x="4660256" y="2257085"/>
              <a:ext cx="1902857" cy="376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数据库建立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12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2022-C8F5-A553-3140-25642883C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roup 389">
            <a:extLst>
              <a:ext uri="{FF2B5EF4-FFF2-40B4-BE49-F238E27FC236}">
                <a16:creationId xmlns:a16="http://schemas.microsoft.com/office/drawing/2014/main" id="{6E1BCE3D-82DC-B093-2F90-71057AA756F2}"/>
              </a:ext>
            </a:extLst>
          </p:cNvPr>
          <p:cNvGrpSpPr/>
          <p:nvPr/>
        </p:nvGrpSpPr>
        <p:grpSpPr>
          <a:xfrm>
            <a:off x="1343339" y="689089"/>
            <a:ext cx="8494656" cy="4615460"/>
            <a:chOff x="1343339" y="689089"/>
            <a:chExt cx="8494656" cy="4615460"/>
          </a:xfrm>
        </p:grpSpPr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2E874E31-E7D7-847D-9C00-CC11A711DC74}"/>
                </a:ext>
              </a:extLst>
            </p:cNvPr>
            <p:cNvGrpSpPr/>
            <p:nvPr/>
          </p:nvGrpSpPr>
          <p:grpSpPr>
            <a:xfrm>
              <a:off x="1343339" y="689089"/>
              <a:ext cx="8494656" cy="4615460"/>
              <a:chOff x="1229040" y="596560"/>
              <a:chExt cx="8494656" cy="461546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4619B21-7972-4250-1C1B-2F7031BB88EF}"/>
                  </a:ext>
                </a:extLst>
              </p:cNvPr>
              <p:cNvGrpSpPr/>
              <p:nvPr/>
            </p:nvGrpSpPr>
            <p:grpSpPr>
              <a:xfrm>
                <a:off x="1229156" y="4020510"/>
                <a:ext cx="8491368" cy="1191510"/>
                <a:chOff x="1173713" y="4784424"/>
                <a:chExt cx="8491368" cy="1191510"/>
              </a:xfrm>
            </p:grpSpPr>
            <p:sp>
              <p:nvSpPr>
                <p:cNvPr id="137" name="Rounded Rectangle 136">
                  <a:extLst>
                    <a:ext uri="{FF2B5EF4-FFF2-40B4-BE49-F238E27FC236}">
                      <a16:creationId xmlns:a16="http://schemas.microsoft.com/office/drawing/2014/main" id="{582F748B-AA37-E08E-77EC-BAA0333B50F7}"/>
                    </a:ext>
                  </a:extLst>
                </p:cNvPr>
                <p:cNvSpPr/>
                <p:nvPr/>
              </p:nvSpPr>
              <p:spPr>
                <a:xfrm>
                  <a:off x="4246183" y="5069227"/>
                  <a:ext cx="1413373" cy="7446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8B9DB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流动数据库扩充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8" name="Rounded Rectangle 137">
                  <a:extLst>
                    <a:ext uri="{FF2B5EF4-FFF2-40B4-BE49-F238E27FC236}">
                      <a16:creationId xmlns:a16="http://schemas.microsoft.com/office/drawing/2014/main" id="{B29DC603-9961-A589-B2FF-08D09928C6B3}"/>
                    </a:ext>
                  </a:extLst>
                </p:cNvPr>
                <p:cNvSpPr/>
                <p:nvPr/>
              </p:nvSpPr>
              <p:spPr>
                <a:xfrm>
                  <a:off x="5921278" y="5069227"/>
                  <a:ext cx="1673722" cy="7446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8B9DB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模态分解与分析方法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9" name="Rounded Rectangle 138">
                  <a:extLst>
                    <a:ext uri="{FF2B5EF4-FFF2-40B4-BE49-F238E27FC236}">
                      <a16:creationId xmlns:a16="http://schemas.microsoft.com/office/drawing/2014/main" id="{D05A0470-DE09-1608-19BA-D84E03036081}"/>
                    </a:ext>
                  </a:extLst>
                </p:cNvPr>
                <p:cNvSpPr/>
                <p:nvPr/>
              </p:nvSpPr>
              <p:spPr>
                <a:xfrm>
                  <a:off x="1786014" y="5069227"/>
                  <a:ext cx="2130299" cy="754586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8B9DB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高超声速粗糙壁湍流简化模拟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0" name="Rounded Rectangle 139">
                  <a:extLst>
                    <a:ext uri="{FF2B5EF4-FFF2-40B4-BE49-F238E27FC236}">
                      <a16:creationId xmlns:a16="http://schemas.microsoft.com/office/drawing/2014/main" id="{8BDC3A74-E29C-23D3-3E4A-B64A190B343E}"/>
                    </a:ext>
                  </a:extLst>
                </p:cNvPr>
                <p:cNvSpPr/>
                <p:nvPr/>
              </p:nvSpPr>
              <p:spPr>
                <a:xfrm>
                  <a:off x="7783930" y="5069227"/>
                  <a:ext cx="1712177" cy="744632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8B9DB"/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可压缩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效应与</a:t>
                  </a:r>
                  <a:r>
                    <a:rPr lang="en-US" b="1" dirty="0" err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流动机理分析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48" name="Straight Arrow Connector 147">
                  <a:extLst>
                    <a:ext uri="{FF2B5EF4-FFF2-40B4-BE49-F238E27FC236}">
                      <a16:creationId xmlns:a16="http://schemas.microsoft.com/office/drawing/2014/main" id="{F2CA68F3-0655-9BEB-3D4A-096E9989AF83}"/>
                    </a:ext>
                  </a:extLst>
                </p:cNvPr>
                <p:cNvCxnSpPr>
                  <a:cxnSpLocks/>
                  <a:stCxn id="139" idx="3"/>
                  <a:endCxn id="137" idx="1"/>
                </p:cNvCxnSpPr>
                <p:nvPr/>
              </p:nvCxnSpPr>
              <p:spPr>
                <a:xfrm flipV="1">
                  <a:off x="3916313" y="5441543"/>
                  <a:ext cx="329870" cy="4977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id="{22509A3D-4597-97DC-D2E8-BDFC21FE70A0}"/>
                    </a:ext>
                  </a:extLst>
                </p:cNvPr>
                <p:cNvCxnSpPr>
                  <a:cxnSpLocks/>
                  <a:stCxn id="137" idx="3"/>
                  <a:endCxn id="138" idx="1"/>
                </p:cNvCxnSpPr>
                <p:nvPr/>
              </p:nvCxnSpPr>
              <p:spPr>
                <a:xfrm>
                  <a:off x="5659556" y="5441543"/>
                  <a:ext cx="261722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>
                  <a:extLst>
                    <a:ext uri="{FF2B5EF4-FFF2-40B4-BE49-F238E27FC236}">
                      <a16:creationId xmlns:a16="http://schemas.microsoft.com/office/drawing/2014/main" id="{9A6EA608-6C38-35E7-9A4A-1E29B60E5418}"/>
                    </a:ext>
                  </a:extLst>
                </p:cNvPr>
                <p:cNvCxnSpPr>
                  <a:cxnSpLocks/>
                  <a:stCxn id="138" idx="3"/>
                  <a:endCxn id="140" idx="1"/>
                </p:cNvCxnSpPr>
                <p:nvPr/>
              </p:nvCxnSpPr>
              <p:spPr>
                <a:xfrm>
                  <a:off x="7595000" y="5441543"/>
                  <a:ext cx="188930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9209084E-0BAD-9634-17EE-6F8FFA1943AC}"/>
                    </a:ext>
                  </a:extLst>
                </p:cNvPr>
                <p:cNvSpPr/>
                <p:nvPr/>
              </p:nvSpPr>
              <p:spPr>
                <a:xfrm>
                  <a:off x="1173713" y="4784424"/>
                  <a:ext cx="426551" cy="119151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7030A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机理探究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BA48385C-18A1-B699-90ED-00DF13DD14EE}"/>
                    </a:ext>
                  </a:extLst>
                </p:cNvPr>
                <p:cNvSpPr/>
                <p:nvPr/>
              </p:nvSpPr>
              <p:spPr>
                <a:xfrm>
                  <a:off x="1600264" y="4784424"/>
                  <a:ext cx="8064817" cy="1191510"/>
                </a:xfrm>
                <a:prstGeom prst="roundRect">
                  <a:avLst>
                    <a:gd name="adj" fmla="val 0"/>
                  </a:avLst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iti SC Medium" pitchFamily="2" charset="-128"/>
                    <a:ea typeface="Heiti SC Medium" pitchFamily="2" charset="-128"/>
                  </a:endParaRPr>
                </a:p>
              </p:txBody>
            </p:sp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2D73ED9F-AB38-73FB-FA06-87F3DB37092B}"/>
                  </a:ext>
                </a:extLst>
              </p:cNvPr>
              <p:cNvGrpSpPr/>
              <p:nvPr/>
            </p:nvGrpSpPr>
            <p:grpSpPr>
              <a:xfrm>
                <a:off x="5432925" y="596560"/>
                <a:ext cx="4290771" cy="3159090"/>
                <a:chOff x="5432925" y="596560"/>
                <a:chExt cx="4290771" cy="3159090"/>
              </a:xfrm>
            </p:grpSpPr>
            <p:sp>
              <p:nvSpPr>
                <p:cNvPr id="154" name="Rounded Rectangle 153">
                  <a:extLst>
                    <a:ext uri="{FF2B5EF4-FFF2-40B4-BE49-F238E27FC236}">
                      <a16:creationId xmlns:a16="http://schemas.microsoft.com/office/drawing/2014/main" id="{A5BC122C-0DC2-0CF1-14D0-D682037F31F9}"/>
                    </a:ext>
                  </a:extLst>
                </p:cNvPr>
                <p:cNvSpPr/>
                <p:nvPr/>
              </p:nvSpPr>
              <p:spPr>
                <a:xfrm>
                  <a:off x="6449517" y="823830"/>
                  <a:ext cx="2569342" cy="39943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定义节点空间可变阻抗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Rounded Rectangle 156">
                  <a:extLst>
                    <a:ext uri="{FF2B5EF4-FFF2-40B4-BE49-F238E27FC236}">
                      <a16:creationId xmlns:a16="http://schemas.microsoft.com/office/drawing/2014/main" id="{2D458E38-6336-7273-6402-2D649D837A59}"/>
                    </a:ext>
                  </a:extLst>
                </p:cNvPr>
                <p:cNvSpPr/>
                <p:nvPr/>
              </p:nvSpPr>
              <p:spPr>
                <a:xfrm>
                  <a:off x="6449517" y="1596963"/>
                  <a:ext cx="2569341" cy="39943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生成式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AI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泛化阻抗模型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" name="Rounded Rectangle 161">
                  <a:extLst>
                    <a:ext uri="{FF2B5EF4-FFF2-40B4-BE49-F238E27FC236}">
                      <a16:creationId xmlns:a16="http://schemas.microsoft.com/office/drawing/2014/main" id="{7FDD684C-3B6B-8A8D-E7A8-995E965EC519}"/>
                    </a:ext>
                  </a:extLst>
                </p:cNvPr>
                <p:cNvSpPr/>
                <p:nvPr/>
              </p:nvSpPr>
              <p:spPr>
                <a:xfrm>
                  <a:off x="9297145" y="602044"/>
                  <a:ext cx="426551" cy="3153606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粗糙壁湍流简化模拟方法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Rounded Rectangle 162">
                  <a:extLst>
                    <a:ext uri="{FF2B5EF4-FFF2-40B4-BE49-F238E27FC236}">
                      <a16:creationId xmlns:a16="http://schemas.microsoft.com/office/drawing/2014/main" id="{3A20380C-5359-483E-32C5-B5F458D26719}"/>
                    </a:ext>
                  </a:extLst>
                </p:cNvPr>
                <p:cNvSpPr/>
                <p:nvPr/>
              </p:nvSpPr>
              <p:spPr>
                <a:xfrm>
                  <a:off x="5432925" y="596560"/>
                  <a:ext cx="4287600" cy="3159090"/>
                </a:xfrm>
                <a:prstGeom prst="roundRect">
                  <a:avLst>
                    <a:gd name="adj" fmla="val 0"/>
                  </a:avLst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iti SC Medium" pitchFamily="2" charset="-128"/>
                    <a:ea typeface="Heiti SC Medium" pitchFamily="2" charset="-128"/>
                  </a:endParaRPr>
                </a:p>
              </p:txBody>
            </p:sp>
            <p:cxnSp>
              <p:nvCxnSpPr>
                <p:cNvPr id="282" name="Straight Arrow Connector 281">
                  <a:extLst>
                    <a:ext uri="{FF2B5EF4-FFF2-40B4-BE49-F238E27FC236}">
                      <a16:creationId xmlns:a16="http://schemas.microsoft.com/office/drawing/2014/main" id="{F46B2479-62F9-FBD4-782B-7D3E8151CAEC}"/>
                    </a:ext>
                  </a:extLst>
                </p:cNvPr>
                <p:cNvCxnSpPr>
                  <a:cxnSpLocks/>
                  <a:stCxn id="154" idx="2"/>
                  <a:endCxn id="157" idx="0"/>
                </p:cNvCxnSpPr>
                <p:nvPr/>
              </p:nvCxnSpPr>
              <p:spPr>
                <a:xfrm>
                  <a:off x="7734188" y="1223264"/>
                  <a:ext cx="0" cy="37369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18B18077-D540-3B72-E708-B0BA8AAC3BB7}"/>
                    </a:ext>
                  </a:extLst>
                </p:cNvPr>
                <p:cNvSpPr/>
                <p:nvPr/>
              </p:nvSpPr>
              <p:spPr>
                <a:xfrm>
                  <a:off x="6449517" y="2395792"/>
                  <a:ext cx="2569341" cy="39943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验证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/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优化模型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359D585-F339-4E41-343C-B34FC3E8A801}"/>
                    </a:ext>
                  </a:extLst>
                </p:cNvPr>
                <p:cNvCxnSpPr>
                  <a:cxnSpLocks/>
                  <a:stCxn id="157" idx="2"/>
                  <a:endCxn id="4" idx="0"/>
                </p:cNvCxnSpPr>
                <p:nvPr/>
              </p:nvCxnSpPr>
              <p:spPr>
                <a:xfrm>
                  <a:off x="7734188" y="1996397"/>
                  <a:ext cx="0" cy="399395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Rounded Rectangle 156">
                  <a:extLst>
                    <a:ext uri="{FF2B5EF4-FFF2-40B4-BE49-F238E27FC236}">
                      <a16:creationId xmlns:a16="http://schemas.microsoft.com/office/drawing/2014/main" id="{ED9BF349-1183-649D-A3DB-4327A5E2116F}"/>
                    </a:ext>
                  </a:extLst>
                </p:cNvPr>
                <p:cNvSpPr/>
                <p:nvPr/>
              </p:nvSpPr>
              <p:spPr>
                <a:xfrm>
                  <a:off x="6449516" y="3145105"/>
                  <a:ext cx="2569341" cy="39943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时域阻抗边界条件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F84B5E8E-EC97-BF4C-170B-37333EDDE15F}"/>
                    </a:ext>
                  </a:extLst>
                </p:cNvPr>
                <p:cNvCxnSpPr>
                  <a:cxnSpLocks/>
                  <a:stCxn id="4" idx="2"/>
                  <a:endCxn id="51" idx="0"/>
                </p:cNvCxnSpPr>
                <p:nvPr/>
              </p:nvCxnSpPr>
              <p:spPr>
                <a:xfrm flipH="1">
                  <a:off x="7734187" y="2795225"/>
                  <a:ext cx="1" cy="34988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DB3F659C-CD03-C02E-9E84-318ACFECBE59}"/>
                  </a:ext>
                </a:extLst>
              </p:cNvPr>
              <p:cNvGrpSpPr/>
              <p:nvPr/>
            </p:nvGrpSpPr>
            <p:grpSpPr>
              <a:xfrm>
                <a:off x="1229040" y="596560"/>
                <a:ext cx="3685434" cy="3159091"/>
                <a:chOff x="1229040" y="596560"/>
                <a:chExt cx="3685434" cy="3159091"/>
              </a:xfrm>
            </p:grpSpPr>
            <p:sp>
              <p:nvSpPr>
                <p:cNvPr id="202" name="Rounded Rectangle 201">
                  <a:extLst>
                    <a:ext uri="{FF2B5EF4-FFF2-40B4-BE49-F238E27FC236}">
                      <a16:creationId xmlns:a16="http://schemas.microsoft.com/office/drawing/2014/main" id="{5386E6CA-B97E-3E58-DCF2-04AFF6101CBB}"/>
                    </a:ext>
                  </a:extLst>
                </p:cNvPr>
                <p:cNvSpPr/>
                <p:nvPr/>
              </p:nvSpPr>
              <p:spPr>
                <a:xfrm>
                  <a:off x="2174159" y="2257061"/>
                  <a:ext cx="2296667" cy="44016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构建</a:t>
                  </a:r>
                  <a:r>
                    <a:rPr lang="en-US" b="1" dirty="0" err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图神经网络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" name="Rounded Rectangle 144">
                  <a:extLst>
                    <a:ext uri="{FF2B5EF4-FFF2-40B4-BE49-F238E27FC236}">
                      <a16:creationId xmlns:a16="http://schemas.microsoft.com/office/drawing/2014/main" id="{6E8832D9-0E12-EC83-9ED3-C6FEAE507B3B}"/>
                    </a:ext>
                  </a:extLst>
                </p:cNvPr>
                <p:cNvSpPr/>
                <p:nvPr/>
              </p:nvSpPr>
              <p:spPr>
                <a:xfrm>
                  <a:off x="1229040" y="596560"/>
                  <a:ext cx="426551" cy="3159091"/>
                </a:xfrm>
                <a:prstGeom prst="roundRect">
                  <a:avLst>
                    <a:gd name="adj" fmla="val 0"/>
                  </a:avLst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各向异性粗糙元图网络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" name="Rounded Rectangle 145">
                  <a:extLst>
                    <a:ext uri="{FF2B5EF4-FFF2-40B4-BE49-F238E27FC236}">
                      <a16:creationId xmlns:a16="http://schemas.microsoft.com/office/drawing/2014/main" id="{B0573CB0-95F2-5A69-67C7-1EB71A43FCBE}"/>
                    </a:ext>
                  </a:extLst>
                </p:cNvPr>
                <p:cNvSpPr/>
                <p:nvPr/>
              </p:nvSpPr>
              <p:spPr>
                <a:xfrm>
                  <a:off x="1655708" y="596560"/>
                  <a:ext cx="3258766" cy="3159091"/>
                </a:xfrm>
                <a:prstGeom prst="roundRect">
                  <a:avLst>
                    <a:gd name="adj" fmla="val 0"/>
                  </a:avLst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iti SC Medium" pitchFamily="2" charset="-128"/>
                    <a:ea typeface="Heiti SC Medium" pitchFamily="2" charset="-128"/>
                  </a:endParaRPr>
                </a:p>
              </p:txBody>
            </p:sp>
            <p:sp>
              <p:nvSpPr>
                <p:cNvPr id="21" name="Rounded Rectangle 20">
                  <a:extLst>
                    <a:ext uri="{FF2B5EF4-FFF2-40B4-BE49-F238E27FC236}">
                      <a16:creationId xmlns:a16="http://schemas.microsoft.com/office/drawing/2014/main" id="{5F2AD1A4-BA67-652D-65A1-19712EC987BC}"/>
                    </a:ext>
                  </a:extLst>
                </p:cNvPr>
                <p:cNvSpPr/>
                <p:nvPr/>
              </p:nvSpPr>
              <p:spPr>
                <a:xfrm>
                  <a:off x="2175970" y="3034309"/>
                  <a:ext cx="2282668" cy="39943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验证并优化网络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0" name="Rounded Rectangle 201">
                  <a:extLst>
                    <a:ext uri="{FF2B5EF4-FFF2-40B4-BE49-F238E27FC236}">
                      <a16:creationId xmlns:a16="http://schemas.microsoft.com/office/drawing/2014/main" id="{F9821FD1-79C3-05B2-0756-7FC696B84703}"/>
                    </a:ext>
                  </a:extLst>
                </p:cNvPr>
                <p:cNvSpPr/>
                <p:nvPr/>
              </p:nvSpPr>
              <p:spPr>
                <a:xfrm>
                  <a:off x="2176986" y="1555136"/>
                  <a:ext cx="2296667" cy="4198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4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孔隙网络建模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53" name="Straight Arrow Connector 252">
                  <a:extLst>
                    <a:ext uri="{FF2B5EF4-FFF2-40B4-BE49-F238E27FC236}">
                      <a16:creationId xmlns:a16="http://schemas.microsoft.com/office/drawing/2014/main" id="{EEA7EE2E-4B60-72F6-6501-3FA3FB004257}"/>
                    </a:ext>
                  </a:extLst>
                </p:cNvPr>
                <p:cNvCxnSpPr>
                  <a:cxnSpLocks/>
                  <a:stCxn id="354" idx="2"/>
                  <a:endCxn id="250" idx="0"/>
                </p:cNvCxnSpPr>
                <p:nvPr/>
              </p:nvCxnSpPr>
              <p:spPr>
                <a:xfrm>
                  <a:off x="3325319" y="1237992"/>
                  <a:ext cx="1" cy="317144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5" name="Arrow: Down 334">
                <a:extLst>
                  <a:ext uri="{FF2B5EF4-FFF2-40B4-BE49-F238E27FC236}">
                    <a16:creationId xmlns:a16="http://schemas.microsoft.com/office/drawing/2014/main" id="{C7C078BA-EE65-4A7A-8148-BEB2062D6F9F}"/>
                  </a:ext>
                </a:extLst>
              </p:cNvPr>
              <p:cNvSpPr/>
              <p:nvPr/>
            </p:nvSpPr>
            <p:spPr>
              <a:xfrm rot="16200000">
                <a:off x="4939685" y="1994182"/>
                <a:ext cx="484632" cy="358427"/>
              </a:xfrm>
              <a:prstGeom prst="downArrow">
                <a:avLst>
                  <a:gd name="adj1" fmla="val 50000"/>
                  <a:gd name="adj2" fmla="val 5307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6" name="Arrow: Down 335">
                <a:extLst>
                  <a:ext uri="{FF2B5EF4-FFF2-40B4-BE49-F238E27FC236}">
                    <a16:creationId xmlns:a16="http://schemas.microsoft.com/office/drawing/2014/main" id="{52E3C8A0-EEE3-37CA-1768-A283619BEB1A}"/>
                  </a:ext>
                </a:extLst>
              </p:cNvPr>
              <p:cNvSpPr/>
              <p:nvPr/>
            </p:nvSpPr>
            <p:spPr>
              <a:xfrm>
                <a:off x="7502592" y="3544538"/>
                <a:ext cx="484632" cy="481414"/>
              </a:xfrm>
              <a:prstGeom prst="downArrow">
                <a:avLst>
                  <a:gd name="adj1" fmla="val 50000"/>
                  <a:gd name="adj2" fmla="val 53071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 w="254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54" name="Rounded Rectangle 201">
              <a:extLst>
                <a:ext uri="{FF2B5EF4-FFF2-40B4-BE49-F238E27FC236}">
                  <a16:creationId xmlns:a16="http://schemas.microsoft.com/office/drawing/2014/main" id="{BD85B615-B5B5-5ADB-AA31-297C1A845DF5}"/>
                </a:ext>
              </a:extLst>
            </p:cNvPr>
            <p:cNvSpPr/>
            <p:nvPr/>
          </p:nvSpPr>
          <p:spPr>
            <a:xfrm>
              <a:off x="2264070" y="890355"/>
              <a:ext cx="2296667" cy="440166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生成各向异性粗糙壁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523312BA-6252-9AC1-50EC-BD7EB048A3F8}"/>
                </a:ext>
              </a:extLst>
            </p:cNvPr>
            <p:cNvCxnSpPr>
              <a:cxnSpLocks/>
              <a:stCxn id="250" idx="2"/>
              <a:endCxn id="202" idx="0"/>
            </p:cNvCxnSpPr>
            <p:nvPr/>
          </p:nvCxnSpPr>
          <p:spPr>
            <a:xfrm flipH="1">
              <a:off x="3436792" y="2067465"/>
              <a:ext cx="2827" cy="28212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Arrow Connector 374">
              <a:extLst>
                <a:ext uri="{FF2B5EF4-FFF2-40B4-BE49-F238E27FC236}">
                  <a16:creationId xmlns:a16="http://schemas.microsoft.com/office/drawing/2014/main" id="{F8F3CAB3-E8BB-919B-3EBB-AF5AED5F3893}"/>
                </a:ext>
              </a:extLst>
            </p:cNvPr>
            <p:cNvCxnSpPr>
              <a:cxnSpLocks/>
              <a:stCxn id="202" idx="2"/>
              <a:endCxn id="21" idx="0"/>
            </p:cNvCxnSpPr>
            <p:nvPr/>
          </p:nvCxnSpPr>
          <p:spPr>
            <a:xfrm flipH="1">
              <a:off x="3431603" y="2789756"/>
              <a:ext cx="5189" cy="337082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Rounded Rectangle 156">
              <a:extLst>
                <a:ext uri="{FF2B5EF4-FFF2-40B4-BE49-F238E27FC236}">
                  <a16:creationId xmlns:a16="http://schemas.microsoft.com/office/drawing/2014/main" id="{B9B549C4-1B2D-DC67-AB71-0BA88832DB6C}"/>
                </a:ext>
              </a:extLst>
            </p:cNvPr>
            <p:cNvSpPr/>
            <p:nvPr/>
          </p:nvSpPr>
          <p:spPr>
            <a:xfrm>
              <a:off x="5667538" y="1164988"/>
              <a:ext cx="468356" cy="2361284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建立高精度数据库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382" name="Elbow Connector 117">
              <a:extLst>
                <a:ext uri="{FF2B5EF4-FFF2-40B4-BE49-F238E27FC236}">
                  <a16:creationId xmlns:a16="http://schemas.microsoft.com/office/drawing/2014/main" id="{281B4271-025B-D4BF-9B35-0CF6FB329FB8}"/>
                </a:ext>
              </a:extLst>
            </p:cNvPr>
            <p:cNvCxnSpPr>
              <a:cxnSpLocks/>
              <a:stCxn id="379" idx="3"/>
              <a:endCxn id="51" idx="1"/>
            </p:cNvCxnSpPr>
            <p:nvPr/>
          </p:nvCxnSpPr>
          <p:spPr>
            <a:xfrm>
              <a:off x="6135894" y="2345630"/>
              <a:ext cx="427921" cy="109172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Elbow Connector 117">
              <a:extLst>
                <a:ext uri="{FF2B5EF4-FFF2-40B4-BE49-F238E27FC236}">
                  <a16:creationId xmlns:a16="http://schemas.microsoft.com/office/drawing/2014/main" id="{2F706DC1-958F-CDC0-C8C7-3EBD6A30AA76}"/>
                </a:ext>
              </a:extLst>
            </p:cNvPr>
            <p:cNvCxnSpPr>
              <a:cxnSpLocks/>
              <a:stCxn id="379" idx="3"/>
              <a:endCxn id="157" idx="1"/>
            </p:cNvCxnSpPr>
            <p:nvPr/>
          </p:nvCxnSpPr>
          <p:spPr>
            <a:xfrm flipV="1">
              <a:off x="6135894" y="1889209"/>
              <a:ext cx="427922" cy="45642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412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768E-623E-114D-1E4B-BE61519A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97">
            <a:extLst>
              <a:ext uri="{FF2B5EF4-FFF2-40B4-BE49-F238E27FC236}">
                <a16:creationId xmlns:a16="http://schemas.microsoft.com/office/drawing/2014/main" id="{3932068B-0CB2-7D27-6956-085C6E386AA8}"/>
              </a:ext>
            </a:extLst>
          </p:cNvPr>
          <p:cNvSpPr txBox="1"/>
          <p:nvPr/>
        </p:nvSpPr>
        <p:spPr>
          <a:xfrm>
            <a:off x="3777098" y="23189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AC66835-6C30-3A9F-8C53-C565B4BDE230}"/>
              </a:ext>
            </a:extLst>
          </p:cNvPr>
          <p:cNvGrpSpPr/>
          <p:nvPr/>
        </p:nvGrpSpPr>
        <p:grpSpPr>
          <a:xfrm>
            <a:off x="425014" y="1041460"/>
            <a:ext cx="2578926" cy="2503691"/>
            <a:chOff x="764647" y="1041460"/>
            <a:chExt cx="3217651" cy="3123782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33B6BF7-8CDE-4957-D0FB-1DC7FA1355EB}"/>
                </a:ext>
              </a:extLst>
            </p:cNvPr>
            <p:cNvGrpSpPr/>
            <p:nvPr/>
          </p:nvGrpSpPr>
          <p:grpSpPr>
            <a:xfrm>
              <a:off x="764647" y="1378369"/>
              <a:ext cx="3217651" cy="2786873"/>
              <a:chOff x="1669015" y="3435770"/>
              <a:chExt cx="3217651" cy="2786873"/>
            </a:xfrm>
          </p:grpSpPr>
          <p:pic>
            <p:nvPicPr>
              <p:cNvPr id="172" name="Picture 171">
                <a:extLst>
                  <a:ext uri="{FF2B5EF4-FFF2-40B4-BE49-F238E27FC236}">
                    <a16:creationId xmlns:a16="http://schemas.microsoft.com/office/drawing/2014/main" id="{B1CBEBD8-4511-3502-8777-C96B1661AF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9015" y="3435770"/>
                <a:ext cx="3217651" cy="2786873"/>
              </a:xfrm>
              <a:prstGeom prst="rect">
                <a:avLst/>
              </a:prstGeom>
            </p:spPr>
          </p:pic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D586259-B13F-8AAA-CF89-56DD3489DC6A}"/>
                  </a:ext>
                </a:extLst>
              </p:cNvPr>
              <p:cNvSpPr/>
              <p:nvPr/>
            </p:nvSpPr>
            <p:spPr>
              <a:xfrm>
                <a:off x="1736001" y="3472484"/>
                <a:ext cx="2727002" cy="249718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F9289A19-4462-CE85-3705-821174C09BB9}"/>
                </a:ext>
              </a:extLst>
            </p:cNvPr>
            <p:cNvSpPr txBox="1"/>
            <p:nvPr/>
          </p:nvSpPr>
          <p:spPr>
            <a:xfrm>
              <a:off x="831633" y="1041460"/>
              <a:ext cx="2727002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dirty="0" err="1"/>
                <a:t>粗糙元</a:t>
              </a:r>
              <a:r>
                <a:rPr lang="zh-CN" altLang="en-US" dirty="0"/>
                <a:t>生成（</a:t>
              </a:r>
              <a:r>
                <a:rPr lang="en-US" dirty="0" err="1"/>
                <a:t>俯视</a:t>
              </a:r>
              <a:r>
                <a:rPr lang="zh-CN" altLang="en-US" dirty="0"/>
                <a:t>）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DF58D59-831F-CDD6-C7AE-31155CD15A88}"/>
              </a:ext>
            </a:extLst>
          </p:cNvPr>
          <p:cNvGrpSpPr/>
          <p:nvPr/>
        </p:nvGrpSpPr>
        <p:grpSpPr>
          <a:xfrm>
            <a:off x="3865037" y="1041712"/>
            <a:ext cx="2783910" cy="2503692"/>
            <a:chOff x="4288659" y="1041460"/>
            <a:chExt cx="3473403" cy="3123783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73D65226-B2F1-BECC-4659-98D11B1D3507}"/>
                </a:ext>
              </a:extLst>
            </p:cNvPr>
            <p:cNvGrpSpPr/>
            <p:nvPr/>
          </p:nvGrpSpPr>
          <p:grpSpPr>
            <a:xfrm>
              <a:off x="4288659" y="1378368"/>
              <a:ext cx="3473403" cy="2786875"/>
              <a:chOff x="1179093" y="3428999"/>
              <a:chExt cx="3473403" cy="2786875"/>
            </a:xfrm>
          </p:grpSpPr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8A3FE4D7-52E9-7544-53F6-84A467BDA295}"/>
                  </a:ext>
                </a:extLst>
              </p:cNvPr>
              <p:cNvGrpSpPr/>
              <p:nvPr/>
            </p:nvGrpSpPr>
            <p:grpSpPr>
              <a:xfrm>
                <a:off x="1233751" y="3428999"/>
                <a:ext cx="3418745" cy="2786875"/>
                <a:chOff x="5167598" y="2218263"/>
                <a:chExt cx="4938699" cy="4025902"/>
              </a:xfrm>
            </p:grpSpPr>
            <p:pic>
              <p:nvPicPr>
                <p:cNvPr id="111" name="Picture 110">
                  <a:extLst>
                    <a:ext uri="{FF2B5EF4-FFF2-40B4-BE49-F238E27FC236}">
                      <a16:creationId xmlns:a16="http://schemas.microsoft.com/office/drawing/2014/main" id="{D2CE7C5B-F872-0AFB-3B1B-A6FC42089E4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58096" y="2218263"/>
                  <a:ext cx="4648201" cy="4025902"/>
                </a:xfrm>
                <a:prstGeom prst="rect">
                  <a:avLst/>
                </a:prstGeom>
              </p:spPr>
            </p:pic>
            <p:sp>
              <p:nvSpPr>
                <p:cNvPr id="112" name="Oval 111">
                  <a:extLst>
                    <a:ext uri="{FF2B5EF4-FFF2-40B4-BE49-F238E27FC236}">
                      <a16:creationId xmlns:a16="http://schemas.microsoft.com/office/drawing/2014/main" id="{9D508375-FB0B-9568-57CC-69ACC334B34C}"/>
                    </a:ext>
                  </a:extLst>
                </p:cNvPr>
                <p:cNvSpPr/>
                <p:nvPr/>
              </p:nvSpPr>
              <p:spPr>
                <a:xfrm>
                  <a:off x="6473821" y="4040317"/>
                  <a:ext cx="381794" cy="381794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3" name="Oval 112">
                  <a:extLst>
                    <a:ext uri="{FF2B5EF4-FFF2-40B4-BE49-F238E27FC236}">
                      <a16:creationId xmlns:a16="http://schemas.microsoft.com/office/drawing/2014/main" id="{16584404-D703-42B1-CE6E-2DF10FC8BCB8}"/>
                    </a:ext>
                  </a:extLst>
                </p:cNvPr>
                <p:cNvSpPr/>
                <p:nvPr/>
              </p:nvSpPr>
              <p:spPr>
                <a:xfrm>
                  <a:off x="7410050" y="4231214"/>
                  <a:ext cx="280628" cy="280628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4" name="Oval 113">
                  <a:extLst>
                    <a:ext uri="{FF2B5EF4-FFF2-40B4-BE49-F238E27FC236}">
                      <a16:creationId xmlns:a16="http://schemas.microsoft.com/office/drawing/2014/main" id="{656FD4C2-0C53-B5EB-46E6-F81CAFB7899B}"/>
                    </a:ext>
                  </a:extLst>
                </p:cNvPr>
                <p:cNvSpPr/>
                <p:nvPr/>
              </p:nvSpPr>
              <p:spPr>
                <a:xfrm>
                  <a:off x="8221049" y="3789260"/>
                  <a:ext cx="381794" cy="381794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5" name="Oval 114">
                  <a:extLst>
                    <a:ext uri="{FF2B5EF4-FFF2-40B4-BE49-F238E27FC236}">
                      <a16:creationId xmlns:a16="http://schemas.microsoft.com/office/drawing/2014/main" id="{C9D58FC0-D77C-4123-E804-F8144DF38EAB}"/>
                    </a:ext>
                  </a:extLst>
                </p:cNvPr>
                <p:cNvSpPr/>
                <p:nvPr/>
              </p:nvSpPr>
              <p:spPr>
                <a:xfrm>
                  <a:off x="6590532" y="3046863"/>
                  <a:ext cx="530166" cy="530166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6" name="Oval 115">
                  <a:extLst>
                    <a:ext uri="{FF2B5EF4-FFF2-40B4-BE49-F238E27FC236}">
                      <a16:creationId xmlns:a16="http://schemas.microsoft.com/office/drawing/2014/main" id="{05167652-E5E6-EAD6-F1AA-1CAE96CDD5B9}"/>
                    </a:ext>
                  </a:extLst>
                </p:cNvPr>
                <p:cNvSpPr/>
                <p:nvPr/>
              </p:nvSpPr>
              <p:spPr>
                <a:xfrm>
                  <a:off x="6938525" y="5349761"/>
                  <a:ext cx="471526" cy="471526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B755C740-CD29-0F5E-E071-B8F95A3452B2}"/>
                    </a:ext>
                  </a:extLst>
                </p:cNvPr>
                <p:cNvSpPr/>
                <p:nvPr/>
              </p:nvSpPr>
              <p:spPr>
                <a:xfrm>
                  <a:off x="8438997" y="2707105"/>
                  <a:ext cx="381794" cy="381794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Oval 118">
                  <a:extLst>
                    <a:ext uri="{FF2B5EF4-FFF2-40B4-BE49-F238E27FC236}">
                      <a16:creationId xmlns:a16="http://schemas.microsoft.com/office/drawing/2014/main" id="{CA6C529A-3961-5E34-CCDF-6C7E760CF790}"/>
                    </a:ext>
                  </a:extLst>
                </p:cNvPr>
                <p:cNvSpPr/>
                <p:nvPr/>
              </p:nvSpPr>
              <p:spPr>
                <a:xfrm>
                  <a:off x="7588069" y="3420232"/>
                  <a:ext cx="172301" cy="172301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20" name="Oval 119">
                  <a:extLst>
                    <a:ext uri="{FF2B5EF4-FFF2-40B4-BE49-F238E27FC236}">
                      <a16:creationId xmlns:a16="http://schemas.microsoft.com/office/drawing/2014/main" id="{CEA06587-D51D-9EBC-C33E-E236E050E17D}"/>
                    </a:ext>
                  </a:extLst>
                </p:cNvPr>
                <p:cNvSpPr/>
                <p:nvPr/>
              </p:nvSpPr>
              <p:spPr>
                <a:xfrm>
                  <a:off x="7677452" y="2360087"/>
                  <a:ext cx="172301" cy="172301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D3B227F7-E162-0E24-0634-CE3892001021}"/>
                    </a:ext>
                  </a:extLst>
                </p:cNvPr>
                <p:cNvCxnSpPr>
                  <a:cxnSpLocks/>
                  <a:stCxn id="115" idx="4"/>
                  <a:endCxn id="112" idx="0"/>
                </p:cNvCxnSpPr>
                <p:nvPr/>
              </p:nvCxnSpPr>
              <p:spPr>
                <a:xfrm flipH="1">
                  <a:off x="6664718" y="3577029"/>
                  <a:ext cx="190897" cy="463288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D8983184-6A75-7139-9DBB-54D230FC998E}"/>
                    </a:ext>
                  </a:extLst>
                </p:cNvPr>
                <p:cNvCxnSpPr>
                  <a:cxnSpLocks/>
                  <a:stCxn id="115" idx="5"/>
                  <a:endCxn id="119" idx="2"/>
                </p:cNvCxnSpPr>
                <p:nvPr/>
              </p:nvCxnSpPr>
              <p:spPr>
                <a:xfrm>
                  <a:off x="7043057" y="3499388"/>
                  <a:ext cx="545012" cy="699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42AD9569-FC0B-C073-CDB4-F85173E77B4B}"/>
                    </a:ext>
                  </a:extLst>
                </p:cNvPr>
                <p:cNvCxnSpPr>
                  <a:cxnSpLocks/>
                  <a:stCxn id="120" idx="4"/>
                  <a:endCxn id="119" idx="0"/>
                </p:cNvCxnSpPr>
                <p:nvPr/>
              </p:nvCxnSpPr>
              <p:spPr>
                <a:xfrm flipH="1">
                  <a:off x="7674220" y="2532388"/>
                  <a:ext cx="89383" cy="88784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C8F0E266-F88C-25B6-1ED2-5C5D8CA57E2C}"/>
                    </a:ext>
                  </a:extLst>
                </p:cNvPr>
                <p:cNvCxnSpPr>
                  <a:cxnSpLocks/>
                  <a:stCxn id="117" idx="4"/>
                  <a:endCxn id="114" idx="0"/>
                </p:cNvCxnSpPr>
                <p:nvPr/>
              </p:nvCxnSpPr>
              <p:spPr>
                <a:xfrm flipH="1">
                  <a:off x="8411946" y="3088899"/>
                  <a:ext cx="217948" cy="700361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E01020D3-C266-A5B8-E69D-F3316274D478}"/>
                    </a:ext>
                  </a:extLst>
                </p:cNvPr>
                <p:cNvCxnSpPr>
                  <a:cxnSpLocks/>
                  <a:stCxn id="113" idx="7"/>
                  <a:endCxn id="114" idx="2"/>
                </p:cNvCxnSpPr>
                <p:nvPr/>
              </p:nvCxnSpPr>
              <p:spPr>
                <a:xfrm flipV="1">
                  <a:off x="7649581" y="3980157"/>
                  <a:ext cx="571468" cy="292154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B4C0963B-2651-0C66-ADDB-BECC3801E035}"/>
                    </a:ext>
                  </a:extLst>
                </p:cNvPr>
                <p:cNvCxnSpPr>
                  <a:cxnSpLocks/>
                  <a:stCxn id="112" idx="6"/>
                  <a:endCxn id="113" idx="2"/>
                </p:cNvCxnSpPr>
                <p:nvPr/>
              </p:nvCxnSpPr>
              <p:spPr>
                <a:xfrm>
                  <a:off x="6855615" y="4231214"/>
                  <a:ext cx="554435" cy="140314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4843CB7E-A60D-39CA-8EA7-EC7BA874CE7A}"/>
                    </a:ext>
                  </a:extLst>
                </p:cNvPr>
                <p:cNvCxnSpPr>
                  <a:cxnSpLocks/>
                  <a:stCxn id="116" idx="0"/>
                  <a:endCxn id="113" idx="4"/>
                </p:cNvCxnSpPr>
                <p:nvPr/>
              </p:nvCxnSpPr>
              <p:spPr>
                <a:xfrm flipV="1">
                  <a:off x="7174288" y="4511843"/>
                  <a:ext cx="376077" cy="837918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4" name="Oval 133">
                  <a:extLst>
                    <a:ext uri="{FF2B5EF4-FFF2-40B4-BE49-F238E27FC236}">
                      <a16:creationId xmlns:a16="http://schemas.microsoft.com/office/drawing/2014/main" id="{4F29AC73-6DFC-1982-90A0-E0D5FE041F79}"/>
                    </a:ext>
                  </a:extLst>
                </p:cNvPr>
                <p:cNvSpPr/>
                <p:nvPr/>
              </p:nvSpPr>
              <p:spPr>
                <a:xfrm>
                  <a:off x="8942288" y="4272311"/>
                  <a:ext cx="566973" cy="566973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0C28DEAC-CF28-A0DB-0C35-238922B1D410}"/>
                    </a:ext>
                  </a:extLst>
                </p:cNvPr>
                <p:cNvSpPr/>
                <p:nvPr/>
              </p:nvSpPr>
              <p:spPr>
                <a:xfrm>
                  <a:off x="5437296" y="4122667"/>
                  <a:ext cx="566973" cy="566973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6D3548D1-95B3-389D-5CD5-208DB202631E}"/>
                    </a:ext>
                  </a:extLst>
                </p:cNvPr>
                <p:cNvSpPr/>
                <p:nvPr/>
              </p:nvSpPr>
              <p:spPr>
                <a:xfrm>
                  <a:off x="5167598" y="3136745"/>
                  <a:ext cx="566973" cy="566973"/>
                </a:xfrm>
                <a:prstGeom prst="ellipse">
                  <a:avLst/>
                </a:prstGeom>
                <a:solidFill>
                  <a:srgbClr val="CA9916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FF34F482-5C18-E9F9-8AB8-0F4913F6E3D9}"/>
                    </a:ext>
                  </a:extLst>
                </p:cNvPr>
                <p:cNvCxnSpPr>
                  <a:cxnSpLocks/>
                  <a:stCxn id="137" idx="6"/>
                  <a:endCxn id="115" idx="2"/>
                </p:cNvCxnSpPr>
                <p:nvPr/>
              </p:nvCxnSpPr>
              <p:spPr>
                <a:xfrm flipV="1">
                  <a:off x="5734571" y="3311946"/>
                  <a:ext cx="855961" cy="108286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A6093A7D-48C0-2557-47F8-9FBF504F6C35}"/>
                    </a:ext>
                  </a:extLst>
                </p:cNvPr>
                <p:cNvCxnSpPr>
                  <a:cxnSpLocks/>
                  <a:stCxn id="135" idx="6"/>
                  <a:endCxn id="112" idx="3"/>
                </p:cNvCxnSpPr>
                <p:nvPr/>
              </p:nvCxnSpPr>
              <p:spPr>
                <a:xfrm flipV="1">
                  <a:off x="6004269" y="4366199"/>
                  <a:ext cx="525464" cy="3995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5EFEC0BD-848A-AF7D-A0BB-719701064223}"/>
                    </a:ext>
                  </a:extLst>
                </p:cNvPr>
                <p:cNvCxnSpPr>
                  <a:cxnSpLocks/>
                  <a:stCxn id="114" idx="5"/>
                  <a:endCxn id="134" idx="1"/>
                </p:cNvCxnSpPr>
                <p:nvPr/>
              </p:nvCxnSpPr>
              <p:spPr>
                <a:xfrm>
                  <a:off x="8546931" y="4115142"/>
                  <a:ext cx="478388" cy="240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7A0426DF-C3FE-E947-05E7-B91F7420C52E}"/>
                  </a:ext>
                </a:extLst>
              </p:cNvPr>
              <p:cNvSpPr/>
              <p:nvPr/>
            </p:nvSpPr>
            <p:spPr>
              <a:xfrm>
                <a:off x="1179093" y="3465712"/>
                <a:ext cx="3136426" cy="2497185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ED8594FB-1D08-5EE9-F545-F4CCB0E605DB}"/>
                </a:ext>
              </a:extLst>
            </p:cNvPr>
            <p:cNvSpPr txBox="1"/>
            <p:nvPr/>
          </p:nvSpPr>
          <p:spPr>
            <a:xfrm>
              <a:off x="4288659" y="1041460"/>
              <a:ext cx="3136426" cy="36933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构建孔隙与网络映射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own Arrow 66">
            <a:extLst>
              <a:ext uri="{FF2B5EF4-FFF2-40B4-BE49-F238E27FC236}">
                <a16:creationId xmlns:a16="http://schemas.microsoft.com/office/drawing/2014/main" id="{9AF7F3B4-356B-2126-09FD-33C1A9CC3DAE}"/>
              </a:ext>
            </a:extLst>
          </p:cNvPr>
          <p:cNvSpPr/>
          <p:nvPr/>
        </p:nvSpPr>
        <p:spPr>
          <a:xfrm rot="16200000">
            <a:off x="6582763" y="2045301"/>
            <a:ext cx="305867" cy="538526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805F069C-E772-0E7B-E954-C7B7ADBCD74F}"/>
              </a:ext>
            </a:extLst>
          </p:cNvPr>
          <p:cNvGrpSpPr/>
          <p:nvPr/>
        </p:nvGrpSpPr>
        <p:grpSpPr>
          <a:xfrm>
            <a:off x="2806455" y="1065539"/>
            <a:ext cx="1008975" cy="1420565"/>
            <a:chOff x="2768123" y="3300618"/>
            <a:chExt cx="1008975" cy="1420565"/>
          </a:xfrm>
        </p:grpSpPr>
        <p:sp>
          <p:nvSpPr>
            <p:cNvPr id="70" name="Rounded Rectangle 214">
              <a:extLst>
                <a:ext uri="{FF2B5EF4-FFF2-40B4-BE49-F238E27FC236}">
                  <a16:creationId xmlns:a16="http://schemas.microsoft.com/office/drawing/2014/main" id="{4B1A3685-B8E2-5FFA-05C4-FC038C51122B}"/>
                </a:ext>
              </a:extLst>
            </p:cNvPr>
            <p:cNvSpPr/>
            <p:nvPr/>
          </p:nvSpPr>
          <p:spPr>
            <a:xfrm>
              <a:off x="2848166" y="3300618"/>
              <a:ext cx="633897" cy="780041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孔隙网络建模</a:t>
              </a:r>
              <a:endParaRPr lang="en-US" sz="1400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4BB252B-B56D-3FBE-8172-663E7707CB9B}"/>
                </a:ext>
              </a:extLst>
            </p:cNvPr>
            <p:cNvGrpSpPr/>
            <p:nvPr/>
          </p:nvGrpSpPr>
          <p:grpSpPr>
            <a:xfrm>
              <a:off x="2768123" y="4080659"/>
              <a:ext cx="1008975" cy="640524"/>
              <a:chOff x="3071241" y="4080659"/>
              <a:chExt cx="1272420" cy="807766"/>
            </a:xfrm>
          </p:grpSpPr>
          <p:sp>
            <p:nvSpPr>
              <p:cNvPr id="3" name="Down Arrow 66">
                <a:extLst>
                  <a:ext uri="{FF2B5EF4-FFF2-40B4-BE49-F238E27FC236}">
                    <a16:creationId xmlns:a16="http://schemas.microsoft.com/office/drawing/2014/main" id="{67F4C225-7E1F-D216-45C2-78F5CEECD7CC}"/>
                  </a:ext>
                </a:extLst>
              </p:cNvPr>
              <p:cNvSpPr/>
              <p:nvPr/>
            </p:nvSpPr>
            <p:spPr>
              <a:xfrm rot="16200000">
                <a:off x="3505509" y="4050273"/>
                <a:ext cx="403883" cy="1272420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Arrow: Bent 73">
                <a:extLst>
                  <a:ext uri="{FF2B5EF4-FFF2-40B4-BE49-F238E27FC236}">
                    <a16:creationId xmlns:a16="http://schemas.microsoft.com/office/drawing/2014/main" id="{6692E174-FAE9-1E29-BCE8-CD125F04170E}"/>
                  </a:ext>
                </a:extLst>
              </p:cNvPr>
              <p:cNvSpPr/>
              <p:nvPr/>
            </p:nvSpPr>
            <p:spPr>
              <a:xfrm flipV="1">
                <a:off x="3497582" y="4080659"/>
                <a:ext cx="844610" cy="807766"/>
              </a:xfrm>
              <a:prstGeom prst="bent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D4F9890-1F31-096B-1CA0-97CA3A19E7EA}"/>
              </a:ext>
            </a:extLst>
          </p:cNvPr>
          <p:cNvGrpSpPr/>
          <p:nvPr/>
        </p:nvGrpSpPr>
        <p:grpSpPr>
          <a:xfrm>
            <a:off x="7085477" y="1041460"/>
            <a:ext cx="2513825" cy="2300934"/>
            <a:chOff x="6780679" y="1041460"/>
            <a:chExt cx="2513825" cy="2300934"/>
          </a:xfrm>
        </p:grpSpPr>
        <p:sp>
          <p:nvSpPr>
            <p:cNvPr id="215" name="Rounded Rectangle 214">
              <a:extLst>
                <a:ext uri="{FF2B5EF4-FFF2-40B4-BE49-F238E27FC236}">
                  <a16:creationId xmlns:a16="http://schemas.microsoft.com/office/drawing/2014/main" id="{E7DFE20B-02E7-748D-289F-A48B219E4D00}"/>
                </a:ext>
              </a:extLst>
            </p:cNvPr>
            <p:cNvSpPr/>
            <p:nvPr/>
          </p:nvSpPr>
          <p:spPr>
            <a:xfrm>
              <a:off x="7021404" y="2223704"/>
              <a:ext cx="2052233" cy="290845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网络冗余度优化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7" name="Rounded Rectangle 216">
              <a:extLst>
                <a:ext uri="{FF2B5EF4-FFF2-40B4-BE49-F238E27FC236}">
                  <a16:creationId xmlns:a16="http://schemas.microsoft.com/office/drawing/2014/main" id="{B9B99598-0B9E-0B85-3B64-E6C61195801C}"/>
                </a:ext>
              </a:extLst>
            </p:cNvPr>
            <p:cNvSpPr/>
            <p:nvPr/>
          </p:nvSpPr>
          <p:spPr>
            <a:xfrm>
              <a:off x="7014795" y="1626045"/>
              <a:ext cx="2065453" cy="290845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节点</a:t>
              </a:r>
              <a:r>
                <a:rPr lang="en-US" altLang="zh-CN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/</a:t>
              </a:r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边参数选取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2A7F12E9-6CC4-FA26-FCAF-7D6E020625E0}"/>
                </a:ext>
              </a:extLst>
            </p:cNvPr>
            <p:cNvSpPr/>
            <p:nvPr/>
          </p:nvSpPr>
          <p:spPr>
            <a:xfrm>
              <a:off x="6780679" y="1337478"/>
              <a:ext cx="2513825" cy="200491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FEB13B1-6520-AD05-9623-F861EE0D9FE9}"/>
                </a:ext>
              </a:extLst>
            </p:cNvPr>
            <p:cNvSpPr txBox="1"/>
            <p:nvPr/>
          </p:nvSpPr>
          <p:spPr>
            <a:xfrm>
              <a:off x="6780679" y="1041460"/>
              <a:ext cx="2513825" cy="296017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构建图神经网络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1" name="Rounded Rectangle 214">
              <a:extLst>
                <a:ext uri="{FF2B5EF4-FFF2-40B4-BE49-F238E27FC236}">
                  <a16:creationId xmlns:a16="http://schemas.microsoft.com/office/drawing/2014/main" id="{B268F8B4-AB87-78EF-DBE6-F5054F9FEDD2}"/>
                </a:ext>
              </a:extLst>
            </p:cNvPr>
            <p:cNvSpPr/>
            <p:nvPr/>
          </p:nvSpPr>
          <p:spPr>
            <a:xfrm>
              <a:off x="7028015" y="2827195"/>
              <a:ext cx="2052233" cy="290845"/>
            </a:xfrm>
            <a:prstGeom prst="roundRect">
              <a:avLst>
                <a:gd name="adj" fmla="val 0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网络拓扑验证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40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DDA7-580F-97D6-BAB3-330108F04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4731766-285C-D0E7-3BA1-84C4A124D496}"/>
              </a:ext>
            </a:extLst>
          </p:cNvPr>
          <p:cNvGrpSpPr/>
          <p:nvPr/>
        </p:nvGrpSpPr>
        <p:grpSpPr>
          <a:xfrm>
            <a:off x="756202" y="1652426"/>
            <a:ext cx="10242809" cy="2482756"/>
            <a:chOff x="756202" y="1652426"/>
            <a:chExt cx="10242809" cy="2482756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108D5D29-3584-6F68-CE2B-D7A41F524BE7}"/>
                </a:ext>
              </a:extLst>
            </p:cNvPr>
            <p:cNvSpPr/>
            <p:nvPr/>
          </p:nvSpPr>
          <p:spPr>
            <a:xfrm>
              <a:off x="1182753" y="1652427"/>
              <a:ext cx="4528769" cy="248275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DB291430-8D91-E381-3F2F-DDE03AE9B281}"/>
                </a:ext>
              </a:extLst>
            </p:cNvPr>
            <p:cNvSpPr/>
            <p:nvPr/>
          </p:nvSpPr>
          <p:spPr>
            <a:xfrm>
              <a:off x="1437124" y="2408130"/>
              <a:ext cx="1193286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壁面温度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695E99E2-9BEE-9747-6353-ACBBC9E1B193}"/>
                </a:ext>
              </a:extLst>
            </p:cNvPr>
            <p:cNvSpPr/>
            <p:nvPr/>
          </p:nvSpPr>
          <p:spPr>
            <a:xfrm>
              <a:off x="4369683" y="2408272"/>
              <a:ext cx="1183989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马赫数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3BDFDB4-EFFC-AA87-F596-DCA4B19F5664}"/>
                </a:ext>
              </a:extLst>
            </p:cNvPr>
            <p:cNvSpPr/>
            <p:nvPr/>
          </p:nvSpPr>
          <p:spPr>
            <a:xfrm>
              <a:off x="2438182" y="3668306"/>
              <a:ext cx="2114429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数据库扩充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B651984B-D1CC-86AA-0DF5-D61B34CC190F}"/>
                </a:ext>
              </a:extLst>
            </p:cNvPr>
            <p:cNvSpPr/>
            <p:nvPr/>
          </p:nvSpPr>
          <p:spPr>
            <a:xfrm>
              <a:off x="2819270" y="2408130"/>
              <a:ext cx="1352255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粗糙元外形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F19020B-246E-2896-EF74-557E3359A223}"/>
                </a:ext>
              </a:extLst>
            </p:cNvPr>
            <p:cNvSpPr/>
            <p:nvPr/>
          </p:nvSpPr>
          <p:spPr>
            <a:xfrm>
              <a:off x="2438182" y="1819370"/>
              <a:ext cx="2114429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连续形粗糙元函数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4165191-EA6C-E778-DF0B-B07B1A3298A8}"/>
                </a:ext>
              </a:extLst>
            </p:cNvPr>
            <p:cNvCxnSpPr>
              <a:cxnSpLocks/>
              <a:stCxn id="21" idx="2"/>
              <a:endCxn id="20" idx="0"/>
            </p:cNvCxnSpPr>
            <p:nvPr/>
          </p:nvCxnSpPr>
          <p:spPr>
            <a:xfrm>
              <a:off x="3495397" y="2169353"/>
              <a:ext cx="1" cy="23877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67F8202-CCA3-64B7-537D-B026CB0E212B}"/>
                </a:ext>
              </a:extLst>
            </p:cNvPr>
            <p:cNvCxnSpPr>
              <a:cxnSpLocks/>
              <a:stCxn id="20" idx="2"/>
              <a:endCxn id="7" idx="0"/>
            </p:cNvCxnSpPr>
            <p:nvPr/>
          </p:nvCxnSpPr>
          <p:spPr>
            <a:xfrm flipH="1">
              <a:off x="3495397" y="2814436"/>
              <a:ext cx="1" cy="85387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ed Rectangle 94">
              <a:extLst>
                <a:ext uri="{FF2B5EF4-FFF2-40B4-BE49-F238E27FC236}">
                  <a16:creationId xmlns:a16="http://schemas.microsoft.com/office/drawing/2014/main" id="{DE8B02CB-A213-9F50-44A4-52791A5961C2}"/>
                </a:ext>
              </a:extLst>
            </p:cNvPr>
            <p:cNvSpPr/>
            <p:nvPr/>
          </p:nvSpPr>
          <p:spPr>
            <a:xfrm>
              <a:off x="756202" y="1652426"/>
              <a:ext cx="426551" cy="2482755"/>
            </a:xfrm>
            <a:prstGeom prst="roundRect">
              <a:avLst>
                <a:gd name="adj" fmla="val 0"/>
              </a:avLst>
            </a:prstGeom>
            <a:solidFill>
              <a:srgbClr val="7030A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数据</a:t>
              </a:r>
              <a:r>
                <a:rPr lang="zh-CN" alt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扩充</a:t>
              </a:r>
              <a:endParaRPr lang="en-US" altLang="zh-CN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18" name="Elbow Connector 117">
              <a:extLst>
                <a:ext uri="{FF2B5EF4-FFF2-40B4-BE49-F238E27FC236}">
                  <a16:creationId xmlns:a16="http://schemas.microsoft.com/office/drawing/2014/main" id="{B05334A5-1DE8-0AAC-4A79-7DEF9808F9F4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 rot="16200000" flipH="1">
              <a:off x="2337647" y="2510556"/>
              <a:ext cx="853870" cy="1461630"/>
            </a:xfrm>
            <a:prstGeom prst="bentConnector3">
              <a:avLst>
                <a:gd name="adj1" fmla="val 24503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Elbow Connector 120">
              <a:extLst>
                <a:ext uri="{FF2B5EF4-FFF2-40B4-BE49-F238E27FC236}">
                  <a16:creationId xmlns:a16="http://schemas.microsoft.com/office/drawing/2014/main" id="{758A472B-116E-93B6-1B6F-8A2EA9C363B0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rot="5400000">
              <a:off x="3801674" y="2508302"/>
              <a:ext cx="853728" cy="1466281"/>
            </a:xfrm>
            <a:prstGeom prst="bentConnector3">
              <a:avLst>
                <a:gd name="adj1" fmla="val 24604"/>
              </a:avLst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Down Arrow 130">
              <a:extLst>
                <a:ext uri="{FF2B5EF4-FFF2-40B4-BE49-F238E27FC236}">
                  <a16:creationId xmlns:a16="http://schemas.microsoft.com/office/drawing/2014/main" id="{4D37CBB6-6F47-34E0-90D5-19A7B479FA37}"/>
                </a:ext>
              </a:extLst>
            </p:cNvPr>
            <p:cNvSpPr/>
            <p:nvPr/>
          </p:nvSpPr>
          <p:spPr>
            <a:xfrm rot="16200000">
              <a:off x="5492904" y="2764073"/>
              <a:ext cx="766367" cy="329128"/>
            </a:xfrm>
            <a:prstGeom prst="downArrow">
              <a:avLst/>
            </a:prstGeom>
            <a:solidFill>
              <a:schemeClr val="bg1">
                <a:lumMod val="85000"/>
              </a:schemeClr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6613D26-D50C-FA16-0751-8A780327994A}"/>
                </a:ext>
              </a:extLst>
            </p:cNvPr>
            <p:cNvGrpSpPr/>
            <p:nvPr/>
          </p:nvGrpSpPr>
          <p:grpSpPr>
            <a:xfrm>
              <a:off x="6043691" y="1652427"/>
              <a:ext cx="4955320" cy="2482755"/>
              <a:chOff x="2548252" y="3562938"/>
              <a:chExt cx="4955320" cy="2482755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403BF1C0-9A1E-6812-45C3-AEDDBFBB3AC2}"/>
                  </a:ext>
                </a:extLst>
              </p:cNvPr>
              <p:cNvSpPr/>
              <p:nvPr/>
            </p:nvSpPr>
            <p:spPr>
              <a:xfrm>
                <a:off x="3127181" y="3730596"/>
                <a:ext cx="1990959" cy="349983"/>
              </a:xfrm>
              <a:prstGeom prst="roundRect">
                <a:avLst>
                  <a:gd name="adj" fmla="val 0"/>
                </a:avLst>
              </a:prstGeom>
              <a:solidFill>
                <a:srgbClr val="C8B9DB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Helmholtz</a:t>
                </a:r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 分解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E71B8841-BAF2-4363-B3CD-16F5F56606CA}"/>
                  </a:ext>
                </a:extLst>
              </p:cNvPr>
              <p:cNvSpPr/>
              <p:nvPr/>
            </p:nvSpPr>
            <p:spPr>
              <a:xfrm>
                <a:off x="5305862" y="3729881"/>
                <a:ext cx="1990959" cy="349983"/>
              </a:xfrm>
              <a:prstGeom prst="roundRect">
                <a:avLst>
                  <a:gd name="adj" fmla="val 0"/>
                </a:avLst>
              </a:prstGeom>
              <a:solidFill>
                <a:srgbClr val="C8B9DB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模态分解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9E936E8B-242A-8D86-8849-62B12F038518}"/>
                  </a:ext>
                </a:extLst>
              </p:cNvPr>
              <p:cNvCxnSpPr>
                <a:cxnSpLocks/>
                <a:stCxn id="11" idx="2"/>
              </p:cNvCxnSpPr>
              <p:nvPr/>
            </p:nvCxnSpPr>
            <p:spPr>
              <a:xfrm>
                <a:off x="4122661" y="4080579"/>
                <a:ext cx="0" cy="1916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B7DFB633-2CB7-96A5-FF0D-2B084D4447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1342" y="4071700"/>
                <a:ext cx="0" cy="1916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790FF6E2-1B27-C3DF-7AC0-00480005A1E3}"/>
                  </a:ext>
                </a:extLst>
              </p:cNvPr>
              <p:cNvSpPr/>
              <p:nvPr/>
            </p:nvSpPr>
            <p:spPr>
              <a:xfrm>
                <a:off x="3265168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复杂波系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7DE3A744-65B2-9F46-D6DE-455739228A1B}"/>
                  </a:ext>
                </a:extLst>
              </p:cNvPr>
              <p:cNvSpPr/>
              <p:nvPr/>
            </p:nvSpPr>
            <p:spPr>
              <a:xfrm>
                <a:off x="3699218" y="4871081"/>
                <a:ext cx="3176455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壁面压力</a:t>
                </a:r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、剪切应力、</a:t>
                </a:r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热流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9F7CD50E-0AE7-07D9-4455-6F92A35D8C1B}"/>
                  </a:ext>
                </a:extLst>
              </p:cNvPr>
              <p:cNvSpPr/>
              <p:nvPr/>
            </p:nvSpPr>
            <p:spPr>
              <a:xfrm>
                <a:off x="4727215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流体胀缩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37391F23-0425-2E94-1321-0FBA2A84E163}"/>
                  </a:ext>
                </a:extLst>
              </p:cNvPr>
              <p:cNvSpPr/>
              <p:nvPr/>
            </p:nvSpPr>
            <p:spPr>
              <a:xfrm>
                <a:off x="6082930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二次流动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Rounded Rectangle 96">
                <a:extLst>
                  <a:ext uri="{FF2B5EF4-FFF2-40B4-BE49-F238E27FC236}">
                    <a16:creationId xmlns:a16="http://schemas.microsoft.com/office/drawing/2014/main" id="{D2AEEFC3-76BD-3424-ACE5-52C136979F67}"/>
                  </a:ext>
                </a:extLst>
              </p:cNvPr>
              <p:cNvSpPr/>
              <p:nvPr/>
            </p:nvSpPr>
            <p:spPr>
              <a:xfrm>
                <a:off x="2548252" y="3562940"/>
                <a:ext cx="426551" cy="2482753"/>
              </a:xfrm>
              <a:prstGeom prst="roundRect">
                <a:avLst>
                  <a:gd name="adj" fmla="val 0"/>
                </a:avLst>
              </a:prstGeom>
              <a:solidFill>
                <a:srgbClr val="7030A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流动分析</a:t>
                </a:r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5" name="Rounded Rectangle 124">
                <a:extLst>
                  <a:ext uri="{FF2B5EF4-FFF2-40B4-BE49-F238E27FC236}">
                    <a16:creationId xmlns:a16="http://schemas.microsoft.com/office/drawing/2014/main" id="{0E4BCC26-0B02-8075-31EA-892EBCF0899A}"/>
                  </a:ext>
                </a:extLst>
              </p:cNvPr>
              <p:cNvSpPr/>
              <p:nvPr/>
            </p:nvSpPr>
            <p:spPr>
              <a:xfrm>
                <a:off x="2974803" y="3562938"/>
                <a:ext cx="4528769" cy="2482755"/>
              </a:xfrm>
              <a:prstGeom prst="roundRect">
                <a:avLst>
                  <a:gd name="adj" fmla="val 0"/>
                </a:avLst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iti SC Medium" pitchFamily="2" charset="-128"/>
                  <a:ea typeface="Heiti SC Medium" pitchFamily="2" charset="-128"/>
                </a:endParaRPr>
              </a:p>
            </p:txBody>
          </p:sp>
          <p:sp>
            <p:nvSpPr>
              <p:cNvPr id="127" name="Rounded Rectangle 126">
                <a:extLst>
                  <a:ext uri="{FF2B5EF4-FFF2-40B4-BE49-F238E27FC236}">
                    <a16:creationId xmlns:a16="http://schemas.microsoft.com/office/drawing/2014/main" id="{B541AFE5-8ECE-25D3-1A42-F7DC302AD21D}"/>
                  </a:ext>
                </a:extLst>
              </p:cNvPr>
              <p:cNvSpPr/>
              <p:nvPr/>
            </p:nvSpPr>
            <p:spPr>
              <a:xfrm>
                <a:off x="3139480" y="4270762"/>
                <a:ext cx="4206242" cy="1126861"/>
              </a:xfrm>
              <a:prstGeom prst="roundRect">
                <a:avLst>
                  <a:gd name="adj" fmla="val 0"/>
                </a:avLst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iti SC Medium" pitchFamily="2" charset="-128"/>
                  <a:ea typeface="Heiti SC Medium" pitchFamily="2" charset="-128"/>
                </a:endParaRPr>
              </a:p>
            </p:txBody>
          </p:sp>
          <p:sp>
            <p:nvSpPr>
              <p:cNvPr id="128" name="Rounded Rectangle 127">
                <a:extLst>
                  <a:ext uri="{FF2B5EF4-FFF2-40B4-BE49-F238E27FC236}">
                    <a16:creationId xmlns:a16="http://schemas.microsoft.com/office/drawing/2014/main" id="{EF0312F1-D837-9E70-9475-F4F948C50A5F}"/>
                  </a:ext>
                </a:extLst>
              </p:cNvPr>
              <p:cNvSpPr/>
              <p:nvPr/>
            </p:nvSpPr>
            <p:spPr>
              <a:xfrm>
                <a:off x="3181897" y="5552733"/>
                <a:ext cx="4116548" cy="349983"/>
              </a:xfrm>
              <a:prstGeom prst="roundRect">
                <a:avLst>
                  <a:gd name="adj" fmla="val 0"/>
                </a:avLst>
              </a:prstGeom>
              <a:solidFill>
                <a:srgbClr val="C8B9DB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可压缩性对粗糙壁湍流的影响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FE3CC4BD-7D56-B2E1-9C2B-97356D4C616B}"/>
                  </a:ext>
                </a:extLst>
              </p:cNvPr>
              <p:cNvCxnSpPr>
                <a:cxnSpLocks/>
                <a:stCxn id="127" idx="2"/>
                <a:endCxn id="128" idx="0"/>
              </p:cNvCxnSpPr>
              <p:nvPr/>
            </p:nvCxnSpPr>
            <p:spPr>
              <a:xfrm flipH="1">
                <a:off x="5240171" y="5397623"/>
                <a:ext cx="2430" cy="15511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CF83AF7E-46AA-72FE-ABF1-6C63EC12C48E}"/>
                </a:ext>
              </a:extLst>
            </p:cNvPr>
            <p:cNvSpPr/>
            <p:nvPr/>
          </p:nvSpPr>
          <p:spPr>
            <a:xfrm>
              <a:off x="1437124" y="3170774"/>
              <a:ext cx="1619006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简化模拟方法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E39536D-E0CE-8BC8-23BE-928B7BEE059B}"/>
                </a:ext>
              </a:extLst>
            </p:cNvPr>
            <p:cNvCxnSpPr>
              <a:cxnSpLocks/>
              <a:stCxn id="14" idx="3"/>
            </p:cNvCxnSpPr>
            <p:nvPr/>
          </p:nvCxnSpPr>
          <p:spPr>
            <a:xfrm>
              <a:off x="3056130" y="3345766"/>
              <a:ext cx="4392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38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E5D9-71F5-5E12-3045-99E14015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49743BF-8501-5D24-964A-6D2F2DC45822}"/>
              </a:ext>
            </a:extLst>
          </p:cNvPr>
          <p:cNvGrpSpPr/>
          <p:nvPr/>
        </p:nvGrpSpPr>
        <p:grpSpPr>
          <a:xfrm>
            <a:off x="6133990" y="2856576"/>
            <a:ext cx="4964644" cy="2648245"/>
            <a:chOff x="2465275" y="3031978"/>
            <a:chExt cx="3100625" cy="2648245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5109C10B-C259-7D79-CFE6-6834A22A4758}"/>
                </a:ext>
              </a:extLst>
            </p:cNvPr>
            <p:cNvSpPr/>
            <p:nvPr/>
          </p:nvSpPr>
          <p:spPr>
            <a:xfrm>
              <a:off x="2465276" y="3392996"/>
              <a:ext cx="3100624" cy="22872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ounded Rectangle 214">
              <a:extLst>
                <a:ext uri="{FF2B5EF4-FFF2-40B4-BE49-F238E27FC236}">
                  <a16:creationId xmlns:a16="http://schemas.microsoft.com/office/drawing/2014/main" id="{38AA913B-92CB-C493-53CC-478AA812E7CD}"/>
                </a:ext>
              </a:extLst>
            </p:cNvPr>
            <p:cNvSpPr/>
            <p:nvPr/>
          </p:nvSpPr>
          <p:spPr>
            <a:xfrm>
              <a:off x="2465275" y="3031978"/>
              <a:ext cx="3100624" cy="349983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75000"/>
              </a:schemeClr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</a:rPr>
                <a:t>粗糙壁简化模拟方法</a:t>
              </a:r>
              <a:endParaRPr lang="en-US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</a:endParaRPr>
            </a:p>
          </p:txBody>
        </p:sp>
      </p:grpSp>
      <p:sp>
        <p:nvSpPr>
          <p:cNvPr id="129" name="TextBox 128">
            <a:extLst>
              <a:ext uri="{FF2B5EF4-FFF2-40B4-BE49-F238E27FC236}">
                <a16:creationId xmlns:a16="http://schemas.microsoft.com/office/drawing/2014/main" id="{5BA9400D-52B9-72A4-8B8A-D50B0891A189}"/>
              </a:ext>
            </a:extLst>
          </p:cNvPr>
          <p:cNvSpPr txBox="1"/>
          <p:nvPr/>
        </p:nvSpPr>
        <p:spPr>
          <a:xfrm>
            <a:off x="6313913" y="3572298"/>
            <a:ext cx="457498" cy="1623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FangSong_GB2312" panose="02010609030101010101" pitchFamily="49" charset="-122"/>
                <a:ea typeface="FangSong_GB2312" panose="0201060903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辅助微分方程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70E0178F-E03A-D8CD-F348-6F425A27DA03}"/>
              </a:ext>
            </a:extLst>
          </p:cNvPr>
          <p:cNvSpPr txBox="1"/>
          <p:nvPr/>
        </p:nvSpPr>
        <p:spPr>
          <a:xfrm>
            <a:off x="7101961" y="3572298"/>
            <a:ext cx="715725" cy="162375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b="1">
                <a:latin typeface="FangSong_GB2312" panose="02010609030101010101" pitchFamily="49" charset="-122"/>
                <a:ea typeface="FangSong_GB2312" panose="0201060903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时域阻抗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边界条件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D2007713-F357-03AE-DC49-5141C17E5D7C}"/>
              </a:ext>
            </a:extLst>
          </p:cNvPr>
          <p:cNvCxnSpPr>
            <a:cxnSpLocks/>
            <a:stCxn id="129" idx="3"/>
            <a:endCxn id="167" idx="1"/>
          </p:cNvCxnSpPr>
          <p:nvPr/>
        </p:nvCxnSpPr>
        <p:spPr>
          <a:xfrm>
            <a:off x="6771411" y="4384175"/>
            <a:ext cx="330550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B533CA66-D537-53D5-4544-7CA2F1517BD9}"/>
              </a:ext>
            </a:extLst>
          </p:cNvPr>
          <p:cNvGrpSpPr/>
          <p:nvPr/>
        </p:nvGrpSpPr>
        <p:grpSpPr>
          <a:xfrm>
            <a:off x="8197504" y="3572298"/>
            <a:ext cx="2754403" cy="1623754"/>
            <a:chOff x="8449174" y="3572298"/>
            <a:chExt cx="2754403" cy="1623754"/>
          </a:xfrm>
        </p:grpSpPr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4A2DB5D3-AE3F-DC9C-C316-16767C51BE4D}"/>
                </a:ext>
              </a:extLst>
            </p:cNvPr>
            <p:cNvGrpSpPr/>
            <p:nvPr/>
          </p:nvGrpSpPr>
          <p:grpSpPr>
            <a:xfrm>
              <a:off x="8563969" y="3698334"/>
              <a:ext cx="2551313" cy="1441779"/>
              <a:chOff x="6907966" y="629355"/>
              <a:chExt cx="3483140" cy="1968366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E6E32E6B-A430-0057-2AA6-B3941412E8A9}"/>
                  </a:ext>
                </a:extLst>
              </p:cNvPr>
              <p:cNvCxnSpPr>
                <a:cxnSpLocks/>
                <a:stCxn id="96" idx="6"/>
                <a:endCxn id="98" idx="2"/>
              </p:cNvCxnSpPr>
              <p:nvPr/>
            </p:nvCxnSpPr>
            <p:spPr>
              <a:xfrm flipV="1">
                <a:off x="8732197" y="1544568"/>
                <a:ext cx="1118443" cy="24146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ED7559DD-D6C7-78A2-491A-B9A67D2B45A7}"/>
                  </a:ext>
                </a:extLst>
              </p:cNvPr>
              <p:cNvCxnSpPr>
                <a:cxnSpLocks/>
                <a:stCxn id="101" idx="6"/>
                <a:endCxn id="96" idx="2"/>
              </p:cNvCxnSpPr>
              <p:nvPr/>
            </p:nvCxnSpPr>
            <p:spPr>
              <a:xfrm>
                <a:off x="7344580" y="1565689"/>
                <a:ext cx="952313" cy="3025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CA42485B-48BF-05F8-FEE8-FD98AB82C57A}"/>
                  </a:ext>
                </a:extLst>
              </p:cNvPr>
              <p:cNvSpPr/>
              <p:nvPr/>
            </p:nvSpPr>
            <p:spPr>
              <a:xfrm>
                <a:off x="7143411" y="1277963"/>
                <a:ext cx="2990973" cy="564220"/>
              </a:xfrm>
              <a:custGeom>
                <a:avLst/>
                <a:gdLst>
                  <a:gd name="connsiteX0" fmla="*/ 0 w 2990973"/>
                  <a:gd name="connsiteY0" fmla="*/ 553021 h 564220"/>
                  <a:gd name="connsiteX1" fmla="*/ 188780 w 2990973"/>
                  <a:gd name="connsiteY1" fmla="*/ 470430 h 564220"/>
                  <a:gd name="connsiteX2" fmla="*/ 353962 w 2990973"/>
                  <a:gd name="connsiteY2" fmla="*/ 252154 h 564220"/>
                  <a:gd name="connsiteX3" fmla="*/ 619433 w 2990973"/>
                  <a:gd name="connsiteY3" fmla="*/ 10281 h 564220"/>
                  <a:gd name="connsiteX4" fmla="*/ 884904 w 2990973"/>
                  <a:gd name="connsiteY4" fmla="*/ 92872 h 564220"/>
                  <a:gd name="connsiteX5" fmla="*/ 1044186 w 2990973"/>
                  <a:gd name="connsiteY5" fmla="*/ 446833 h 564220"/>
                  <a:gd name="connsiteX6" fmla="*/ 1227066 w 2990973"/>
                  <a:gd name="connsiteY6" fmla="*/ 558921 h 564220"/>
                  <a:gd name="connsiteX7" fmla="*/ 1451242 w 2990973"/>
                  <a:gd name="connsiteY7" fmla="*/ 535323 h 564220"/>
                  <a:gd name="connsiteX8" fmla="*/ 1699015 w 2990973"/>
                  <a:gd name="connsiteY8" fmla="*/ 440934 h 564220"/>
                  <a:gd name="connsiteX9" fmla="*/ 1875995 w 2990973"/>
                  <a:gd name="connsiteY9" fmla="*/ 163664 h 564220"/>
                  <a:gd name="connsiteX10" fmla="*/ 2170963 w 2990973"/>
                  <a:gd name="connsiteY10" fmla="*/ 27979 h 564220"/>
                  <a:gd name="connsiteX11" fmla="*/ 2383340 w 2990973"/>
                  <a:gd name="connsiteY11" fmla="*/ 10281 h 564220"/>
                  <a:gd name="connsiteX12" fmla="*/ 2507226 w 2990973"/>
                  <a:gd name="connsiteY12" fmla="*/ 151865 h 564220"/>
                  <a:gd name="connsiteX13" fmla="*/ 2631113 w 2990973"/>
                  <a:gd name="connsiteY13" fmla="*/ 476330 h 564220"/>
                  <a:gd name="connsiteX14" fmla="*/ 2849389 w 2990973"/>
                  <a:gd name="connsiteY14" fmla="*/ 547122 h 564220"/>
                  <a:gd name="connsiteX15" fmla="*/ 2990973 w 2990973"/>
                  <a:gd name="connsiteY15" fmla="*/ 558921 h 564220"/>
                  <a:gd name="connsiteX16" fmla="*/ 0 w 2990973"/>
                  <a:gd name="connsiteY16" fmla="*/ 553021 h 564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90973" h="564220">
                    <a:moveTo>
                      <a:pt x="0" y="553021"/>
                    </a:moveTo>
                    <a:cubicBezTo>
                      <a:pt x="64893" y="536797"/>
                      <a:pt x="129786" y="520574"/>
                      <a:pt x="188780" y="470430"/>
                    </a:cubicBezTo>
                    <a:cubicBezTo>
                      <a:pt x="247774" y="420285"/>
                      <a:pt x="282187" y="328845"/>
                      <a:pt x="353962" y="252154"/>
                    </a:cubicBezTo>
                    <a:cubicBezTo>
                      <a:pt x="425737" y="175463"/>
                      <a:pt x="530943" y="36828"/>
                      <a:pt x="619433" y="10281"/>
                    </a:cubicBezTo>
                    <a:cubicBezTo>
                      <a:pt x="707923" y="-16266"/>
                      <a:pt x="814112" y="20113"/>
                      <a:pt x="884904" y="92872"/>
                    </a:cubicBezTo>
                    <a:cubicBezTo>
                      <a:pt x="955696" y="165631"/>
                      <a:pt x="987159" y="369158"/>
                      <a:pt x="1044186" y="446833"/>
                    </a:cubicBezTo>
                    <a:cubicBezTo>
                      <a:pt x="1101213" y="524508"/>
                      <a:pt x="1159223" y="544173"/>
                      <a:pt x="1227066" y="558921"/>
                    </a:cubicBezTo>
                    <a:cubicBezTo>
                      <a:pt x="1294909" y="573669"/>
                      <a:pt x="1372584" y="554987"/>
                      <a:pt x="1451242" y="535323"/>
                    </a:cubicBezTo>
                    <a:cubicBezTo>
                      <a:pt x="1529900" y="515659"/>
                      <a:pt x="1628223" y="502877"/>
                      <a:pt x="1699015" y="440934"/>
                    </a:cubicBezTo>
                    <a:cubicBezTo>
                      <a:pt x="1769807" y="378991"/>
                      <a:pt x="1797337" y="232490"/>
                      <a:pt x="1875995" y="163664"/>
                    </a:cubicBezTo>
                    <a:cubicBezTo>
                      <a:pt x="1954653" y="94838"/>
                      <a:pt x="2086406" y="53543"/>
                      <a:pt x="2170963" y="27979"/>
                    </a:cubicBezTo>
                    <a:cubicBezTo>
                      <a:pt x="2255520" y="2415"/>
                      <a:pt x="2327296" y="-10367"/>
                      <a:pt x="2383340" y="10281"/>
                    </a:cubicBezTo>
                    <a:cubicBezTo>
                      <a:pt x="2439384" y="30929"/>
                      <a:pt x="2465931" y="74190"/>
                      <a:pt x="2507226" y="151865"/>
                    </a:cubicBezTo>
                    <a:cubicBezTo>
                      <a:pt x="2548521" y="229540"/>
                      <a:pt x="2574086" y="410454"/>
                      <a:pt x="2631113" y="476330"/>
                    </a:cubicBezTo>
                    <a:cubicBezTo>
                      <a:pt x="2688140" y="542206"/>
                      <a:pt x="2789412" y="533357"/>
                      <a:pt x="2849389" y="547122"/>
                    </a:cubicBezTo>
                    <a:cubicBezTo>
                      <a:pt x="2909366" y="560887"/>
                      <a:pt x="2990973" y="558921"/>
                      <a:pt x="2990973" y="558921"/>
                    </a:cubicBezTo>
                    <a:lnTo>
                      <a:pt x="0" y="553021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0D4E598F-A2BF-E2E5-F95F-1D2C3ABF12EE}"/>
                  </a:ext>
                </a:extLst>
              </p:cNvPr>
              <p:cNvSpPr/>
              <p:nvPr/>
            </p:nvSpPr>
            <p:spPr>
              <a:xfrm>
                <a:off x="9850640" y="1386656"/>
                <a:ext cx="315823" cy="31582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93D4780F-5DA5-AB88-9225-52AE0913A4A7}"/>
                  </a:ext>
                </a:extLst>
              </p:cNvPr>
              <p:cNvSpPr/>
              <p:nvPr/>
            </p:nvSpPr>
            <p:spPr>
              <a:xfrm>
                <a:off x="7070977" y="1428887"/>
                <a:ext cx="273603" cy="273603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B765E42-31F7-8CE7-DAD5-797759146BD9}"/>
                  </a:ext>
                </a:extLst>
              </p:cNvPr>
              <p:cNvGrpSpPr/>
              <p:nvPr/>
            </p:nvGrpSpPr>
            <p:grpSpPr>
              <a:xfrm>
                <a:off x="7016122" y="1276382"/>
                <a:ext cx="3150342" cy="561498"/>
                <a:chOff x="4185138" y="3409768"/>
                <a:chExt cx="1413588" cy="217050"/>
              </a:xfrm>
            </p:grpSpPr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FB5CC23-BD78-7E9F-DEFB-EC5599AD7E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85138" y="3409768"/>
                  <a:ext cx="1413588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2EEB45BB-3AB6-8E47-13CE-E5C5158A83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85138" y="3626818"/>
                  <a:ext cx="1399194" cy="0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Rounded Rectangle 127">
                    <a:extLst>
                      <a:ext uri="{FF2B5EF4-FFF2-40B4-BE49-F238E27FC236}">
                        <a16:creationId xmlns:a16="http://schemas.microsoft.com/office/drawing/2014/main" id="{1B7998AD-7F35-E31F-E4F3-08C0AB3A3D80}"/>
                      </a:ext>
                    </a:extLst>
                  </p:cNvPr>
                  <p:cNvSpPr/>
                  <p:nvPr/>
                </p:nvSpPr>
                <p:spPr>
                  <a:xfrm>
                    <a:off x="6970735" y="2183139"/>
                    <a:ext cx="3263643" cy="41458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zh-CN" alt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Hei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28" name="Rounded Rectangle 127">
                    <a:extLst>
                      <a:ext uri="{FF2B5EF4-FFF2-40B4-BE49-F238E27FC236}">
                        <a16:creationId xmlns:a16="http://schemas.microsoft.com/office/drawing/2014/main" id="{F7F9B74E-3F92-7ED4-2A2A-1E125F26930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70735" y="2183139"/>
                    <a:ext cx="3263643" cy="414582"/>
                  </a:xfrm>
                  <a:prstGeom prst="roundRect">
                    <a:avLst>
                      <a:gd name="adj" fmla="val 0"/>
                    </a:avLst>
                  </a:prstGeom>
                  <a:blipFill>
                    <a:blip r:embed="rId3"/>
                    <a:stretch>
                      <a:fillRect b="-1923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6" name="Up Arrow 145">
                <a:extLst>
                  <a:ext uri="{FF2B5EF4-FFF2-40B4-BE49-F238E27FC236}">
                    <a16:creationId xmlns:a16="http://schemas.microsoft.com/office/drawing/2014/main" id="{DD990075-4158-785E-28B8-592C77AD759D}"/>
                  </a:ext>
                </a:extLst>
              </p:cNvPr>
              <p:cNvSpPr/>
              <p:nvPr/>
            </p:nvSpPr>
            <p:spPr>
              <a:xfrm>
                <a:off x="8297472" y="1041291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Up Arrow 146">
                <a:extLst>
                  <a:ext uri="{FF2B5EF4-FFF2-40B4-BE49-F238E27FC236}">
                    <a16:creationId xmlns:a16="http://schemas.microsoft.com/office/drawing/2014/main" id="{DEA669DF-2C0F-4D11-7903-8DE37BBEB8F6}"/>
                  </a:ext>
                </a:extLst>
              </p:cNvPr>
              <p:cNvSpPr/>
              <p:nvPr/>
            </p:nvSpPr>
            <p:spPr>
              <a:xfrm rot="10800000">
                <a:off x="8297472" y="1886688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75" name="Group 174">
                <a:extLst>
                  <a:ext uri="{FF2B5EF4-FFF2-40B4-BE49-F238E27FC236}">
                    <a16:creationId xmlns:a16="http://schemas.microsoft.com/office/drawing/2014/main" id="{2A52BE40-C462-3791-D101-3A987E38F92A}"/>
                  </a:ext>
                </a:extLst>
              </p:cNvPr>
              <p:cNvGrpSpPr/>
              <p:nvPr/>
            </p:nvGrpSpPr>
            <p:grpSpPr>
              <a:xfrm>
                <a:off x="8294074" y="1351062"/>
                <a:ext cx="628698" cy="435304"/>
                <a:chOff x="5492658" y="3442537"/>
                <a:chExt cx="628698" cy="435304"/>
              </a:xfrm>
            </p:grpSpPr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4267B69E-A34A-CB11-DF27-8C8438025D5E}"/>
                    </a:ext>
                  </a:extLst>
                </p:cNvPr>
                <p:cNvSpPr/>
                <p:nvPr/>
              </p:nvSpPr>
              <p:spPr>
                <a:xfrm>
                  <a:off x="5495477" y="3442537"/>
                  <a:ext cx="435304" cy="435304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900" dirty="0"/>
                </a:p>
              </p:txBody>
            </p:sp>
            <p:sp>
              <p:nvSpPr>
                <p:cNvPr id="168" name="TextBox 167">
                  <a:extLst>
                    <a:ext uri="{FF2B5EF4-FFF2-40B4-BE49-F238E27FC236}">
                      <a16:creationId xmlns:a16="http://schemas.microsoft.com/office/drawing/2014/main" id="{334E43B3-C3C4-58D2-5C69-801801413C41}"/>
                    </a:ext>
                  </a:extLst>
                </p:cNvPr>
                <p:cNvSpPr txBox="1"/>
                <p:nvPr/>
              </p:nvSpPr>
              <p:spPr>
                <a:xfrm>
                  <a:off x="5492658" y="3518412"/>
                  <a:ext cx="62869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1400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endParaRPr>
                </a:p>
              </p:txBody>
            </p:sp>
          </p:grp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911C5AA-BAFA-8040-199B-C2ADF1D137A9}"/>
                  </a:ext>
                </a:extLst>
              </p:cNvPr>
              <p:cNvSpPr txBox="1"/>
              <p:nvPr/>
            </p:nvSpPr>
            <p:spPr>
              <a:xfrm>
                <a:off x="9791457" y="1428887"/>
                <a:ext cx="59964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01E6B37F-7F48-AD52-EA0C-E79367E981A9}"/>
                  </a:ext>
                </a:extLst>
              </p:cNvPr>
              <p:cNvSpPr txBox="1"/>
              <p:nvPr/>
            </p:nvSpPr>
            <p:spPr>
              <a:xfrm>
                <a:off x="6993267" y="1439155"/>
                <a:ext cx="599649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Up Arrow 187">
                <a:extLst>
                  <a:ext uri="{FF2B5EF4-FFF2-40B4-BE49-F238E27FC236}">
                    <a16:creationId xmlns:a16="http://schemas.microsoft.com/office/drawing/2014/main" id="{B17B3BE2-CE8F-447D-C2B8-8071EF06C4A4}"/>
                  </a:ext>
                </a:extLst>
              </p:cNvPr>
              <p:cNvSpPr/>
              <p:nvPr/>
            </p:nvSpPr>
            <p:spPr>
              <a:xfrm>
                <a:off x="6993267" y="1047135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9" name="Up Arrow 188">
                <a:extLst>
                  <a:ext uri="{FF2B5EF4-FFF2-40B4-BE49-F238E27FC236}">
                    <a16:creationId xmlns:a16="http://schemas.microsoft.com/office/drawing/2014/main" id="{89E05855-D8EB-D9DF-0261-EC5472DD8589}"/>
                  </a:ext>
                </a:extLst>
              </p:cNvPr>
              <p:cNvSpPr/>
              <p:nvPr/>
            </p:nvSpPr>
            <p:spPr>
              <a:xfrm>
                <a:off x="9749749" y="1029928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Up Arrow 189">
                <a:extLst>
                  <a:ext uri="{FF2B5EF4-FFF2-40B4-BE49-F238E27FC236}">
                    <a16:creationId xmlns:a16="http://schemas.microsoft.com/office/drawing/2014/main" id="{17B6B6BE-2894-FD60-CDB7-DD992A60F3CF}"/>
                  </a:ext>
                </a:extLst>
              </p:cNvPr>
              <p:cNvSpPr/>
              <p:nvPr/>
            </p:nvSpPr>
            <p:spPr>
              <a:xfrm rot="10800000">
                <a:off x="6983918" y="1891795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Up Arrow 190">
                <a:extLst>
                  <a:ext uri="{FF2B5EF4-FFF2-40B4-BE49-F238E27FC236}">
                    <a16:creationId xmlns:a16="http://schemas.microsoft.com/office/drawing/2014/main" id="{D7C42A1A-DFD0-F6FA-C6CD-62412C24D262}"/>
                  </a:ext>
                </a:extLst>
              </p:cNvPr>
              <p:cNvSpPr/>
              <p:nvPr/>
            </p:nvSpPr>
            <p:spPr>
              <a:xfrm rot="10800000">
                <a:off x="9753220" y="1878345"/>
                <a:ext cx="484632" cy="196842"/>
              </a:xfrm>
              <a:prstGeom prst="up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Rounded Rectangle 127">
                    <a:extLst>
                      <a:ext uri="{FF2B5EF4-FFF2-40B4-BE49-F238E27FC236}">
                        <a16:creationId xmlns:a16="http://schemas.microsoft.com/office/drawing/2014/main" id="{37A2F783-708B-8D66-F58E-4B3BB3480413}"/>
                      </a:ext>
                    </a:extLst>
                  </p:cNvPr>
                  <p:cNvSpPr/>
                  <p:nvPr/>
                </p:nvSpPr>
                <p:spPr>
                  <a:xfrm>
                    <a:off x="6907966" y="629355"/>
                    <a:ext cx="3263643" cy="367196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𝑤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SimHei" panose="02010609060101010101" pitchFamily="49" charset="-122"/>
                              <a:cs typeface="Times New Roman" panose="02020603050405020304" pitchFamily="18" charset="0"/>
                            </a:rPr>
                            <m:t>⋯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SimHei" panose="0201060906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9" name="Rounded Rectangle 127">
                    <a:extLst>
                      <a:ext uri="{FF2B5EF4-FFF2-40B4-BE49-F238E27FC236}">
                        <a16:creationId xmlns:a16="http://schemas.microsoft.com/office/drawing/2014/main" id="{0EBE8AC0-9C74-6CDD-4004-D35C2D63CCF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7966" y="629355"/>
                    <a:ext cx="3263643" cy="367196"/>
                  </a:xfrm>
                  <a:prstGeom prst="roundRect">
                    <a:avLst>
                      <a:gd name="adj" fmla="val 0"/>
                    </a:avLst>
                  </a:prstGeom>
                  <a:blipFill>
                    <a:blip r:embed="rId4"/>
                    <a:stretch>
                      <a:fillRect b="-2608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A5931DD-B18B-0320-6674-3F3B82AA0CC6}"/>
                </a:ext>
              </a:extLst>
            </p:cNvPr>
            <p:cNvSpPr/>
            <p:nvPr/>
          </p:nvSpPr>
          <p:spPr>
            <a:xfrm>
              <a:off x="8449174" y="3572298"/>
              <a:ext cx="2754403" cy="162375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3" name="Down Arrow 130">
            <a:extLst>
              <a:ext uri="{FF2B5EF4-FFF2-40B4-BE49-F238E27FC236}">
                <a16:creationId xmlns:a16="http://schemas.microsoft.com/office/drawing/2014/main" id="{59A9FD3F-FA7A-6A4D-861A-5B2BFA4C5D73}"/>
              </a:ext>
            </a:extLst>
          </p:cNvPr>
          <p:cNvSpPr/>
          <p:nvPr/>
        </p:nvSpPr>
        <p:spPr>
          <a:xfrm rot="16200000">
            <a:off x="5630725" y="4247299"/>
            <a:ext cx="535229" cy="32912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47DF7BB1-C55A-EA49-6C54-B86F0F558C4B}"/>
              </a:ext>
            </a:extLst>
          </p:cNvPr>
          <p:cNvCxnSpPr>
            <a:cxnSpLocks/>
            <a:stCxn id="167" idx="3"/>
            <a:endCxn id="212" idx="1"/>
          </p:cNvCxnSpPr>
          <p:nvPr/>
        </p:nvCxnSpPr>
        <p:spPr>
          <a:xfrm>
            <a:off x="7817686" y="4384175"/>
            <a:ext cx="379818" cy="0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C007E06E-B326-DB9D-70FB-4D7DF5AF54FF}"/>
              </a:ext>
            </a:extLst>
          </p:cNvPr>
          <p:cNvGrpSpPr/>
          <p:nvPr/>
        </p:nvGrpSpPr>
        <p:grpSpPr>
          <a:xfrm>
            <a:off x="737718" y="2852357"/>
            <a:ext cx="4849023" cy="2640989"/>
            <a:chOff x="737718" y="2852357"/>
            <a:chExt cx="4849023" cy="2640989"/>
          </a:xfrm>
        </p:grpSpPr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6C01125D-E8B7-DF10-D9CC-5831E0D2D353}"/>
                </a:ext>
              </a:extLst>
            </p:cNvPr>
            <p:cNvGrpSpPr/>
            <p:nvPr/>
          </p:nvGrpSpPr>
          <p:grpSpPr>
            <a:xfrm>
              <a:off x="737718" y="2852357"/>
              <a:ext cx="4849023" cy="2640989"/>
              <a:chOff x="830775" y="3040056"/>
              <a:chExt cx="4849023" cy="2640989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C8E5677C-B8E7-6539-F15E-E2D1FA4F7C5A}"/>
                  </a:ext>
                </a:extLst>
              </p:cNvPr>
              <p:cNvGrpSpPr/>
              <p:nvPr/>
            </p:nvGrpSpPr>
            <p:grpSpPr>
              <a:xfrm>
                <a:off x="830775" y="3040056"/>
                <a:ext cx="4849023" cy="2640989"/>
                <a:chOff x="2897399" y="3039235"/>
                <a:chExt cx="3311811" cy="2640989"/>
              </a:xfrm>
            </p:grpSpPr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411E5F88-C90A-C35D-9A73-3A056C9FDB00}"/>
                    </a:ext>
                  </a:extLst>
                </p:cNvPr>
                <p:cNvSpPr/>
                <p:nvPr/>
              </p:nvSpPr>
              <p:spPr>
                <a:xfrm>
                  <a:off x="2899664" y="3392996"/>
                  <a:ext cx="3309546" cy="22872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" name="Rounded Rectangle 214">
                  <a:extLst>
                    <a:ext uri="{FF2B5EF4-FFF2-40B4-BE49-F238E27FC236}">
                      <a16:creationId xmlns:a16="http://schemas.microsoft.com/office/drawing/2014/main" id="{A39FDC0B-A736-6403-7E4C-DD13D9D62126}"/>
                    </a:ext>
                  </a:extLst>
                </p:cNvPr>
                <p:cNvSpPr/>
                <p:nvPr/>
              </p:nvSpPr>
              <p:spPr>
                <a:xfrm>
                  <a:off x="2897399" y="3039235"/>
                  <a:ext cx="3309547" cy="349983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75000"/>
                  </a:schemeClr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</a:rPr>
                    <a:t>空间可变泛化阻抗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endParaRPr>
                </a:p>
              </p:txBody>
            </p:sp>
          </p:grp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9397ACCB-C2D3-5DFD-E24E-8AB142E5F08A}"/>
                  </a:ext>
                </a:extLst>
              </p:cNvPr>
              <p:cNvSpPr txBox="1"/>
              <p:nvPr/>
            </p:nvSpPr>
            <p:spPr>
              <a:xfrm>
                <a:off x="4744251" y="3985035"/>
                <a:ext cx="668130" cy="1130436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latin typeface="FangSong_GB2312" panose="02010609030101010101" pitchFamily="49" charset="-122"/>
                    <a:ea typeface="FangSong_GB2312" panose="02010609030101010101" pitchFamily="49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dirty="0">
                    <a:solidFill>
                      <a:schemeClr val="tx1"/>
                    </a:solidFill>
                  </a:rPr>
                  <a:t>空间可变泛化阻抗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176B359E-BF8A-CB38-CDCE-39750C1934FD}"/>
                  </a:ext>
                </a:extLst>
              </p:cNvPr>
              <p:cNvSpPr txBox="1"/>
              <p:nvPr/>
            </p:nvSpPr>
            <p:spPr>
              <a:xfrm>
                <a:off x="1017333" y="3526540"/>
                <a:ext cx="389132" cy="925002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dirty="0"/>
                  <a:t>图网络</a:t>
                </a:r>
                <a:endParaRPr lang="en-US" dirty="0"/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ED854010-C07A-5AC8-B130-7D833F9DCC27}"/>
                  </a:ext>
                </a:extLst>
              </p:cNvPr>
              <p:cNvSpPr txBox="1"/>
              <p:nvPr/>
            </p:nvSpPr>
            <p:spPr>
              <a:xfrm>
                <a:off x="1023971" y="4650634"/>
                <a:ext cx="389132" cy="8941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 dirty="0"/>
                  <a:t>数据库</a:t>
                </a:r>
                <a:endParaRPr lang="en-US" dirty="0"/>
              </a:p>
            </p:txBody>
          </p:sp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617532F2-3AF4-76E1-48F7-C8CBC78B2F03}"/>
                  </a:ext>
                </a:extLst>
              </p:cNvPr>
              <p:cNvGrpSpPr/>
              <p:nvPr/>
            </p:nvGrpSpPr>
            <p:grpSpPr>
              <a:xfrm>
                <a:off x="1902986" y="3527769"/>
                <a:ext cx="2559267" cy="2036091"/>
                <a:chOff x="1295222" y="4126768"/>
                <a:chExt cx="2559267" cy="1729580"/>
              </a:xfrm>
            </p:grpSpPr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CAC5C99-31D5-EA01-4A10-145B69163826}"/>
                    </a:ext>
                  </a:extLst>
                </p:cNvPr>
                <p:cNvSpPr txBox="1"/>
                <p:nvPr/>
              </p:nvSpPr>
              <p:spPr>
                <a:xfrm>
                  <a:off x="1295222" y="4126768"/>
                  <a:ext cx="592844" cy="1729579"/>
                </a:xfrm>
                <a:prstGeom prst="rect">
                  <a:avLst/>
                </a:prstGeom>
                <a:solidFill>
                  <a:schemeClr val="accent5">
                    <a:lumMod val="75000"/>
                  </a:schemeClr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algn="ctr">
                    <a:defRPr b="1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/>
                    <a:t>生成</a:t>
                  </a:r>
                  <a:r>
                    <a:rPr lang="zh-CN" altLang="en-US" dirty="0"/>
                    <a:t>式</a:t>
                  </a:r>
                  <a:endParaRPr lang="en-US" altLang="zh-CN" dirty="0"/>
                </a:p>
                <a:p>
                  <a:r>
                    <a:rPr lang="en-US" altLang="zh-CN"/>
                    <a:t>AI</a:t>
                  </a:r>
                  <a:r>
                    <a:rPr lang="zh-CN" altLang="en-US" dirty="0"/>
                    <a:t>框架</a:t>
                  </a:r>
                  <a:endParaRPr lang="en-US" dirty="0"/>
                </a:p>
              </p:txBody>
            </p:sp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6BE41D4F-72E6-A87D-EDD4-06F40E94571B}"/>
                    </a:ext>
                  </a:extLst>
                </p:cNvPr>
                <p:cNvSpPr txBox="1"/>
                <p:nvPr/>
              </p:nvSpPr>
              <p:spPr>
                <a:xfrm>
                  <a:off x="1888643" y="4126768"/>
                  <a:ext cx="1965846" cy="1729580"/>
                </a:xfrm>
                <a:prstGeom prst="rect">
                  <a:avLst/>
                </a:prstGeom>
                <a:noFill/>
                <a:ln w="19050"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algn="ctr">
                    <a:defRPr b="1">
                      <a:latin typeface="FangSong_GB2312" panose="02010609030101010101" pitchFamily="49" charset="-122"/>
                      <a:ea typeface="FangSong_GB2312" panose="02010609030101010101" pitchFamily="49" charset="-122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EE956B2F-495E-775B-DA44-C3849C914F0B}"/>
                    </a:ext>
                  </a:extLst>
                </p:cNvPr>
                <p:cNvSpPr txBox="1"/>
                <p:nvPr/>
              </p:nvSpPr>
              <p:spPr>
                <a:xfrm>
                  <a:off x="2109663" y="4818975"/>
                  <a:ext cx="1618327" cy="369332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algn="ctr">
                    <a:defRPr b="1">
                      <a:latin typeface="FangSong_GB2312" panose="02010609030101010101" pitchFamily="49" charset="-122"/>
                      <a:ea typeface="FangSong_GB2312" panose="02010609030101010101" pitchFamily="49" charset="-122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dirty="0">
                      <a:solidFill>
                        <a:schemeClr val="tx1"/>
                      </a:solidFill>
                    </a:rPr>
                    <a:t>注意力机制</a:t>
                  </a:r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CB0F4E67-AC85-BD95-8AA2-4CF156FB969A}"/>
                    </a:ext>
                  </a:extLst>
                </p:cNvPr>
                <p:cNvSpPr txBox="1"/>
                <p:nvPr/>
              </p:nvSpPr>
              <p:spPr>
                <a:xfrm>
                  <a:off x="2109663" y="4232467"/>
                  <a:ext cx="1618326" cy="36933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algn="ctr">
                    <a:defRPr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 dirty="0"/>
                    <a:t>时空拟序结构</a:t>
                  </a:r>
                  <a:endParaRPr lang="en-US" dirty="0"/>
                </a:p>
              </p:txBody>
            </p:sp>
            <p:sp>
              <p:nvSpPr>
                <p:cNvPr id="259" name="TextBox 258">
                  <a:extLst>
                    <a:ext uri="{FF2B5EF4-FFF2-40B4-BE49-F238E27FC236}">
                      <a16:creationId xmlns:a16="http://schemas.microsoft.com/office/drawing/2014/main" id="{31152A13-E0A6-E0EA-6B3B-09208C0B53B3}"/>
                    </a:ext>
                  </a:extLst>
                </p:cNvPr>
                <p:cNvSpPr txBox="1"/>
                <p:nvPr/>
              </p:nvSpPr>
              <p:spPr>
                <a:xfrm>
                  <a:off x="2109663" y="5392363"/>
                  <a:ext cx="1618326" cy="369331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algn="ctr">
                    <a:defRPr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defRPr>
                  </a:lvl1pPr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r>
                    <a:rPr lang="zh-CN" altLang="en-US"/>
                    <a:t>粗糙</a:t>
                  </a:r>
                  <a:r>
                    <a:rPr lang="zh-CN" altLang="en-US" dirty="0"/>
                    <a:t>壁二次流</a:t>
                  </a:r>
                  <a:endParaRPr lang="en-US" dirty="0"/>
                </a:p>
              </p:txBody>
            </p:sp>
          </p:grpSp>
          <p:cxnSp>
            <p:nvCxnSpPr>
              <p:cNvPr id="261" name="Straight Arrow Connector 260">
                <a:extLst>
                  <a:ext uri="{FF2B5EF4-FFF2-40B4-BE49-F238E27FC236}">
                    <a16:creationId xmlns:a16="http://schemas.microsoft.com/office/drawing/2014/main" id="{4DB60ED3-0144-89D3-9172-D0C5597A93FF}"/>
                  </a:ext>
                </a:extLst>
              </p:cNvPr>
              <p:cNvCxnSpPr>
                <a:cxnSpLocks/>
                <a:stCxn id="257" idx="0"/>
                <a:endCxn id="258" idx="2"/>
              </p:cNvCxnSpPr>
              <p:nvPr/>
            </p:nvCxnSpPr>
            <p:spPr>
              <a:xfrm flipH="1" flipV="1">
                <a:off x="3526590" y="4086983"/>
                <a:ext cx="1" cy="255664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Arrow Connector 263">
                <a:extLst>
                  <a:ext uri="{FF2B5EF4-FFF2-40B4-BE49-F238E27FC236}">
                    <a16:creationId xmlns:a16="http://schemas.microsoft.com/office/drawing/2014/main" id="{F7F4516C-7B6D-051C-7170-D2F046F991A4}"/>
                  </a:ext>
                </a:extLst>
              </p:cNvPr>
              <p:cNvCxnSpPr>
                <a:cxnSpLocks/>
                <a:stCxn id="257" idx="2"/>
                <a:endCxn id="259" idx="0"/>
              </p:cNvCxnSpPr>
              <p:nvPr/>
            </p:nvCxnSpPr>
            <p:spPr>
              <a:xfrm flipH="1">
                <a:off x="3526590" y="4777431"/>
                <a:ext cx="1" cy="24021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88" name="Straight Arrow Connector 287">
              <a:extLst>
                <a:ext uri="{FF2B5EF4-FFF2-40B4-BE49-F238E27FC236}">
                  <a16:creationId xmlns:a16="http://schemas.microsoft.com/office/drawing/2014/main" id="{EE7C4E0B-F7A6-09A3-8D2E-3CB79ADF8F91}"/>
                </a:ext>
              </a:extLst>
            </p:cNvPr>
            <p:cNvCxnSpPr>
              <a:cxnSpLocks/>
              <a:stCxn id="256" idx="3"/>
              <a:endCxn id="165" idx="1"/>
            </p:cNvCxnSpPr>
            <p:nvPr/>
          </p:nvCxnSpPr>
          <p:spPr>
            <a:xfrm>
              <a:off x="4369196" y="4358116"/>
              <a:ext cx="281998" cy="443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Arrow Connector 297">
              <a:extLst>
                <a:ext uri="{FF2B5EF4-FFF2-40B4-BE49-F238E27FC236}">
                  <a16:creationId xmlns:a16="http://schemas.microsoft.com/office/drawing/2014/main" id="{534EAFF5-4547-46E6-188C-67A7DD8F012F}"/>
                </a:ext>
              </a:extLst>
            </p:cNvPr>
            <p:cNvCxnSpPr>
              <a:cxnSpLocks/>
              <a:stCxn id="130" idx="3"/>
            </p:cNvCxnSpPr>
            <p:nvPr/>
          </p:nvCxnSpPr>
          <p:spPr>
            <a:xfrm>
              <a:off x="1313408" y="3801342"/>
              <a:ext cx="520218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CD62B265-CDB7-8FDE-8857-24AE2590B656}"/>
                </a:ext>
              </a:extLst>
            </p:cNvPr>
            <p:cNvCxnSpPr>
              <a:cxnSpLocks/>
              <a:stCxn id="163" idx="3"/>
            </p:cNvCxnSpPr>
            <p:nvPr/>
          </p:nvCxnSpPr>
          <p:spPr>
            <a:xfrm flipV="1">
              <a:off x="1320046" y="4909984"/>
              <a:ext cx="506942" cy="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025DC261-34AA-D574-23E7-BB4BEAD503ED}"/>
                </a:ext>
              </a:extLst>
            </p:cNvPr>
            <p:cNvSpPr txBox="1"/>
            <p:nvPr/>
          </p:nvSpPr>
          <p:spPr>
            <a:xfrm>
              <a:off x="1209173" y="3464501"/>
              <a:ext cx="726038" cy="3133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dirty="0"/>
                <a:t>嵌入</a:t>
              </a:r>
              <a:endParaRPr lang="en-US" sz="1400" dirty="0"/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AB7DD38E-F5B5-455B-BB60-9458CF247A66}"/>
                </a:ext>
              </a:extLst>
            </p:cNvPr>
            <p:cNvSpPr txBox="1"/>
            <p:nvPr/>
          </p:nvSpPr>
          <p:spPr>
            <a:xfrm>
              <a:off x="1209173" y="4602958"/>
              <a:ext cx="726038" cy="3133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400" dirty="0"/>
                <a:t>训练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380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04DEA-B13C-FA14-9104-D8BD4CE11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406AF9AF-8F7E-7835-353A-0EA5BDB94287}"/>
              </a:ext>
            </a:extLst>
          </p:cNvPr>
          <p:cNvSpPr/>
          <p:nvPr/>
        </p:nvSpPr>
        <p:spPr>
          <a:xfrm>
            <a:off x="985169" y="5686262"/>
            <a:ext cx="3650672" cy="232737"/>
          </a:xfrm>
          <a:custGeom>
            <a:avLst/>
            <a:gdLst>
              <a:gd name="connsiteX0" fmla="*/ 0 w 6677891"/>
              <a:gd name="connsiteY0" fmla="*/ 600378 h 738923"/>
              <a:gd name="connsiteX1" fmla="*/ 646545 w 6677891"/>
              <a:gd name="connsiteY1" fmla="*/ 341760 h 738923"/>
              <a:gd name="connsiteX2" fmla="*/ 1320800 w 6677891"/>
              <a:gd name="connsiteY2" fmla="*/ 129323 h 738923"/>
              <a:gd name="connsiteX3" fmla="*/ 1838036 w 6677891"/>
              <a:gd name="connsiteY3" fmla="*/ 655796 h 738923"/>
              <a:gd name="connsiteX4" fmla="*/ 2290618 w 6677891"/>
              <a:gd name="connsiteY4" fmla="*/ 230923 h 738923"/>
              <a:gd name="connsiteX5" fmla="*/ 2807854 w 6677891"/>
              <a:gd name="connsiteY5" fmla="*/ 14 h 738923"/>
              <a:gd name="connsiteX6" fmla="*/ 3168073 w 6677891"/>
              <a:gd name="connsiteY6" fmla="*/ 240160 h 738923"/>
              <a:gd name="connsiteX7" fmla="*/ 3408218 w 6677891"/>
              <a:gd name="connsiteY7" fmla="*/ 665032 h 738923"/>
              <a:gd name="connsiteX8" fmla="*/ 3962400 w 6677891"/>
              <a:gd name="connsiteY8" fmla="*/ 295578 h 738923"/>
              <a:gd name="connsiteX9" fmla="*/ 4239491 w 6677891"/>
              <a:gd name="connsiteY9" fmla="*/ 18487 h 738923"/>
              <a:gd name="connsiteX10" fmla="*/ 4719782 w 6677891"/>
              <a:gd name="connsiteY10" fmla="*/ 434123 h 738923"/>
              <a:gd name="connsiteX11" fmla="*/ 5153891 w 6677891"/>
              <a:gd name="connsiteY11" fmla="*/ 609614 h 738923"/>
              <a:gd name="connsiteX12" fmla="*/ 5754254 w 6677891"/>
              <a:gd name="connsiteY12" fmla="*/ 184741 h 738923"/>
              <a:gd name="connsiteX13" fmla="*/ 6391563 w 6677891"/>
              <a:gd name="connsiteY13" fmla="*/ 665032 h 738923"/>
              <a:gd name="connsiteX14" fmla="*/ 6677891 w 6677891"/>
              <a:gd name="connsiteY14" fmla="*/ 738923 h 738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677891" h="738923">
                <a:moveTo>
                  <a:pt x="0" y="600378"/>
                </a:moveTo>
                <a:cubicBezTo>
                  <a:pt x="213206" y="510323"/>
                  <a:pt x="426412" y="420269"/>
                  <a:pt x="646545" y="341760"/>
                </a:cubicBezTo>
                <a:cubicBezTo>
                  <a:pt x="866678" y="263251"/>
                  <a:pt x="1122218" y="76984"/>
                  <a:pt x="1320800" y="129323"/>
                </a:cubicBezTo>
                <a:cubicBezTo>
                  <a:pt x="1519382" y="181662"/>
                  <a:pt x="1676400" y="638863"/>
                  <a:pt x="1838036" y="655796"/>
                </a:cubicBezTo>
                <a:cubicBezTo>
                  <a:pt x="1999672" y="672729"/>
                  <a:pt x="2128982" y="340220"/>
                  <a:pt x="2290618" y="230923"/>
                </a:cubicBezTo>
                <a:cubicBezTo>
                  <a:pt x="2452254" y="121626"/>
                  <a:pt x="2661612" y="-1525"/>
                  <a:pt x="2807854" y="14"/>
                </a:cubicBezTo>
                <a:cubicBezTo>
                  <a:pt x="2954096" y="1553"/>
                  <a:pt x="3068012" y="129324"/>
                  <a:pt x="3168073" y="240160"/>
                </a:cubicBezTo>
                <a:cubicBezTo>
                  <a:pt x="3268134" y="350996"/>
                  <a:pt x="3275830" y="655796"/>
                  <a:pt x="3408218" y="665032"/>
                </a:cubicBezTo>
                <a:cubicBezTo>
                  <a:pt x="3540606" y="674268"/>
                  <a:pt x="3823855" y="403335"/>
                  <a:pt x="3962400" y="295578"/>
                </a:cubicBezTo>
                <a:cubicBezTo>
                  <a:pt x="4100945" y="187821"/>
                  <a:pt x="4113261" y="-4604"/>
                  <a:pt x="4239491" y="18487"/>
                </a:cubicBezTo>
                <a:cubicBezTo>
                  <a:pt x="4365721" y="41578"/>
                  <a:pt x="4567382" y="335602"/>
                  <a:pt x="4719782" y="434123"/>
                </a:cubicBezTo>
                <a:cubicBezTo>
                  <a:pt x="4872182" y="532644"/>
                  <a:pt x="4981479" y="651178"/>
                  <a:pt x="5153891" y="609614"/>
                </a:cubicBezTo>
                <a:cubicBezTo>
                  <a:pt x="5326303" y="568050"/>
                  <a:pt x="5547975" y="175505"/>
                  <a:pt x="5754254" y="184741"/>
                </a:cubicBezTo>
                <a:cubicBezTo>
                  <a:pt x="5960533" y="193977"/>
                  <a:pt x="6237623" y="572668"/>
                  <a:pt x="6391563" y="665032"/>
                </a:cubicBezTo>
                <a:cubicBezTo>
                  <a:pt x="6545503" y="757396"/>
                  <a:pt x="6585527" y="712753"/>
                  <a:pt x="6677891" y="738923"/>
                </a:cubicBezTo>
              </a:path>
            </a:pathLst>
          </a:cu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286218C-E3C6-F547-E2AC-985B6DD8136A}"/>
              </a:ext>
            </a:extLst>
          </p:cNvPr>
          <p:cNvCxnSpPr>
            <a:cxnSpLocks/>
          </p:cNvCxnSpPr>
          <p:nvPr/>
        </p:nvCxnSpPr>
        <p:spPr>
          <a:xfrm>
            <a:off x="974390" y="5700428"/>
            <a:ext cx="3735591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A7C8CCF-3D06-E2CD-48DA-6B8D450492C7}"/>
              </a:ext>
            </a:extLst>
          </p:cNvPr>
          <p:cNvCxnSpPr>
            <a:cxnSpLocks/>
          </p:cNvCxnSpPr>
          <p:nvPr/>
        </p:nvCxnSpPr>
        <p:spPr>
          <a:xfrm>
            <a:off x="989682" y="5918999"/>
            <a:ext cx="3735591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3F5140F5-C35D-3A1C-9EF0-27E3ACCB8521}"/>
              </a:ext>
            </a:extLst>
          </p:cNvPr>
          <p:cNvGrpSpPr/>
          <p:nvPr/>
        </p:nvGrpSpPr>
        <p:grpSpPr>
          <a:xfrm>
            <a:off x="4537504" y="1336495"/>
            <a:ext cx="3473403" cy="2828748"/>
            <a:chOff x="1179093" y="3387125"/>
            <a:chExt cx="3473403" cy="282874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E7F7D78-0E07-D8C2-C663-D4F27681C182}"/>
                </a:ext>
              </a:extLst>
            </p:cNvPr>
            <p:cNvGrpSpPr/>
            <p:nvPr/>
          </p:nvGrpSpPr>
          <p:grpSpPr>
            <a:xfrm>
              <a:off x="1233751" y="3429000"/>
              <a:ext cx="3418745" cy="2786873"/>
              <a:chOff x="5167598" y="2218264"/>
              <a:chExt cx="4938699" cy="4025900"/>
            </a:xfrm>
          </p:grpSpPr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9B9B23A5-F3F9-4AA6-5CE5-23634B6141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58097" y="2218264"/>
                <a:ext cx="4648200" cy="4025900"/>
              </a:xfrm>
              <a:prstGeom prst="rect">
                <a:avLst/>
              </a:prstGeom>
            </p:spPr>
          </p:pic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616C3EEF-94B9-2123-6DE5-C5CAD7280026}"/>
                  </a:ext>
                </a:extLst>
              </p:cNvPr>
              <p:cNvSpPr/>
              <p:nvPr/>
            </p:nvSpPr>
            <p:spPr>
              <a:xfrm>
                <a:off x="6473821" y="4040317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3B298E84-644E-43CF-5218-0B1E35FCC0AE}"/>
                  </a:ext>
                </a:extLst>
              </p:cNvPr>
              <p:cNvSpPr/>
              <p:nvPr/>
            </p:nvSpPr>
            <p:spPr>
              <a:xfrm>
                <a:off x="7410050" y="4231214"/>
                <a:ext cx="280628" cy="280628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07CDF77-017B-4042-BE1C-E81E9ADB5E65}"/>
                  </a:ext>
                </a:extLst>
              </p:cNvPr>
              <p:cNvSpPr/>
              <p:nvPr/>
            </p:nvSpPr>
            <p:spPr>
              <a:xfrm>
                <a:off x="8221049" y="3789260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EA25D4B3-6F33-2A11-6DDF-E5E87CFF2C81}"/>
                  </a:ext>
                </a:extLst>
              </p:cNvPr>
              <p:cNvSpPr/>
              <p:nvPr/>
            </p:nvSpPr>
            <p:spPr>
              <a:xfrm>
                <a:off x="6590532" y="3046863"/>
                <a:ext cx="530166" cy="530166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63B0671A-6552-A17C-0EC2-DAC069F47565}"/>
                  </a:ext>
                </a:extLst>
              </p:cNvPr>
              <p:cNvSpPr/>
              <p:nvPr/>
            </p:nvSpPr>
            <p:spPr>
              <a:xfrm>
                <a:off x="6938525" y="5418372"/>
                <a:ext cx="471525" cy="471525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2EEE040E-3CB9-D7B4-EFBD-B8788B03E5CF}"/>
                  </a:ext>
                </a:extLst>
              </p:cNvPr>
              <p:cNvSpPr/>
              <p:nvPr/>
            </p:nvSpPr>
            <p:spPr>
              <a:xfrm>
                <a:off x="8438997" y="2707105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2C558F23-C77C-EB81-5AD1-F70D4422A3F8}"/>
                  </a:ext>
                </a:extLst>
              </p:cNvPr>
              <p:cNvSpPr/>
              <p:nvPr/>
            </p:nvSpPr>
            <p:spPr>
              <a:xfrm>
                <a:off x="7588069" y="3420232"/>
                <a:ext cx="172301" cy="172301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A21B718B-7A3C-8B3E-39F5-BDE4D303553D}"/>
                  </a:ext>
                </a:extLst>
              </p:cNvPr>
              <p:cNvSpPr/>
              <p:nvPr/>
            </p:nvSpPr>
            <p:spPr>
              <a:xfrm>
                <a:off x="7656248" y="2297282"/>
                <a:ext cx="172301" cy="172301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DF934B91-F5C1-8C72-00DD-549298D7DC9C}"/>
                  </a:ext>
                </a:extLst>
              </p:cNvPr>
              <p:cNvCxnSpPr>
                <a:cxnSpLocks/>
                <a:stCxn id="115" idx="4"/>
                <a:endCxn id="112" idx="0"/>
              </p:cNvCxnSpPr>
              <p:nvPr/>
            </p:nvCxnSpPr>
            <p:spPr>
              <a:xfrm flipH="1">
                <a:off x="6664718" y="3577029"/>
                <a:ext cx="190897" cy="4632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7A585FD8-8B30-F030-978A-1CE54340E51C}"/>
                  </a:ext>
                </a:extLst>
              </p:cNvPr>
              <p:cNvCxnSpPr>
                <a:cxnSpLocks/>
                <a:stCxn id="115" idx="5"/>
                <a:endCxn id="119" idx="2"/>
              </p:cNvCxnSpPr>
              <p:nvPr/>
            </p:nvCxnSpPr>
            <p:spPr>
              <a:xfrm>
                <a:off x="7043057" y="3499388"/>
                <a:ext cx="545012" cy="699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A3AB4CFB-FBEE-1CC3-FEED-89F689048DA8}"/>
                  </a:ext>
                </a:extLst>
              </p:cNvPr>
              <p:cNvCxnSpPr>
                <a:cxnSpLocks/>
                <a:stCxn id="120" idx="4"/>
                <a:endCxn id="119" idx="0"/>
              </p:cNvCxnSpPr>
              <p:nvPr/>
            </p:nvCxnSpPr>
            <p:spPr>
              <a:xfrm flipH="1">
                <a:off x="7674220" y="2469583"/>
                <a:ext cx="68179" cy="95064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38B0A544-1620-053F-30E8-8EA65CDA7CE9}"/>
                  </a:ext>
                </a:extLst>
              </p:cNvPr>
              <p:cNvCxnSpPr>
                <a:cxnSpLocks/>
                <a:stCxn id="117" idx="4"/>
                <a:endCxn id="114" idx="0"/>
              </p:cNvCxnSpPr>
              <p:nvPr/>
            </p:nvCxnSpPr>
            <p:spPr>
              <a:xfrm flipH="1">
                <a:off x="8411946" y="3088899"/>
                <a:ext cx="217948" cy="70036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77027EF6-EF16-98DF-201F-DBF6D37A574A}"/>
                  </a:ext>
                </a:extLst>
              </p:cNvPr>
              <p:cNvCxnSpPr>
                <a:cxnSpLocks/>
                <a:stCxn id="113" idx="7"/>
                <a:endCxn id="114" idx="2"/>
              </p:cNvCxnSpPr>
              <p:nvPr/>
            </p:nvCxnSpPr>
            <p:spPr>
              <a:xfrm flipV="1">
                <a:off x="7649581" y="3980157"/>
                <a:ext cx="571468" cy="29215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3468563F-B7F5-79A7-5375-0338FD15A49F}"/>
                  </a:ext>
                </a:extLst>
              </p:cNvPr>
              <p:cNvCxnSpPr>
                <a:cxnSpLocks/>
                <a:stCxn id="112" idx="6"/>
                <a:endCxn id="113" idx="2"/>
              </p:cNvCxnSpPr>
              <p:nvPr/>
            </p:nvCxnSpPr>
            <p:spPr>
              <a:xfrm>
                <a:off x="6855615" y="4231214"/>
                <a:ext cx="554435" cy="14031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84907CFA-84D6-7677-0787-74A9C39B9A5E}"/>
                  </a:ext>
                </a:extLst>
              </p:cNvPr>
              <p:cNvCxnSpPr>
                <a:cxnSpLocks/>
                <a:stCxn id="116" idx="0"/>
                <a:endCxn id="113" idx="4"/>
              </p:cNvCxnSpPr>
              <p:nvPr/>
            </p:nvCxnSpPr>
            <p:spPr>
              <a:xfrm flipV="1">
                <a:off x="7174288" y="4511842"/>
                <a:ext cx="376076" cy="90653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B5380AE8-5C6C-0375-9D6F-22845897FB5C}"/>
                  </a:ext>
                </a:extLst>
              </p:cNvPr>
              <p:cNvSpPr/>
              <p:nvPr/>
            </p:nvSpPr>
            <p:spPr>
              <a:xfrm>
                <a:off x="8942288" y="4272311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5D21512E-9C7F-1D48-B302-780F6A5FC9EF}"/>
                  </a:ext>
                </a:extLst>
              </p:cNvPr>
              <p:cNvSpPr/>
              <p:nvPr/>
            </p:nvSpPr>
            <p:spPr>
              <a:xfrm>
                <a:off x="5437296" y="4122667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4531F9CD-8C77-52F8-1E56-8868F09CE4D3}"/>
                  </a:ext>
                </a:extLst>
              </p:cNvPr>
              <p:cNvSpPr/>
              <p:nvPr/>
            </p:nvSpPr>
            <p:spPr>
              <a:xfrm>
                <a:off x="5167598" y="3136745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6CFBC937-3151-62C7-80F6-2325CD849C31}"/>
                  </a:ext>
                </a:extLst>
              </p:cNvPr>
              <p:cNvCxnSpPr>
                <a:cxnSpLocks/>
                <a:stCxn id="137" idx="6"/>
                <a:endCxn id="115" idx="2"/>
              </p:cNvCxnSpPr>
              <p:nvPr/>
            </p:nvCxnSpPr>
            <p:spPr>
              <a:xfrm flipV="1">
                <a:off x="5734571" y="3311946"/>
                <a:ext cx="855961" cy="10828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FA313E21-1C67-767B-BDBA-AFFDF64F99D4}"/>
                  </a:ext>
                </a:extLst>
              </p:cNvPr>
              <p:cNvCxnSpPr>
                <a:cxnSpLocks/>
                <a:stCxn id="135" idx="6"/>
                <a:endCxn id="112" idx="3"/>
              </p:cNvCxnSpPr>
              <p:nvPr/>
            </p:nvCxnSpPr>
            <p:spPr>
              <a:xfrm flipV="1">
                <a:off x="6004269" y="4366199"/>
                <a:ext cx="525464" cy="3995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6701E3D3-AC50-B119-8D38-EE14A82AFB32}"/>
                  </a:ext>
                </a:extLst>
              </p:cNvPr>
              <p:cNvCxnSpPr>
                <a:cxnSpLocks/>
                <a:stCxn id="114" idx="5"/>
                <a:endCxn id="134" idx="1"/>
              </p:cNvCxnSpPr>
              <p:nvPr/>
            </p:nvCxnSpPr>
            <p:spPr>
              <a:xfrm>
                <a:off x="8546931" y="4115142"/>
                <a:ext cx="478388" cy="240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67C095BB-9559-18F4-40C1-9ACBAF2FD7F8}"/>
                </a:ext>
              </a:extLst>
            </p:cNvPr>
            <p:cNvSpPr/>
            <p:nvPr/>
          </p:nvSpPr>
          <p:spPr>
            <a:xfrm>
              <a:off x="1179093" y="3387125"/>
              <a:ext cx="3136426" cy="27971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8F62FB7A-098D-64DD-BD7C-8AC8BFD1372F}"/>
              </a:ext>
            </a:extLst>
          </p:cNvPr>
          <p:cNvGrpSpPr/>
          <p:nvPr/>
        </p:nvGrpSpPr>
        <p:grpSpPr>
          <a:xfrm>
            <a:off x="8399463" y="1336495"/>
            <a:ext cx="3136426" cy="2797107"/>
            <a:chOff x="1179093" y="3387125"/>
            <a:chExt cx="3136426" cy="2797107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21907E5E-6EA7-3205-B1E9-D20B87067D8C}"/>
                </a:ext>
              </a:extLst>
            </p:cNvPr>
            <p:cNvGrpSpPr/>
            <p:nvPr/>
          </p:nvGrpSpPr>
          <p:grpSpPr>
            <a:xfrm>
              <a:off x="1233751" y="3483699"/>
              <a:ext cx="3005455" cy="2486938"/>
              <a:chOff x="5167598" y="2297282"/>
              <a:chExt cx="4341663" cy="3592615"/>
            </a:xfrm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63C344E3-0972-F5B8-8943-CAD5390468AE}"/>
                  </a:ext>
                </a:extLst>
              </p:cNvPr>
              <p:cNvSpPr/>
              <p:nvPr/>
            </p:nvSpPr>
            <p:spPr>
              <a:xfrm>
                <a:off x="6473821" y="4040317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DF346A64-16A1-D73F-8BD9-29F023BDB3BF}"/>
                  </a:ext>
                </a:extLst>
              </p:cNvPr>
              <p:cNvSpPr/>
              <p:nvPr/>
            </p:nvSpPr>
            <p:spPr>
              <a:xfrm>
                <a:off x="7410050" y="4231214"/>
                <a:ext cx="280628" cy="280628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3DC18556-B0E5-32C9-5C0B-2261AA488F80}"/>
                  </a:ext>
                </a:extLst>
              </p:cNvPr>
              <p:cNvSpPr/>
              <p:nvPr/>
            </p:nvSpPr>
            <p:spPr>
              <a:xfrm>
                <a:off x="8221049" y="3789260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A585DCCF-244C-26F6-97F7-413224AE1C0E}"/>
                  </a:ext>
                </a:extLst>
              </p:cNvPr>
              <p:cNvSpPr/>
              <p:nvPr/>
            </p:nvSpPr>
            <p:spPr>
              <a:xfrm>
                <a:off x="6590532" y="3046863"/>
                <a:ext cx="530166" cy="530166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7BBE6ED1-4481-4573-1C5B-721F8A4B2026}"/>
                  </a:ext>
                </a:extLst>
              </p:cNvPr>
              <p:cNvSpPr/>
              <p:nvPr/>
            </p:nvSpPr>
            <p:spPr>
              <a:xfrm>
                <a:off x="6938525" y="5418372"/>
                <a:ext cx="471525" cy="471525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336FC432-64FC-EE6A-3124-33CFA2A78460}"/>
                  </a:ext>
                </a:extLst>
              </p:cNvPr>
              <p:cNvSpPr/>
              <p:nvPr/>
            </p:nvSpPr>
            <p:spPr>
              <a:xfrm>
                <a:off x="8438997" y="2707105"/>
                <a:ext cx="381794" cy="381794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BB6CE9BA-5AE6-9764-307E-7C8DBE652DFC}"/>
                  </a:ext>
                </a:extLst>
              </p:cNvPr>
              <p:cNvSpPr/>
              <p:nvPr/>
            </p:nvSpPr>
            <p:spPr>
              <a:xfrm>
                <a:off x="7588069" y="3420232"/>
                <a:ext cx="172301" cy="172301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11C795DB-5ADA-3817-3073-4B3FFFF1B141}"/>
                  </a:ext>
                </a:extLst>
              </p:cNvPr>
              <p:cNvSpPr/>
              <p:nvPr/>
            </p:nvSpPr>
            <p:spPr>
              <a:xfrm>
                <a:off x="7656248" y="2297282"/>
                <a:ext cx="172301" cy="172301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3C0F8B38-E10F-672E-8648-E0AAA35FDFBF}"/>
                  </a:ext>
                </a:extLst>
              </p:cNvPr>
              <p:cNvCxnSpPr>
                <a:cxnSpLocks/>
                <a:stCxn id="151" idx="4"/>
                <a:endCxn id="148" idx="0"/>
              </p:cNvCxnSpPr>
              <p:nvPr/>
            </p:nvCxnSpPr>
            <p:spPr>
              <a:xfrm flipH="1">
                <a:off x="6664718" y="3577029"/>
                <a:ext cx="190897" cy="4632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3D3D311B-1801-634F-588F-7C6EBB3546E8}"/>
                  </a:ext>
                </a:extLst>
              </p:cNvPr>
              <p:cNvCxnSpPr>
                <a:cxnSpLocks/>
                <a:stCxn id="151" idx="5"/>
                <a:endCxn id="154" idx="2"/>
              </p:cNvCxnSpPr>
              <p:nvPr/>
            </p:nvCxnSpPr>
            <p:spPr>
              <a:xfrm>
                <a:off x="7043057" y="3499388"/>
                <a:ext cx="545012" cy="6995"/>
              </a:xfrm>
              <a:prstGeom prst="line">
                <a:avLst/>
              </a:prstGeom>
              <a:ln w="317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A57E7360-F69B-585A-2676-224CA9DCF763}"/>
                  </a:ext>
                </a:extLst>
              </p:cNvPr>
              <p:cNvCxnSpPr>
                <a:cxnSpLocks/>
                <a:stCxn id="155" idx="4"/>
                <a:endCxn id="154" idx="0"/>
              </p:cNvCxnSpPr>
              <p:nvPr/>
            </p:nvCxnSpPr>
            <p:spPr>
              <a:xfrm flipH="1">
                <a:off x="7674220" y="2469583"/>
                <a:ext cx="68179" cy="95064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9EA44C8C-66BE-0475-A207-E39787749887}"/>
                  </a:ext>
                </a:extLst>
              </p:cNvPr>
              <p:cNvCxnSpPr>
                <a:cxnSpLocks/>
                <a:stCxn id="153" idx="4"/>
                <a:endCxn id="150" idx="0"/>
              </p:cNvCxnSpPr>
              <p:nvPr/>
            </p:nvCxnSpPr>
            <p:spPr>
              <a:xfrm flipH="1">
                <a:off x="8411946" y="3088899"/>
                <a:ext cx="217948" cy="70036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Connector 159">
                <a:extLst>
                  <a:ext uri="{FF2B5EF4-FFF2-40B4-BE49-F238E27FC236}">
                    <a16:creationId xmlns:a16="http://schemas.microsoft.com/office/drawing/2014/main" id="{97DB8A34-3153-64B5-0AF6-8866A294F007}"/>
                  </a:ext>
                </a:extLst>
              </p:cNvPr>
              <p:cNvCxnSpPr>
                <a:cxnSpLocks/>
                <a:stCxn id="149" idx="7"/>
                <a:endCxn id="150" idx="2"/>
              </p:cNvCxnSpPr>
              <p:nvPr/>
            </p:nvCxnSpPr>
            <p:spPr>
              <a:xfrm flipV="1">
                <a:off x="7649581" y="3980157"/>
                <a:ext cx="571468" cy="29215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B5736A6F-441D-5112-7A27-99D8791F9023}"/>
                  </a:ext>
                </a:extLst>
              </p:cNvPr>
              <p:cNvCxnSpPr>
                <a:cxnSpLocks/>
                <a:stCxn id="148" idx="6"/>
                <a:endCxn id="149" idx="2"/>
              </p:cNvCxnSpPr>
              <p:nvPr/>
            </p:nvCxnSpPr>
            <p:spPr>
              <a:xfrm>
                <a:off x="6855615" y="4231214"/>
                <a:ext cx="554435" cy="14031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>
                <a:extLst>
                  <a:ext uri="{FF2B5EF4-FFF2-40B4-BE49-F238E27FC236}">
                    <a16:creationId xmlns:a16="http://schemas.microsoft.com/office/drawing/2014/main" id="{9B94DC8A-7A2D-57FA-D378-42CB7E5B92B6}"/>
                  </a:ext>
                </a:extLst>
              </p:cNvPr>
              <p:cNvCxnSpPr>
                <a:cxnSpLocks/>
                <a:stCxn id="152" idx="0"/>
                <a:endCxn id="149" idx="4"/>
              </p:cNvCxnSpPr>
              <p:nvPr/>
            </p:nvCxnSpPr>
            <p:spPr>
              <a:xfrm flipV="1">
                <a:off x="7174288" y="4511842"/>
                <a:ext cx="376076" cy="90653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53E60CC2-ABAD-9DD7-9889-F8DD52E39582}"/>
                  </a:ext>
                </a:extLst>
              </p:cNvPr>
              <p:cNvSpPr/>
              <p:nvPr/>
            </p:nvSpPr>
            <p:spPr>
              <a:xfrm>
                <a:off x="8942288" y="4272311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3EFC994-A386-1D49-2001-795ECCEA86F1}"/>
                  </a:ext>
                </a:extLst>
              </p:cNvPr>
              <p:cNvSpPr/>
              <p:nvPr/>
            </p:nvSpPr>
            <p:spPr>
              <a:xfrm>
                <a:off x="5437296" y="4122667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9D9826A-940C-8D87-057D-15681650AA9B}"/>
                  </a:ext>
                </a:extLst>
              </p:cNvPr>
              <p:cNvSpPr/>
              <p:nvPr/>
            </p:nvSpPr>
            <p:spPr>
              <a:xfrm>
                <a:off x="5167598" y="3136745"/>
                <a:ext cx="566973" cy="566973"/>
              </a:xfrm>
              <a:prstGeom prst="ellipse">
                <a:avLst/>
              </a:prstGeom>
              <a:solidFill>
                <a:srgbClr val="CA9916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6" name="Straight Connector 165">
                <a:extLst>
                  <a:ext uri="{FF2B5EF4-FFF2-40B4-BE49-F238E27FC236}">
                    <a16:creationId xmlns:a16="http://schemas.microsoft.com/office/drawing/2014/main" id="{1CDE89C8-4AF8-6345-5071-996D77A01CCE}"/>
                  </a:ext>
                </a:extLst>
              </p:cNvPr>
              <p:cNvCxnSpPr>
                <a:cxnSpLocks/>
                <a:stCxn id="165" idx="6"/>
                <a:endCxn id="151" idx="2"/>
              </p:cNvCxnSpPr>
              <p:nvPr/>
            </p:nvCxnSpPr>
            <p:spPr>
              <a:xfrm flipV="1">
                <a:off x="5734571" y="3311946"/>
                <a:ext cx="855961" cy="10828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>
                <a:extLst>
                  <a:ext uri="{FF2B5EF4-FFF2-40B4-BE49-F238E27FC236}">
                    <a16:creationId xmlns:a16="http://schemas.microsoft.com/office/drawing/2014/main" id="{B223283F-2DDB-53E3-5EA2-9BE02237EF57}"/>
                  </a:ext>
                </a:extLst>
              </p:cNvPr>
              <p:cNvCxnSpPr>
                <a:cxnSpLocks/>
                <a:stCxn id="164" idx="6"/>
                <a:endCxn id="148" idx="3"/>
              </p:cNvCxnSpPr>
              <p:nvPr/>
            </p:nvCxnSpPr>
            <p:spPr>
              <a:xfrm flipV="1">
                <a:off x="6004269" y="4366199"/>
                <a:ext cx="525464" cy="3995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>
                <a:extLst>
                  <a:ext uri="{FF2B5EF4-FFF2-40B4-BE49-F238E27FC236}">
                    <a16:creationId xmlns:a16="http://schemas.microsoft.com/office/drawing/2014/main" id="{FBD2BEE6-8090-76B1-729B-0E65BB7021FA}"/>
                  </a:ext>
                </a:extLst>
              </p:cNvPr>
              <p:cNvCxnSpPr>
                <a:cxnSpLocks/>
                <a:stCxn id="150" idx="5"/>
                <a:endCxn id="163" idx="1"/>
              </p:cNvCxnSpPr>
              <p:nvPr/>
            </p:nvCxnSpPr>
            <p:spPr>
              <a:xfrm>
                <a:off x="8546931" y="4115142"/>
                <a:ext cx="478388" cy="240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A1933272-05ED-B0F1-DA88-599ED513C25A}"/>
                </a:ext>
              </a:extLst>
            </p:cNvPr>
            <p:cNvSpPr/>
            <p:nvPr/>
          </p:nvSpPr>
          <p:spPr>
            <a:xfrm>
              <a:off x="1179093" y="3387125"/>
              <a:ext cx="3136426" cy="27971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160324EA-4685-D702-0FBD-1564972125BF}"/>
              </a:ext>
            </a:extLst>
          </p:cNvPr>
          <p:cNvGrpSpPr/>
          <p:nvPr/>
        </p:nvGrpSpPr>
        <p:grpSpPr>
          <a:xfrm>
            <a:off x="675545" y="1336495"/>
            <a:ext cx="3473403" cy="2828748"/>
            <a:chOff x="1413263" y="3393895"/>
            <a:chExt cx="3473403" cy="2828748"/>
          </a:xfrm>
        </p:grpSpPr>
        <p:pic>
          <p:nvPicPr>
            <p:cNvPr id="172" name="Picture 171">
              <a:extLst>
                <a:ext uri="{FF2B5EF4-FFF2-40B4-BE49-F238E27FC236}">
                  <a16:creationId xmlns:a16="http://schemas.microsoft.com/office/drawing/2014/main" id="{54E1C83F-2912-08A3-2A51-08E2991D7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9015" y="3435770"/>
              <a:ext cx="3217651" cy="2786873"/>
            </a:xfrm>
            <a:prstGeom prst="rect">
              <a:avLst/>
            </a:prstGeom>
          </p:spPr>
        </p:pic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39FCD813-D48D-6AB1-2593-EEB35DC122D1}"/>
                </a:ext>
              </a:extLst>
            </p:cNvPr>
            <p:cNvSpPr/>
            <p:nvPr/>
          </p:nvSpPr>
          <p:spPr>
            <a:xfrm>
              <a:off x="1413263" y="3393895"/>
              <a:ext cx="3136426" cy="279710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26827616-18E1-58FC-740B-597F40BD0FEE}"/>
              </a:ext>
            </a:extLst>
          </p:cNvPr>
          <p:cNvSpPr txBox="1"/>
          <p:nvPr/>
        </p:nvSpPr>
        <p:spPr>
          <a:xfrm>
            <a:off x="3777098" y="2318956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PNM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06D7AB02-F688-D02F-F087-285A54D9E740}"/>
              </a:ext>
            </a:extLst>
          </p:cNvPr>
          <p:cNvCxnSpPr>
            <a:cxnSpLocks/>
            <a:stCxn id="171" idx="3"/>
            <a:endCxn id="110" idx="1"/>
          </p:cNvCxnSpPr>
          <p:nvPr/>
        </p:nvCxnSpPr>
        <p:spPr>
          <a:xfrm>
            <a:off x="3811971" y="2735049"/>
            <a:ext cx="7255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C2F3658E-97B4-ECFF-09B5-FF8A2F669BB8}"/>
              </a:ext>
            </a:extLst>
          </p:cNvPr>
          <p:cNvCxnSpPr>
            <a:cxnSpLocks/>
          </p:cNvCxnSpPr>
          <p:nvPr/>
        </p:nvCxnSpPr>
        <p:spPr>
          <a:xfrm>
            <a:off x="7673930" y="2725275"/>
            <a:ext cx="72553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TextBox 205">
            <a:extLst>
              <a:ext uri="{FF2B5EF4-FFF2-40B4-BE49-F238E27FC236}">
                <a16:creationId xmlns:a16="http://schemas.microsoft.com/office/drawing/2014/main" id="{A629B482-E48E-64E4-4883-76BFF0287F44}"/>
              </a:ext>
            </a:extLst>
          </p:cNvPr>
          <p:cNvSpPr txBox="1"/>
          <p:nvPr/>
        </p:nvSpPr>
        <p:spPr>
          <a:xfrm>
            <a:off x="5061101" y="884297"/>
            <a:ext cx="20697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FangSong_GB2312" panose="02010609030101010101" pitchFamily="49" charset="-122"/>
                <a:ea typeface="FangSong_GB2312" panose="02010609030101010101" pitchFamily="49" charset="-122"/>
              </a:rPr>
              <a:t>孔隙拓扑映射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60629833-BA06-94AC-A42B-E86A7E3AD867}"/>
              </a:ext>
            </a:extLst>
          </p:cNvPr>
          <p:cNvSpPr txBox="1"/>
          <p:nvPr/>
        </p:nvSpPr>
        <p:spPr>
          <a:xfrm>
            <a:off x="9589518" y="893068"/>
            <a:ext cx="1293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提取</a:t>
            </a:r>
            <a:r>
              <a:rPr lang="en-US" altLang="zh-CN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GNN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B23075AC-3FE3-DD12-AA62-CD24C8D8BCD9}"/>
              </a:ext>
            </a:extLst>
          </p:cNvPr>
          <p:cNvSpPr txBox="1"/>
          <p:nvPr/>
        </p:nvSpPr>
        <p:spPr>
          <a:xfrm>
            <a:off x="1144664" y="89361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latin typeface="FangSong_GB2312" panose="02010609030101010101" pitchFamily="49" charset="-122"/>
                <a:ea typeface="FangSong_GB2312" panose="02010609030101010101" pitchFamily="49" charset="-122"/>
              </a:rPr>
              <a:t>粗糙元</a:t>
            </a:r>
            <a:r>
              <a:rPr lang="zh-CN" altLang="en-US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（</a:t>
            </a:r>
            <a:r>
              <a:rPr lang="en-US" sz="2400" b="1" dirty="0" err="1">
                <a:latin typeface="FangSong_GB2312" panose="02010609030101010101" pitchFamily="49" charset="-122"/>
                <a:ea typeface="FangSong_GB2312" panose="02010609030101010101" pitchFamily="49" charset="-122"/>
              </a:rPr>
              <a:t>俯视</a:t>
            </a:r>
            <a:r>
              <a:rPr lang="zh-CN" altLang="en-US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）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A9504932-A6E9-81BB-F100-637B2A086C73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9967676" y="4133602"/>
            <a:ext cx="0" cy="69747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F5D19CC-63E3-EA36-B23E-120215CF5A54}"/>
              </a:ext>
            </a:extLst>
          </p:cNvPr>
          <p:cNvSpPr/>
          <p:nvPr/>
        </p:nvSpPr>
        <p:spPr>
          <a:xfrm>
            <a:off x="8372806" y="4831081"/>
            <a:ext cx="3136426" cy="133265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6C4534C0-D941-FDF3-F1D4-DF29B002CF14}"/>
              </a:ext>
            </a:extLst>
          </p:cNvPr>
          <p:cNvSpPr/>
          <p:nvPr/>
        </p:nvSpPr>
        <p:spPr>
          <a:xfrm>
            <a:off x="8693959" y="5112881"/>
            <a:ext cx="1042416" cy="349983"/>
          </a:xfrm>
          <a:prstGeom prst="roundRect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训练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8F31583B-E7C5-6FC1-64EC-7B140C8E846C}"/>
              </a:ext>
            </a:extLst>
          </p:cNvPr>
          <p:cNvSpPr/>
          <p:nvPr/>
        </p:nvSpPr>
        <p:spPr>
          <a:xfrm>
            <a:off x="10152973" y="5112881"/>
            <a:ext cx="1042416" cy="349983"/>
          </a:xfrm>
          <a:prstGeom prst="roundRect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测试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06DF6B10-9E46-D31F-7AFC-0501D5679F61}"/>
              </a:ext>
            </a:extLst>
          </p:cNvPr>
          <p:cNvSpPr/>
          <p:nvPr/>
        </p:nvSpPr>
        <p:spPr>
          <a:xfrm>
            <a:off x="8709964" y="5654591"/>
            <a:ext cx="2485425" cy="349983"/>
          </a:xfrm>
          <a:prstGeom prst="roundRect">
            <a:avLst>
              <a:gd name="adj" fmla="val 0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节点</a:t>
            </a:r>
            <a:r>
              <a:rPr lang="en-US" altLang="zh-CN" b="1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边参数优化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9B0173B6-4DB3-7861-1D1F-7540F0A4C83C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6524368" y="5462864"/>
            <a:ext cx="434480" cy="3454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Rectangle 221">
            <a:extLst>
              <a:ext uri="{FF2B5EF4-FFF2-40B4-BE49-F238E27FC236}">
                <a16:creationId xmlns:a16="http://schemas.microsoft.com/office/drawing/2014/main" id="{2A02DD20-73FE-D9B1-D437-DE7FD05A6E75}"/>
              </a:ext>
            </a:extLst>
          </p:cNvPr>
          <p:cNvSpPr/>
          <p:nvPr/>
        </p:nvSpPr>
        <p:spPr>
          <a:xfrm>
            <a:off x="689752" y="4831080"/>
            <a:ext cx="4294889" cy="1332652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62C6542-7753-53CC-2B4F-88F2BF375515}"/>
                  </a:ext>
                </a:extLst>
              </p:cNvPr>
              <p:cNvSpPr txBox="1"/>
              <p:nvPr/>
            </p:nvSpPr>
            <p:spPr>
              <a:xfrm>
                <a:off x="3700580" y="5028658"/>
                <a:ext cx="11746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,⋯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B62C6542-7753-53CC-2B4F-88F2BF375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580" y="5028658"/>
                <a:ext cx="1174681" cy="276999"/>
              </a:xfrm>
              <a:prstGeom prst="rect">
                <a:avLst/>
              </a:prstGeom>
              <a:blipFill>
                <a:blip r:embed="rId4"/>
                <a:stretch>
                  <a:fillRect l="-2591" r="-103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Freeform 230">
            <a:extLst>
              <a:ext uri="{FF2B5EF4-FFF2-40B4-BE49-F238E27FC236}">
                <a16:creationId xmlns:a16="http://schemas.microsoft.com/office/drawing/2014/main" id="{3C01805D-66C6-8217-E5AE-5DB38E88C0F6}"/>
              </a:ext>
            </a:extLst>
          </p:cNvPr>
          <p:cNvSpPr/>
          <p:nvPr/>
        </p:nvSpPr>
        <p:spPr>
          <a:xfrm>
            <a:off x="3207992" y="5358278"/>
            <a:ext cx="1224367" cy="252108"/>
          </a:xfrm>
          <a:custGeom>
            <a:avLst/>
            <a:gdLst>
              <a:gd name="connsiteX0" fmla="*/ 1224367 w 1224367"/>
              <a:gd name="connsiteY0" fmla="*/ 11885 h 252108"/>
              <a:gd name="connsiteX1" fmla="*/ 751668 w 1224367"/>
              <a:gd name="connsiteY1" fmla="*/ 27383 h 252108"/>
              <a:gd name="connsiteX2" fmla="*/ 0 w 1224367"/>
              <a:gd name="connsiteY2" fmla="*/ 252108 h 252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4367" h="252108">
                <a:moveTo>
                  <a:pt x="1224367" y="11885"/>
                </a:moveTo>
                <a:cubicBezTo>
                  <a:pt x="1090048" y="-385"/>
                  <a:pt x="955729" y="-12654"/>
                  <a:pt x="751668" y="27383"/>
                </a:cubicBezTo>
                <a:cubicBezTo>
                  <a:pt x="547607" y="67420"/>
                  <a:pt x="116237" y="209488"/>
                  <a:pt x="0" y="252108"/>
                </a:cubicBezTo>
              </a:path>
            </a:pathLst>
          </a:custGeom>
          <a:noFill/>
          <a:ln w="22225"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2" name="Right Arrow 231">
            <a:extLst>
              <a:ext uri="{FF2B5EF4-FFF2-40B4-BE49-F238E27FC236}">
                <a16:creationId xmlns:a16="http://schemas.microsoft.com/office/drawing/2014/main" id="{CFA9D0D2-8520-E132-9F0D-A3E0F5DD7173}"/>
              </a:ext>
            </a:extLst>
          </p:cNvPr>
          <p:cNvSpPr/>
          <p:nvPr/>
        </p:nvSpPr>
        <p:spPr>
          <a:xfrm>
            <a:off x="1484583" y="5358278"/>
            <a:ext cx="685399" cy="243007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C666D8DF-1E4C-387F-A0D9-08A435E32506}"/>
              </a:ext>
            </a:extLst>
          </p:cNvPr>
          <p:cNvSpPr txBox="1"/>
          <p:nvPr/>
        </p:nvSpPr>
        <p:spPr>
          <a:xfrm>
            <a:off x="1513996" y="500570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流动</a:t>
            </a:r>
            <a:endParaRPr lang="en-US" dirty="0"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438BF95-CD2D-1C49-8D8A-90F3B791BF02}"/>
                  </a:ext>
                </a:extLst>
              </p:cNvPr>
              <p:cNvSpPr/>
              <p:nvPr/>
            </p:nvSpPr>
            <p:spPr>
              <a:xfrm>
                <a:off x="6958848" y="5322414"/>
                <a:ext cx="1042416" cy="349983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acc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b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2438BF95-CD2D-1C49-8D8A-90F3B791BF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848" y="5322414"/>
                <a:ext cx="1042416" cy="349983"/>
              </a:xfrm>
              <a:prstGeom prst="roundRect">
                <a:avLst>
                  <a:gd name="adj" fmla="val 0"/>
                </a:avLst>
              </a:prstGeom>
              <a:blipFill>
                <a:blip r:embed="rId5"/>
                <a:stretch>
                  <a:fillRect t="-8333" b="-1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A3546F6-926E-2A7F-F99B-0DE3A3AB7A47}"/>
              </a:ext>
            </a:extLst>
          </p:cNvPr>
          <p:cNvCxnSpPr>
            <a:cxnSpLocks/>
            <a:stCxn id="214" idx="1"/>
            <a:endCxn id="5" idx="3"/>
          </p:cNvCxnSpPr>
          <p:nvPr/>
        </p:nvCxnSpPr>
        <p:spPr>
          <a:xfrm flipH="1" flipV="1">
            <a:off x="8001264" y="5497406"/>
            <a:ext cx="371542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002D450-804C-ACF0-8214-3EE33C91D352}"/>
              </a:ext>
            </a:extLst>
          </p:cNvPr>
          <p:cNvSpPr txBox="1"/>
          <p:nvPr/>
        </p:nvSpPr>
        <p:spPr>
          <a:xfrm>
            <a:off x="6085906" y="5074824"/>
            <a:ext cx="665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ADE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66AFD9-5E30-B2CF-1684-879EDDC422AD}"/>
              </a:ext>
            </a:extLst>
          </p:cNvPr>
          <p:cNvSpPr txBox="1"/>
          <p:nvPr/>
        </p:nvSpPr>
        <p:spPr>
          <a:xfrm>
            <a:off x="6632744" y="4812350"/>
            <a:ext cx="14414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FangSong_GB2312" panose="02010609030101010101" pitchFamily="49" charset="-122"/>
                <a:ea typeface="FangSong_GB2312" panose="02010609030101010101" pitchFamily="49" charset="-122"/>
              </a:rPr>
              <a:t>阻抗模型</a:t>
            </a:r>
            <a:endParaRPr lang="en-US" sz="2400" b="1" dirty="0">
              <a:latin typeface="FangSong_GB2312" panose="02010609030101010101" pitchFamily="49" charset="-122"/>
              <a:ea typeface="FangSong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2678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3846F-D543-0575-C82E-3F10CBDE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组合 207">
            <a:extLst>
              <a:ext uri="{FF2B5EF4-FFF2-40B4-BE49-F238E27FC236}">
                <a16:creationId xmlns:a16="http://schemas.microsoft.com/office/drawing/2014/main" id="{BBC9EE0F-EE61-48BA-2BDC-2A5FB8874ECE}"/>
              </a:ext>
            </a:extLst>
          </p:cNvPr>
          <p:cNvGrpSpPr/>
          <p:nvPr/>
        </p:nvGrpSpPr>
        <p:grpSpPr>
          <a:xfrm>
            <a:off x="273785" y="1385845"/>
            <a:ext cx="11468399" cy="3585298"/>
            <a:chOff x="273785" y="1385845"/>
            <a:chExt cx="11468399" cy="3585298"/>
          </a:xfrm>
        </p:grpSpPr>
        <p:sp>
          <p:nvSpPr>
            <p:cNvPr id="145" name="Rounded Rectangle 144">
              <a:extLst>
                <a:ext uri="{FF2B5EF4-FFF2-40B4-BE49-F238E27FC236}">
                  <a16:creationId xmlns:a16="http://schemas.microsoft.com/office/drawing/2014/main" id="{D3ACC14A-C0F5-435F-4390-E6B859018D47}"/>
                </a:ext>
              </a:extLst>
            </p:cNvPr>
            <p:cNvSpPr/>
            <p:nvPr/>
          </p:nvSpPr>
          <p:spPr>
            <a:xfrm>
              <a:off x="273785" y="1392057"/>
              <a:ext cx="426551" cy="357908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60000"/>
                <a:lumOff val="40000"/>
              </a:schemeClr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各向异性粗糙元图网络</a:t>
              </a:r>
              <a:endParaRPr lang="en-US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6" name="Rounded Rectangle 145">
              <a:extLst>
                <a:ext uri="{FF2B5EF4-FFF2-40B4-BE49-F238E27FC236}">
                  <a16:creationId xmlns:a16="http://schemas.microsoft.com/office/drawing/2014/main" id="{495231AC-2BDA-D6E5-0ACB-A5BB6961E41B}"/>
                </a:ext>
              </a:extLst>
            </p:cNvPr>
            <p:cNvSpPr/>
            <p:nvPr/>
          </p:nvSpPr>
          <p:spPr>
            <a:xfrm>
              <a:off x="700453" y="1392057"/>
              <a:ext cx="2843936" cy="3579086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  <p:sp>
          <p:nvSpPr>
            <p:cNvPr id="335" name="Arrow: Down 334">
              <a:extLst>
                <a:ext uri="{FF2B5EF4-FFF2-40B4-BE49-F238E27FC236}">
                  <a16:creationId xmlns:a16="http://schemas.microsoft.com/office/drawing/2014/main" id="{3EAE2ADD-62A1-CCDD-1A14-066DDF9AB8A2}"/>
                </a:ext>
              </a:extLst>
            </p:cNvPr>
            <p:cNvSpPr/>
            <p:nvPr/>
          </p:nvSpPr>
          <p:spPr>
            <a:xfrm rot="16200000">
              <a:off x="3589500" y="3041666"/>
              <a:ext cx="484632" cy="358427"/>
            </a:xfrm>
            <a:prstGeom prst="downArrow">
              <a:avLst>
                <a:gd name="adj1" fmla="val 50000"/>
                <a:gd name="adj2" fmla="val 5307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71" name="Straight Arrow Connector 370">
              <a:extLst>
                <a:ext uri="{FF2B5EF4-FFF2-40B4-BE49-F238E27FC236}">
                  <a16:creationId xmlns:a16="http://schemas.microsoft.com/office/drawing/2014/main" id="{01A49830-B36B-9A64-3FD9-FE12D23E7480}"/>
                </a:ext>
              </a:extLst>
            </p:cNvPr>
            <p:cNvCxnSpPr>
              <a:cxnSpLocks/>
              <a:stCxn id="250" idx="2"/>
              <a:endCxn id="202" idx="0"/>
            </p:cNvCxnSpPr>
            <p:nvPr/>
          </p:nvCxnSpPr>
          <p:spPr>
            <a:xfrm>
              <a:off x="2129485" y="2760761"/>
              <a:ext cx="0" cy="26226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14D017FA-AC8E-60A9-F965-BEE8C06DDCF5}"/>
                </a:ext>
              </a:extLst>
            </p:cNvPr>
            <p:cNvGrpSpPr/>
            <p:nvPr/>
          </p:nvGrpSpPr>
          <p:grpSpPr>
            <a:xfrm>
              <a:off x="981151" y="1614163"/>
              <a:ext cx="2299493" cy="3202122"/>
              <a:chOff x="1218905" y="1619327"/>
              <a:chExt cx="2299493" cy="3202122"/>
            </a:xfrm>
          </p:grpSpPr>
          <p:sp>
            <p:nvSpPr>
              <p:cNvPr id="202" name="Rounded Rectangle 201">
                <a:extLst>
                  <a:ext uri="{FF2B5EF4-FFF2-40B4-BE49-F238E27FC236}">
                    <a16:creationId xmlns:a16="http://schemas.microsoft.com/office/drawing/2014/main" id="{96D9C5AC-2B10-944A-B545-BA4B08E54534}"/>
                  </a:ext>
                </a:extLst>
              </p:cNvPr>
              <p:cNvSpPr/>
              <p:nvPr/>
            </p:nvSpPr>
            <p:spPr>
              <a:xfrm>
                <a:off x="1218906" y="3028194"/>
                <a:ext cx="2296665" cy="440166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孔隙</a:t>
                </a:r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网络建模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Rounded Rectangle 20">
                <a:extLst>
                  <a:ext uri="{FF2B5EF4-FFF2-40B4-BE49-F238E27FC236}">
                    <a16:creationId xmlns:a16="http://schemas.microsoft.com/office/drawing/2014/main" id="{02C62E7A-A7D2-CC53-98CA-74B6B700FBCA}"/>
                  </a:ext>
                </a:extLst>
              </p:cNvPr>
              <p:cNvSpPr/>
              <p:nvPr/>
            </p:nvSpPr>
            <p:spPr>
              <a:xfrm>
                <a:off x="1218906" y="3752280"/>
                <a:ext cx="2296665" cy="399434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构建</a:t>
                </a:r>
                <a:r>
                  <a:rPr 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图神经网络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0" name="Rounded Rectangle 201">
                <a:extLst>
                  <a:ext uri="{FF2B5EF4-FFF2-40B4-BE49-F238E27FC236}">
                    <a16:creationId xmlns:a16="http://schemas.microsoft.com/office/drawing/2014/main" id="{8164C27C-C6BE-4942-FB9B-6A33A3113303}"/>
                  </a:ext>
                </a:extLst>
              </p:cNvPr>
              <p:cNvSpPr/>
              <p:nvPr/>
            </p:nvSpPr>
            <p:spPr>
              <a:xfrm>
                <a:off x="1218906" y="2346125"/>
                <a:ext cx="2296665" cy="419800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流动</a:t>
                </a:r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数据生成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53" name="Straight Arrow Connector 252">
                <a:extLst>
                  <a:ext uri="{FF2B5EF4-FFF2-40B4-BE49-F238E27FC236}">
                    <a16:creationId xmlns:a16="http://schemas.microsoft.com/office/drawing/2014/main" id="{5F0409D4-67F7-764A-DF92-B344405403AA}"/>
                  </a:ext>
                </a:extLst>
              </p:cNvPr>
              <p:cNvCxnSpPr>
                <a:cxnSpLocks/>
                <a:stCxn id="354" idx="2"/>
                <a:endCxn id="250" idx="0"/>
              </p:cNvCxnSpPr>
              <p:nvPr/>
            </p:nvCxnSpPr>
            <p:spPr>
              <a:xfrm flipH="1">
                <a:off x="2367239" y="2059493"/>
                <a:ext cx="2826" cy="286632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4" name="Rounded Rectangle 201">
                <a:extLst>
                  <a:ext uri="{FF2B5EF4-FFF2-40B4-BE49-F238E27FC236}">
                    <a16:creationId xmlns:a16="http://schemas.microsoft.com/office/drawing/2014/main" id="{B530476F-C774-B187-0C95-4D53EBE706A4}"/>
                  </a:ext>
                </a:extLst>
              </p:cNvPr>
              <p:cNvSpPr/>
              <p:nvPr/>
            </p:nvSpPr>
            <p:spPr>
              <a:xfrm>
                <a:off x="1221731" y="1619327"/>
                <a:ext cx="2296667" cy="440166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生成各向异性粗糙壁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75" name="Straight Arrow Connector 374">
                <a:extLst>
                  <a:ext uri="{FF2B5EF4-FFF2-40B4-BE49-F238E27FC236}">
                    <a16:creationId xmlns:a16="http://schemas.microsoft.com/office/drawing/2014/main" id="{0A25D236-180F-A07A-168E-177A5AABC222}"/>
                  </a:ext>
                </a:extLst>
              </p:cNvPr>
              <p:cNvCxnSpPr>
                <a:cxnSpLocks/>
                <a:stCxn id="202" idx="2"/>
                <a:endCxn id="21" idx="0"/>
              </p:cNvCxnSpPr>
              <p:nvPr/>
            </p:nvCxnSpPr>
            <p:spPr>
              <a:xfrm>
                <a:off x="2367239" y="3468360"/>
                <a:ext cx="0" cy="28392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Rounded Rectangle 20">
                <a:extLst>
                  <a:ext uri="{FF2B5EF4-FFF2-40B4-BE49-F238E27FC236}">
                    <a16:creationId xmlns:a16="http://schemas.microsoft.com/office/drawing/2014/main" id="{252854C2-C063-AE73-31D9-3B2E95DCBBEF}"/>
                  </a:ext>
                </a:extLst>
              </p:cNvPr>
              <p:cNvSpPr/>
              <p:nvPr/>
            </p:nvSpPr>
            <p:spPr>
              <a:xfrm>
                <a:off x="1218905" y="4422015"/>
                <a:ext cx="2296666" cy="399434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验证并</a:t>
                </a:r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优化网络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Straight Arrow Connector 374">
                <a:extLst>
                  <a:ext uri="{FF2B5EF4-FFF2-40B4-BE49-F238E27FC236}">
                    <a16:creationId xmlns:a16="http://schemas.microsoft.com/office/drawing/2014/main" id="{E9733A31-4B87-018A-92DE-C5BD7146F2AF}"/>
                  </a:ext>
                </a:extLst>
              </p:cNvPr>
              <p:cNvCxnSpPr>
                <a:cxnSpLocks/>
                <a:stCxn id="21" idx="2"/>
                <a:endCxn id="6" idx="0"/>
              </p:cNvCxnSpPr>
              <p:nvPr/>
            </p:nvCxnSpPr>
            <p:spPr>
              <a:xfrm flipH="1">
                <a:off x="2367238" y="4151714"/>
                <a:ext cx="1" cy="27030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组合 191">
              <a:extLst>
                <a:ext uri="{FF2B5EF4-FFF2-40B4-BE49-F238E27FC236}">
                  <a16:creationId xmlns:a16="http://schemas.microsoft.com/office/drawing/2014/main" id="{E1E04195-973F-7354-6899-7F4C24254C2C}"/>
                </a:ext>
              </a:extLst>
            </p:cNvPr>
            <p:cNvGrpSpPr/>
            <p:nvPr/>
          </p:nvGrpSpPr>
          <p:grpSpPr>
            <a:xfrm>
              <a:off x="4119243" y="1392058"/>
              <a:ext cx="3520056" cy="3579085"/>
              <a:chOff x="4119243" y="1392058"/>
              <a:chExt cx="3520056" cy="3579085"/>
            </a:xfrm>
          </p:grpSpPr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0BC59EA9-D96B-5DA0-42F4-DC89CF9739EE}"/>
                  </a:ext>
                </a:extLst>
              </p:cNvPr>
              <p:cNvGrpSpPr/>
              <p:nvPr/>
            </p:nvGrpSpPr>
            <p:grpSpPr>
              <a:xfrm>
                <a:off x="4119243" y="1392058"/>
                <a:ext cx="3520056" cy="3579085"/>
                <a:chOff x="5424950" y="596560"/>
                <a:chExt cx="3520056" cy="3159090"/>
              </a:xfrm>
            </p:grpSpPr>
            <p:sp>
              <p:nvSpPr>
                <p:cNvPr id="154" name="Rounded Rectangle 153">
                  <a:extLst>
                    <a:ext uri="{FF2B5EF4-FFF2-40B4-BE49-F238E27FC236}">
                      <a16:creationId xmlns:a16="http://schemas.microsoft.com/office/drawing/2014/main" id="{C4BF0034-AF66-6EFB-75AC-E44FE23A0008}"/>
                    </a:ext>
                  </a:extLst>
                </p:cNvPr>
                <p:cNvSpPr/>
                <p:nvPr/>
              </p:nvSpPr>
              <p:spPr>
                <a:xfrm>
                  <a:off x="6104187" y="782468"/>
                  <a:ext cx="2569342" cy="38851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定义节点空间可变阻抗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Rounded Rectangle 156">
                  <a:extLst>
                    <a:ext uri="{FF2B5EF4-FFF2-40B4-BE49-F238E27FC236}">
                      <a16:creationId xmlns:a16="http://schemas.microsoft.com/office/drawing/2014/main" id="{27B13557-DB55-1248-9079-2ECCA1A94873}"/>
                    </a:ext>
                  </a:extLst>
                </p:cNvPr>
                <p:cNvSpPr/>
                <p:nvPr/>
              </p:nvSpPr>
              <p:spPr>
                <a:xfrm>
                  <a:off x="6104187" y="1417835"/>
                  <a:ext cx="2569341" cy="36836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粗糙壁图网络特征提取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2" name="Rounded Rectangle 161">
                  <a:extLst>
                    <a:ext uri="{FF2B5EF4-FFF2-40B4-BE49-F238E27FC236}">
                      <a16:creationId xmlns:a16="http://schemas.microsoft.com/office/drawing/2014/main" id="{F3A53E2C-999D-E20F-AE48-CE0FFC63410C}"/>
                    </a:ext>
                  </a:extLst>
                </p:cNvPr>
                <p:cNvSpPr/>
                <p:nvPr/>
              </p:nvSpPr>
              <p:spPr>
                <a:xfrm>
                  <a:off x="5424950" y="596560"/>
                  <a:ext cx="426551" cy="3153606"/>
                </a:xfrm>
                <a:prstGeom prst="roundRect">
                  <a:avLst>
                    <a:gd name="adj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基于生成式</a:t>
                  </a:r>
                  <a:r>
                    <a:rPr lang="en-US" altLang="zh-CN" b="1" dirty="0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AI</a:t>
                  </a:r>
                  <a:r>
                    <a:rPr lang="zh-CN" altLang="en-US" b="1" dirty="0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的阻抗模型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3" name="Rounded Rectangle 162">
                  <a:extLst>
                    <a:ext uri="{FF2B5EF4-FFF2-40B4-BE49-F238E27FC236}">
                      <a16:creationId xmlns:a16="http://schemas.microsoft.com/office/drawing/2014/main" id="{07F9CBC4-770D-AD5E-8487-6A03A8BB69F8}"/>
                    </a:ext>
                  </a:extLst>
                </p:cNvPr>
                <p:cNvSpPr/>
                <p:nvPr/>
              </p:nvSpPr>
              <p:spPr>
                <a:xfrm>
                  <a:off x="5432925" y="596560"/>
                  <a:ext cx="3512081" cy="3159090"/>
                </a:xfrm>
                <a:prstGeom prst="roundRect">
                  <a:avLst>
                    <a:gd name="adj" fmla="val 0"/>
                  </a:avLst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iti SC Medium" pitchFamily="2" charset="-128"/>
                    <a:ea typeface="Heiti SC Medium" pitchFamily="2" charset="-128"/>
                  </a:endParaRPr>
                </a:p>
              </p:txBody>
            </p:sp>
            <p:cxnSp>
              <p:nvCxnSpPr>
                <p:cNvPr id="282" name="Straight Arrow Connector 281">
                  <a:extLst>
                    <a:ext uri="{FF2B5EF4-FFF2-40B4-BE49-F238E27FC236}">
                      <a16:creationId xmlns:a16="http://schemas.microsoft.com/office/drawing/2014/main" id="{A2DEBCBA-A062-9D6A-2302-E44942968A72}"/>
                    </a:ext>
                  </a:extLst>
                </p:cNvPr>
                <p:cNvCxnSpPr>
                  <a:cxnSpLocks/>
                  <a:stCxn id="154" idx="2"/>
                  <a:endCxn id="157" idx="0"/>
                </p:cNvCxnSpPr>
                <p:nvPr/>
              </p:nvCxnSpPr>
              <p:spPr>
                <a:xfrm>
                  <a:off x="7388858" y="1170982"/>
                  <a:ext cx="0" cy="24685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" name="Rounded Rectangle 3">
                  <a:extLst>
                    <a:ext uri="{FF2B5EF4-FFF2-40B4-BE49-F238E27FC236}">
                      <a16:creationId xmlns:a16="http://schemas.microsoft.com/office/drawing/2014/main" id="{E57BB321-E204-90DC-5C1B-EDE634421EF9}"/>
                    </a:ext>
                  </a:extLst>
                </p:cNvPr>
                <p:cNvSpPr/>
                <p:nvPr/>
              </p:nvSpPr>
              <p:spPr>
                <a:xfrm>
                  <a:off x="6104187" y="2007144"/>
                  <a:ext cx="2569341" cy="38851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生成式</a:t>
                  </a:r>
                  <a:r>
                    <a:rPr lang="en-US" altLang="zh-CN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AI</a:t>
                  </a:r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框架搭建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3" name="Straight Arrow Connector 22">
                  <a:extLst>
                    <a:ext uri="{FF2B5EF4-FFF2-40B4-BE49-F238E27FC236}">
                      <a16:creationId xmlns:a16="http://schemas.microsoft.com/office/drawing/2014/main" id="{B7DAAA3C-7E33-12BD-28C2-BF107BEA4509}"/>
                    </a:ext>
                  </a:extLst>
                </p:cNvPr>
                <p:cNvCxnSpPr>
                  <a:cxnSpLocks/>
                  <a:stCxn id="157" idx="2"/>
                  <a:endCxn id="4" idx="0"/>
                </p:cNvCxnSpPr>
                <p:nvPr/>
              </p:nvCxnSpPr>
              <p:spPr>
                <a:xfrm>
                  <a:off x="7388858" y="1786197"/>
                  <a:ext cx="0" cy="220947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Rounded Rectangle 156">
                  <a:extLst>
                    <a:ext uri="{FF2B5EF4-FFF2-40B4-BE49-F238E27FC236}">
                      <a16:creationId xmlns:a16="http://schemas.microsoft.com/office/drawing/2014/main" id="{53354723-2D9E-8C78-3977-81A4D7B32A33}"/>
                    </a:ext>
                  </a:extLst>
                </p:cNvPr>
                <p:cNvSpPr/>
                <p:nvPr/>
              </p:nvSpPr>
              <p:spPr>
                <a:xfrm>
                  <a:off x="6104186" y="2647040"/>
                  <a:ext cx="2569341" cy="34929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广义阻抗构建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54" name="Straight Arrow Connector 53">
                  <a:extLst>
                    <a:ext uri="{FF2B5EF4-FFF2-40B4-BE49-F238E27FC236}">
                      <a16:creationId xmlns:a16="http://schemas.microsoft.com/office/drawing/2014/main" id="{ED2D19B0-0669-4562-BBF1-16C63771A40C}"/>
                    </a:ext>
                  </a:extLst>
                </p:cNvPr>
                <p:cNvCxnSpPr>
                  <a:cxnSpLocks/>
                  <a:stCxn id="4" idx="2"/>
                  <a:endCxn id="51" idx="0"/>
                </p:cNvCxnSpPr>
                <p:nvPr/>
              </p:nvCxnSpPr>
              <p:spPr>
                <a:xfrm flipH="1">
                  <a:off x="7388857" y="2395657"/>
                  <a:ext cx="1" cy="25138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8" name="Rounded Rectangle 156">
                <a:extLst>
                  <a:ext uri="{FF2B5EF4-FFF2-40B4-BE49-F238E27FC236}">
                    <a16:creationId xmlns:a16="http://schemas.microsoft.com/office/drawing/2014/main" id="{264204C7-668F-79C4-2725-6EE644140345}"/>
                  </a:ext>
                </a:extLst>
              </p:cNvPr>
              <p:cNvSpPr/>
              <p:nvPr/>
            </p:nvSpPr>
            <p:spPr>
              <a:xfrm>
                <a:off x="4798479" y="4419419"/>
                <a:ext cx="2569341" cy="395734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验证</a:t>
                </a:r>
                <a:r>
                  <a:rPr lang="en-US" altLang="zh-CN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优化模型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60" name="Straight Arrow Connector 53">
                <a:extLst>
                  <a:ext uri="{FF2B5EF4-FFF2-40B4-BE49-F238E27FC236}">
                    <a16:creationId xmlns:a16="http://schemas.microsoft.com/office/drawing/2014/main" id="{AA3A6BC3-F48B-BC16-A2A5-B2F0A6A90847}"/>
                  </a:ext>
                </a:extLst>
              </p:cNvPr>
              <p:cNvCxnSpPr>
                <a:cxnSpLocks/>
                <a:stCxn id="51" idx="2"/>
                <a:endCxn id="58" idx="0"/>
              </p:cNvCxnSpPr>
              <p:nvPr/>
            </p:nvCxnSpPr>
            <p:spPr>
              <a:xfrm>
                <a:off x="6083150" y="4110879"/>
                <a:ext cx="0" cy="30854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3" name="组合 192">
              <a:extLst>
                <a:ext uri="{FF2B5EF4-FFF2-40B4-BE49-F238E27FC236}">
                  <a16:creationId xmlns:a16="http://schemas.microsoft.com/office/drawing/2014/main" id="{AB35A48F-A9FC-85C7-BE4B-884C403A8FBE}"/>
                </a:ext>
              </a:extLst>
            </p:cNvPr>
            <p:cNvGrpSpPr/>
            <p:nvPr/>
          </p:nvGrpSpPr>
          <p:grpSpPr>
            <a:xfrm>
              <a:off x="8222128" y="1385845"/>
              <a:ext cx="3520056" cy="3579085"/>
              <a:chOff x="4119243" y="1392058"/>
              <a:chExt cx="3520056" cy="3579085"/>
            </a:xfrm>
          </p:grpSpPr>
          <p:grpSp>
            <p:nvGrpSpPr>
              <p:cNvPr id="194" name="Group 332">
                <a:extLst>
                  <a:ext uri="{FF2B5EF4-FFF2-40B4-BE49-F238E27FC236}">
                    <a16:creationId xmlns:a16="http://schemas.microsoft.com/office/drawing/2014/main" id="{36CE796A-374E-7C68-1C55-4371F2C82BE2}"/>
                  </a:ext>
                </a:extLst>
              </p:cNvPr>
              <p:cNvGrpSpPr/>
              <p:nvPr/>
            </p:nvGrpSpPr>
            <p:grpSpPr>
              <a:xfrm>
                <a:off x="4119243" y="1392058"/>
                <a:ext cx="3520056" cy="3579085"/>
                <a:chOff x="5424950" y="596560"/>
                <a:chExt cx="3520056" cy="3159090"/>
              </a:xfrm>
            </p:grpSpPr>
            <p:sp>
              <p:nvSpPr>
                <p:cNvPr id="197" name="Rounded Rectangle 153">
                  <a:extLst>
                    <a:ext uri="{FF2B5EF4-FFF2-40B4-BE49-F238E27FC236}">
                      <a16:creationId xmlns:a16="http://schemas.microsoft.com/office/drawing/2014/main" id="{61BF6B99-FDC9-20A0-B269-A5B731499278}"/>
                    </a:ext>
                  </a:extLst>
                </p:cNvPr>
                <p:cNvSpPr/>
                <p:nvPr/>
              </p:nvSpPr>
              <p:spPr>
                <a:xfrm>
                  <a:off x="6104187" y="782468"/>
                  <a:ext cx="2569342" cy="38851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生成</a:t>
                  </a:r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节点阻抗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8" name="Rounded Rectangle 156">
                  <a:extLst>
                    <a:ext uri="{FF2B5EF4-FFF2-40B4-BE49-F238E27FC236}">
                      <a16:creationId xmlns:a16="http://schemas.microsoft.com/office/drawing/2014/main" id="{DA167098-2AE0-7194-A781-2DE891DB955A}"/>
                    </a:ext>
                  </a:extLst>
                </p:cNvPr>
                <p:cNvSpPr/>
                <p:nvPr/>
              </p:nvSpPr>
              <p:spPr>
                <a:xfrm>
                  <a:off x="6104187" y="1417835"/>
                  <a:ext cx="2569341" cy="368362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时域阻抗边界条件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Rounded Rectangle 161">
                  <a:extLst>
                    <a:ext uri="{FF2B5EF4-FFF2-40B4-BE49-F238E27FC236}">
                      <a16:creationId xmlns:a16="http://schemas.microsoft.com/office/drawing/2014/main" id="{8B9577DE-66E1-7D91-48CB-9B6FA5FA5E84}"/>
                    </a:ext>
                  </a:extLst>
                </p:cNvPr>
                <p:cNvSpPr/>
                <p:nvPr/>
              </p:nvSpPr>
              <p:spPr>
                <a:xfrm>
                  <a:off x="5424950" y="596560"/>
                  <a:ext cx="426551" cy="315360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>
                    <a:lumMod val="75000"/>
                  </a:schemeClr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 err="1">
                      <a:solidFill>
                        <a:schemeClr val="bg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粗糙壁湍流简化模拟方法</a:t>
                  </a:r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0" name="Rounded Rectangle 162">
                  <a:extLst>
                    <a:ext uri="{FF2B5EF4-FFF2-40B4-BE49-F238E27FC236}">
                      <a16:creationId xmlns:a16="http://schemas.microsoft.com/office/drawing/2014/main" id="{B30FDB72-7D9A-91AB-3A55-F01302864522}"/>
                    </a:ext>
                  </a:extLst>
                </p:cNvPr>
                <p:cNvSpPr/>
                <p:nvPr/>
              </p:nvSpPr>
              <p:spPr>
                <a:xfrm>
                  <a:off x="5432925" y="596560"/>
                  <a:ext cx="3512081" cy="3159090"/>
                </a:xfrm>
                <a:prstGeom prst="roundRect">
                  <a:avLst>
                    <a:gd name="adj" fmla="val 0"/>
                  </a:avLst>
                </a:prstGeom>
                <a:noFill/>
                <a:ln w="19050">
                  <a:solidFill>
                    <a:schemeClr val="accent1">
                      <a:shade val="15000"/>
                    </a:schemeClr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  <a:latin typeface="Heiti SC Medium" pitchFamily="2" charset="-128"/>
                    <a:ea typeface="Heiti SC Medium" pitchFamily="2" charset="-128"/>
                  </a:endParaRPr>
                </a:p>
              </p:txBody>
            </p:sp>
            <p:cxnSp>
              <p:nvCxnSpPr>
                <p:cNvPr id="201" name="Straight Arrow Connector 281">
                  <a:extLst>
                    <a:ext uri="{FF2B5EF4-FFF2-40B4-BE49-F238E27FC236}">
                      <a16:creationId xmlns:a16="http://schemas.microsoft.com/office/drawing/2014/main" id="{D45F6BDC-C5EA-DFDE-FD86-BB4463B51612}"/>
                    </a:ext>
                  </a:extLst>
                </p:cNvPr>
                <p:cNvCxnSpPr>
                  <a:cxnSpLocks/>
                  <a:stCxn id="197" idx="2"/>
                  <a:endCxn id="198" idx="0"/>
                </p:cNvCxnSpPr>
                <p:nvPr/>
              </p:nvCxnSpPr>
              <p:spPr>
                <a:xfrm>
                  <a:off x="7388858" y="1170982"/>
                  <a:ext cx="0" cy="246853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3" name="Rounded Rectangle 3">
                  <a:extLst>
                    <a:ext uri="{FF2B5EF4-FFF2-40B4-BE49-F238E27FC236}">
                      <a16:creationId xmlns:a16="http://schemas.microsoft.com/office/drawing/2014/main" id="{AA6FBA67-1DDF-4E18-DE89-B45D6B31AE75}"/>
                    </a:ext>
                  </a:extLst>
                </p:cNvPr>
                <p:cNvSpPr/>
                <p:nvPr/>
              </p:nvSpPr>
              <p:spPr>
                <a:xfrm>
                  <a:off x="6104187" y="2007144"/>
                  <a:ext cx="2569341" cy="388514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粗糙壁流动</a:t>
                  </a:r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简化模拟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4" name="Straight Arrow Connector 22">
                  <a:extLst>
                    <a:ext uri="{FF2B5EF4-FFF2-40B4-BE49-F238E27FC236}">
                      <a16:creationId xmlns:a16="http://schemas.microsoft.com/office/drawing/2014/main" id="{C62A0FF3-8A41-A5FD-C6B1-EB21928A5E40}"/>
                    </a:ext>
                  </a:extLst>
                </p:cNvPr>
                <p:cNvCxnSpPr>
                  <a:cxnSpLocks/>
                  <a:stCxn id="198" idx="2"/>
                  <a:endCxn id="203" idx="0"/>
                </p:cNvCxnSpPr>
                <p:nvPr/>
              </p:nvCxnSpPr>
              <p:spPr>
                <a:xfrm>
                  <a:off x="7388858" y="1786197"/>
                  <a:ext cx="0" cy="220947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5" name="Rounded Rectangle 156">
                  <a:extLst>
                    <a:ext uri="{FF2B5EF4-FFF2-40B4-BE49-F238E27FC236}">
                      <a16:creationId xmlns:a16="http://schemas.microsoft.com/office/drawing/2014/main" id="{90E58480-2EC6-95E4-4288-713CCF409FC6}"/>
                    </a:ext>
                  </a:extLst>
                </p:cNvPr>
                <p:cNvSpPr/>
                <p:nvPr/>
              </p:nvSpPr>
              <p:spPr>
                <a:xfrm>
                  <a:off x="6104186" y="2647040"/>
                  <a:ext cx="2569341" cy="349296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zh-CN" altLang="en-US" b="1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流动特征提取</a:t>
                  </a:r>
                  <a:endParaRPr 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06" name="Straight Arrow Connector 53">
                  <a:extLst>
                    <a:ext uri="{FF2B5EF4-FFF2-40B4-BE49-F238E27FC236}">
                      <a16:creationId xmlns:a16="http://schemas.microsoft.com/office/drawing/2014/main" id="{ACF6610D-C6ED-6D98-65B2-F85325180D44}"/>
                    </a:ext>
                  </a:extLst>
                </p:cNvPr>
                <p:cNvCxnSpPr>
                  <a:cxnSpLocks/>
                  <a:stCxn id="203" idx="2"/>
                  <a:endCxn id="205" idx="0"/>
                </p:cNvCxnSpPr>
                <p:nvPr/>
              </p:nvCxnSpPr>
              <p:spPr>
                <a:xfrm flipH="1">
                  <a:off x="7388857" y="2395657"/>
                  <a:ext cx="1" cy="251382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5" name="Rounded Rectangle 156">
                <a:extLst>
                  <a:ext uri="{FF2B5EF4-FFF2-40B4-BE49-F238E27FC236}">
                    <a16:creationId xmlns:a16="http://schemas.microsoft.com/office/drawing/2014/main" id="{96FC222D-346E-7F40-3A85-D083DFA215AC}"/>
                  </a:ext>
                </a:extLst>
              </p:cNvPr>
              <p:cNvSpPr/>
              <p:nvPr/>
            </p:nvSpPr>
            <p:spPr>
              <a:xfrm>
                <a:off x="4798479" y="4419419"/>
                <a:ext cx="2569341" cy="395734"/>
              </a:xfrm>
              <a:prstGeom prst="roundRect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流动</a:t>
                </a:r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结果分析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6" name="Straight Arrow Connector 53">
                <a:extLst>
                  <a:ext uri="{FF2B5EF4-FFF2-40B4-BE49-F238E27FC236}">
                    <a16:creationId xmlns:a16="http://schemas.microsoft.com/office/drawing/2014/main" id="{91093E77-26FE-E96C-7806-2D9526A89A94}"/>
                  </a:ext>
                </a:extLst>
              </p:cNvPr>
              <p:cNvCxnSpPr>
                <a:cxnSpLocks/>
                <a:stCxn id="205" idx="2"/>
                <a:endCxn id="195" idx="0"/>
              </p:cNvCxnSpPr>
              <p:nvPr/>
            </p:nvCxnSpPr>
            <p:spPr>
              <a:xfrm>
                <a:off x="6083150" y="4110879"/>
                <a:ext cx="0" cy="30854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7" name="Arrow: Down 334">
              <a:extLst>
                <a:ext uri="{FF2B5EF4-FFF2-40B4-BE49-F238E27FC236}">
                  <a16:creationId xmlns:a16="http://schemas.microsoft.com/office/drawing/2014/main" id="{53127D48-5801-55D1-E076-159906CD2ED5}"/>
                </a:ext>
              </a:extLst>
            </p:cNvPr>
            <p:cNvSpPr/>
            <p:nvPr/>
          </p:nvSpPr>
          <p:spPr>
            <a:xfrm rot="16200000">
              <a:off x="7708334" y="3041666"/>
              <a:ext cx="484632" cy="358427"/>
            </a:xfrm>
            <a:prstGeom prst="downArrow">
              <a:avLst>
                <a:gd name="adj1" fmla="val 50000"/>
                <a:gd name="adj2" fmla="val 5307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93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5371F-55B1-6D92-A5EE-E47133F1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4CE78044-60B8-5312-D437-58C54AB31414}"/>
              </a:ext>
            </a:extLst>
          </p:cNvPr>
          <p:cNvGrpSpPr/>
          <p:nvPr/>
        </p:nvGrpSpPr>
        <p:grpSpPr>
          <a:xfrm>
            <a:off x="1607320" y="2596244"/>
            <a:ext cx="8893629" cy="2008194"/>
            <a:chOff x="1607320" y="2596244"/>
            <a:chExt cx="8893629" cy="2008194"/>
          </a:xfrm>
        </p:grpSpPr>
        <p:grpSp>
          <p:nvGrpSpPr>
            <p:cNvPr id="260" name="组合 259">
              <a:extLst>
                <a:ext uri="{FF2B5EF4-FFF2-40B4-BE49-F238E27FC236}">
                  <a16:creationId xmlns:a16="http://schemas.microsoft.com/office/drawing/2014/main" id="{42E1D32F-84EE-CD8C-2BD1-BD366A968FF3}"/>
                </a:ext>
              </a:extLst>
            </p:cNvPr>
            <p:cNvGrpSpPr/>
            <p:nvPr/>
          </p:nvGrpSpPr>
          <p:grpSpPr>
            <a:xfrm>
              <a:off x="1607320" y="2596244"/>
              <a:ext cx="8893629" cy="2008194"/>
              <a:chOff x="1607320" y="2596244"/>
              <a:chExt cx="8893629" cy="2008194"/>
            </a:xfrm>
          </p:grpSpPr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CF1B466-C5C2-1FC2-C8F9-0E0906631931}"/>
                  </a:ext>
                </a:extLst>
              </p:cNvPr>
              <p:cNvSpPr/>
              <p:nvPr/>
            </p:nvSpPr>
            <p:spPr>
              <a:xfrm>
                <a:off x="1607320" y="2596244"/>
                <a:ext cx="399955" cy="2008194"/>
              </a:xfrm>
              <a:prstGeom prst="roundRect">
                <a:avLst>
                  <a:gd name="adj" fmla="val 0"/>
                </a:avLst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孔隙图神经网络</a:t>
                </a:r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ounded Rectangle 74">
                <a:extLst>
                  <a:ext uri="{FF2B5EF4-FFF2-40B4-BE49-F238E27FC236}">
                    <a16:creationId xmlns:a16="http://schemas.microsoft.com/office/drawing/2014/main" id="{317D6F30-4B18-1554-A4B3-1E646AB8966C}"/>
                  </a:ext>
                </a:extLst>
              </p:cNvPr>
              <p:cNvSpPr/>
              <p:nvPr/>
            </p:nvSpPr>
            <p:spPr>
              <a:xfrm>
                <a:off x="2007275" y="2596244"/>
                <a:ext cx="2141534" cy="2008194"/>
              </a:xfrm>
              <a:prstGeom prst="roundRect">
                <a:avLst>
                  <a:gd name="adj" fmla="val 0"/>
                </a:avLst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ounded Rectangle 74">
                <a:extLst>
                  <a:ext uri="{FF2B5EF4-FFF2-40B4-BE49-F238E27FC236}">
                    <a16:creationId xmlns:a16="http://schemas.microsoft.com/office/drawing/2014/main" id="{22CEE24A-21C2-2AFC-CD92-FCCB5A90CD2A}"/>
                  </a:ext>
                </a:extLst>
              </p:cNvPr>
              <p:cNvSpPr/>
              <p:nvPr/>
            </p:nvSpPr>
            <p:spPr>
              <a:xfrm>
                <a:off x="2126208" y="2852761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获取流场数据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Rounded Rectangle 74">
                <a:extLst>
                  <a:ext uri="{FF2B5EF4-FFF2-40B4-BE49-F238E27FC236}">
                    <a16:creationId xmlns:a16="http://schemas.microsoft.com/office/drawing/2014/main" id="{BE5BB80F-D406-C8F0-550F-F34905DBF382}"/>
                  </a:ext>
                </a:extLst>
              </p:cNvPr>
              <p:cNvSpPr/>
              <p:nvPr/>
            </p:nvSpPr>
            <p:spPr>
              <a:xfrm>
                <a:off x="2126207" y="3423817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构建孔隙网络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Rounded Rectangle 74">
                <a:extLst>
                  <a:ext uri="{FF2B5EF4-FFF2-40B4-BE49-F238E27FC236}">
                    <a16:creationId xmlns:a16="http://schemas.microsoft.com/office/drawing/2014/main" id="{E1C0401F-17AF-95D7-55F4-E8BF21B5FF8E}"/>
                  </a:ext>
                </a:extLst>
              </p:cNvPr>
              <p:cNvSpPr/>
              <p:nvPr/>
            </p:nvSpPr>
            <p:spPr>
              <a:xfrm>
                <a:off x="2126207" y="4003707"/>
                <a:ext cx="1902857" cy="376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图网络构建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" name="Rounded Rectangle 74">
                <a:extLst>
                  <a:ext uri="{FF2B5EF4-FFF2-40B4-BE49-F238E27FC236}">
                    <a16:creationId xmlns:a16="http://schemas.microsoft.com/office/drawing/2014/main" id="{54CFF746-A0C3-8362-D9DF-5E13C62F8ABE}"/>
                  </a:ext>
                </a:extLst>
              </p:cNvPr>
              <p:cNvSpPr/>
              <p:nvPr/>
            </p:nvSpPr>
            <p:spPr>
              <a:xfrm>
                <a:off x="4147997" y="2597284"/>
                <a:ext cx="6352952" cy="2004172"/>
              </a:xfrm>
              <a:prstGeom prst="roundRect">
                <a:avLst>
                  <a:gd name="adj" fmla="val 0"/>
                </a:avLst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12" name="Group 108">
                <a:extLst>
                  <a:ext uri="{FF2B5EF4-FFF2-40B4-BE49-F238E27FC236}">
                    <a16:creationId xmlns:a16="http://schemas.microsoft.com/office/drawing/2014/main" id="{24CD3144-F53D-7325-5824-82BB9DB8F30E}"/>
                  </a:ext>
                </a:extLst>
              </p:cNvPr>
              <p:cNvGrpSpPr/>
              <p:nvPr/>
            </p:nvGrpSpPr>
            <p:grpSpPr>
              <a:xfrm>
                <a:off x="8605756" y="3082770"/>
                <a:ext cx="1578105" cy="1258075"/>
                <a:chOff x="5167598" y="2360087"/>
                <a:chExt cx="4341663" cy="3461200"/>
              </a:xfrm>
            </p:grpSpPr>
            <p:sp>
              <p:nvSpPr>
                <p:cNvPr id="15" name="Oval 111">
                  <a:extLst>
                    <a:ext uri="{FF2B5EF4-FFF2-40B4-BE49-F238E27FC236}">
                      <a16:creationId xmlns:a16="http://schemas.microsoft.com/office/drawing/2014/main" id="{6E6B6428-20B7-F469-9F09-347AD7F69A34}"/>
                    </a:ext>
                  </a:extLst>
                </p:cNvPr>
                <p:cNvSpPr/>
                <p:nvPr/>
              </p:nvSpPr>
              <p:spPr>
                <a:xfrm>
                  <a:off x="6473821" y="4040317"/>
                  <a:ext cx="381794" cy="381794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6" name="Oval 112">
                  <a:extLst>
                    <a:ext uri="{FF2B5EF4-FFF2-40B4-BE49-F238E27FC236}">
                      <a16:creationId xmlns:a16="http://schemas.microsoft.com/office/drawing/2014/main" id="{7814DBB0-3A79-5098-D1AF-BC6C7ED4C7D3}"/>
                    </a:ext>
                  </a:extLst>
                </p:cNvPr>
                <p:cNvSpPr/>
                <p:nvPr/>
              </p:nvSpPr>
              <p:spPr>
                <a:xfrm>
                  <a:off x="7410050" y="4231214"/>
                  <a:ext cx="280628" cy="280628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7" name="Oval 113">
                  <a:extLst>
                    <a:ext uri="{FF2B5EF4-FFF2-40B4-BE49-F238E27FC236}">
                      <a16:creationId xmlns:a16="http://schemas.microsoft.com/office/drawing/2014/main" id="{F1A04B63-E29C-85BB-A530-309B7D7812EE}"/>
                    </a:ext>
                  </a:extLst>
                </p:cNvPr>
                <p:cNvSpPr/>
                <p:nvPr/>
              </p:nvSpPr>
              <p:spPr>
                <a:xfrm>
                  <a:off x="8221049" y="3789260"/>
                  <a:ext cx="381794" cy="381794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Oval 114">
                  <a:extLst>
                    <a:ext uri="{FF2B5EF4-FFF2-40B4-BE49-F238E27FC236}">
                      <a16:creationId xmlns:a16="http://schemas.microsoft.com/office/drawing/2014/main" id="{966FC1ED-B03C-987A-4B0C-C6177A9E97F5}"/>
                    </a:ext>
                  </a:extLst>
                </p:cNvPr>
                <p:cNvSpPr/>
                <p:nvPr/>
              </p:nvSpPr>
              <p:spPr>
                <a:xfrm>
                  <a:off x="6590532" y="3046863"/>
                  <a:ext cx="530166" cy="530166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Oval 115">
                  <a:extLst>
                    <a:ext uri="{FF2B5EF4-FFF2-40B4-BE49-F238E27FC236}">
                      <a16:creationId xmlns:a16="http://schemas.microsoft.com/office/drawing/2014/main" id="{E6D12CFE-A998-5A89-B1A4-1773A285341A}"/>
                    </a:ext>
                  </a:extLst>
                </p:cNvPr>
                <p:cNvSpPr/>
                <p:nvPr/>
              </p:nvSpPr>
              <p:spPr>
                <a:xfrm>
                  <a:off x="6938525" y="5349761"/>
                  <a:ext cx="471526" cy="471526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Oval 116">
                  <a:extLst>
                    <a:ext uri="{FF2B5EF4-FFF2-40B4-BE49-F238E27FC236}">
                      <a16:creationId xmlns:a16="http://schemas.microsoft.com/office/drawing/2014/main" id="{B2BE45FA-4E62-5733-B33E-4E97B7D887DB}"/>
                    </a:ext>
                  </a:extLst>
                </p:cNvPr>
                <p:cNvSpPr/>
                <p:nvPr/>
              </p:nvSpPr>
              <p:spPr>
                <a:xfrm>
                  <a:off x="8438997" y="2707105"/>
                  <a:ext cx="381794" cy="381794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Oval 118">
                  <a:extLst>
                    <a:ext uri="{FF2B5EF4-FFF2-40B4-BE49-F238E27FC236}">
                      <a16:creationId xmlns:a16="http://schemas.microsoft.com/office/drawing/2014/main" id="{9F39AB46-B50E-119B-EEF9-694CC5F3971D}"/>
                    </a:ext>
                  </a:extLst>
                </p:cNvPr>
                <p:cNvSpPr/>
                <p:nvPr/>
              </p:nvSpPr>
              <p:spPr>
                <a:xfrm>
                  <a:off x="7588069" y="3420232"/>
                  <a:ext cx="172301" cy="172301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Oval 119">
                  <a:extLst>
                    <a:ext uri="{FF2B5EF4-FFF2-40B4-BE49-F238E27FC236}">
                      <a16:creationId xmlns:a16="http://schemas.microsoft.com/office/drawing/2014/main" id="{E26648F8-0FBA-FD72-7432-EC6AFB897A88}"/>
                    </a:ext>
                  </a:extLst>
                </p:cNvPr>
                <p:cNvSpPr/>
                <p:nvPr/>
              </p:nvSpPr>
              <p:spPr>
                <a:xfrm>
                  <a:off x="7677452" y="2360087"/>
                  <a:ext cx="172301" cy="172301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23" name="Straight Connector 121">
                  <a:extLst>
                    <a:ext uri="{FF2B5EF4-FFF2-40B4-BE49-F238E27FC236}">
                      <a16:creationId xmlns:a16="http://schemas.microsoft.com/office/drawing/2014/main" id="{D5D4F058-E3B2-BF37-B712-30FF4574FA41}"/>
                    </a:ext>
                  </a:extLst>
                </p:cNvPr>
                <p:cNvCxnSpPr>
                  <a:cxnSpLocks/>
                  <a:stCxn id="18" idx="4"/>
                  <a:endCxn id="15" idx="0"/>
                </p:cNvCxnSpPr>
                <p:nvPr/>
              </p:nvCxnSpPr>
              <p:spPr>
                <a:xfrm flipH="1">
                  <a:off x="6664718" y="3577029"/>
                  <a:ext cx="190897" cy="463288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122">
                  <a:extLst>
                    <a:ext uri="{FF2B5EF4-FFF2-40B4-BE49-F238E27FC236}">
                      <a16:creationId xmlns:a16="http://schemas.microsoft.com/office/drawing/2014/main" id="{1B7F5744-324F-9333-F7E1-6387E61B9B6A}"/>
                    </a:ext>
                  </a:extLst>
                </p:cNvPr>
                <p:cNvCxnSpPr>
                  <a:cxnSpLocks/>
                  <a:stCxn id="18" idx="5"/>
                  <a:endCxn id="21" idx="2"/>
                </p:cNvCxnSpPr>
                <p:nvPr/>
              </p:nvCxnSpPr>
              <p:spPr>
                <a:xfrm>
                  <a:off x="7043057" y="3499388"/>
                  <a:ext cx="545012" cy="699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123">
                  <a:extLst>
                    <a:ext uri="{FF2B5EF4-FFF2-40B4-BE49-F238E27FC236}">
                      <a16:creationId xmlns:a16="http://schemas.microsoft.com/office/drawing/2014/main" id="{CE5861BB-D36E-1D55-A107-BC50B05E10DA}"/>
                    </a:ext>
                  </a:extLst>
                </p:cNvPr>
                <p:cNvCxnSpPr>
                  <a:cxnSpLocks/>
                  <a:stCxn id="22" idx="4"/>
                  <a:endCxn id="21" idx="0"/>
                </p:cNvCxnSpPr>
                <p:nvPr/>
              </p:nvCxnSpPr>
              <p:spPr>
                <a:xfrm flipH="1">
                  <a:off x="7674220" y="2532388"/>
                  <a:ext cx="89383" cy="88784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125">
                  <a:extLst>
                    <a:ext uri="{FF2B5EF4-FFF2-40B4-BE49-F238E27FC236}">
                      <a16:creationId xmlns:a16="http://schemas.microsoft.com/office/drawing/2014/main" id="{75EEB44F-0CA1-8F44-2077-7E7D87C6FED6}"/>
                    </a:ext>
                  </a:extLst>
                </p:cNvPr>
                <p:cNvCxnSpPr>
                  <a:cxnSpLocks/>
                  <a:stCxn id="20" idx="4"/>
                  <a:endCxn id="17" idx="0"/>
                </p:cNvCxnSpPr>
                <p:nvPr/>
              </p:nvCxnSpPr>
              <p:spPr>
                <a:xfrm flipH="1">
                  <a:off x="8411946" y="3088899"/>
                  <a:ext cx="217948" cy="700361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128">
                  <a:extLst>
                    <a:ext uri="{FF2B5EF4-FFF2-40B4-BE49-F238E27FC236}">
                      <a16:creationId xmlns:a16="http://schemas.microsoft.com/office/drawing/2014/main" id="{DA2B5D6B-74A6-5F08-8CAD-F8908AEADC5E}"/>
                    </a:ext>
                  </a:extLst>
                </p:cNvPr>
                <p:cNvCxnSpPr>
                  <a:cxnSpLocks/>
                  <a:stCxn id="16" idx="7"/>
                  <a:endCxn id="17" idx="2"/>
                </p:cNvCxnSpPr>
                <p:nvPr/>
              </p:nvCxnSpPr>
              <p:spPr>
                <a:xfrm flipV="1">
                  <a:off x="7649581" y="3980157"/>
                  <a:ext cx="571468" cy="292154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129">
                  <a:extLst>
                    <a:ext uri="{FF2B5EF4-FFF2-40B4-BE49-F238E27FC236}">
                      <a16:creationId xmlns:a16="http://schemas.microsoft.com/office/drawing/2014/main" id="{F19DABB5-410A-F89C-ED3D-69B87E46BB8D}"/>
                    </a:ext>
                  </a:extLst>
                </p:cNvPr>
                <p:cNvCxnSpPr>
                  <a:cxnSpLocks/>
                  <a:stCxn id="15" idx="6"/>
                  <a:endCxn id="16" idx="2"/>
                </p:cNvCxnSpPr>
                <p:nvPr/>
              </p:nvCxnSpPr>
              <p:spPr>
                <a:xfrm>
                  <a:off x="6855615" y="4231214"/>
                  <a:ext cx="554435" cy="140314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131">
                  <a:extLst>
                    <a:ext uri="{FF2B5EF4-FFF2-40B4-BE49-F238E27FC236}">
                      <a16:creationId xmlns:a16="http://schemas.microsoft.com/office/drawing/2014/main" id="{8957ED48-9D4D-CB9F-B1FC-10CFBF65A4C5}"/>
                    </a:ext>
                  </a:extLst>
                </p:cNvPr>
                <p:cNvCxnSpPr>
                  <a:cxnSpLocks/>
                  <a:stCxn id="19" idx="0"/>
                  <a:endCxn id="16" idx="4"/>
                </p:cNvCxnSpPr>
                <p:nvPr/>
              </p:nvCxnSpPr>
              <p:spPr>
                <a:xfrm flipV="1">
                  <a:off x="7174288" y="4511843"/>
                  <a:ext cx="376077" cy="837918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133">
                  <a:extLst>
                    <a:ext uri="{FF2B5EF4-FFF2-40B4-BE49-F238E27FC236}">
                      <a16:creationId xmlns:a16="http://schemas.microsoft.com/office/drawing/2014/main" id="{0F30E097-9CFB-EA54-BB43-1F679B7C737F}"/>
                    </a:ext>
                  </a:extLst>
                </p:cNvPr>
                <p:cNvSpPr/>
                <p:nvPr/>
              </p:nvSpPr>
              <p:spPr>
                <a:xfrm>
                  <a:off x="8942288" y="4272311"/>
                  <a:ext cx="566973" cy="566973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1" name="Oval 134">
                  <a:extLst>
                    <a:ext uri="{FF2B5EF4-FFF2-40B4-BE49-F238E27FC236}">
                      <a16:creationId xmlns:a16="http://schemas.microsoft.com/office/drawing/2014/main" id="{EC7EAC44-64BA-ACBC-B34E-CB3A97EE7FD0}"/>
                    </a:ext>
                  </a:extLst>
                </p:cNvPr>
                <p:cNvSpPr/>
                <p:nvPr/>
              </p:nvSpPr>
              <p:spPr>
                <a:xfrm>
                  <a:off x="5437296" y="4122667"/>
                  <a:ext cx="566973" cy="566973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2" name="Oval 136">
                  <a:extLst>
                    <a:ext uri="{FF2B5EF4-FFF2-40B4-BE49-F238E27FC236}">
                      <a16:creationId xmlns:a16="http://schemas.microsoft.com/office/drawing/2014/main" id="{698213C7-249F-1093-E03B-EEF8C93104F3}"/>
                    </a:ext>
                  </a:extLst>
                </p:cNvPr>
                <p:cNvSpPr/>
                <p:nvPr/>
              </p:nvSpPr>
              <p:spPr>
                <a:xfrm>
                  <a:off x="5167598" y="3136745"/>
                  <a:ext cx="566973" cy="566973"/>
                </a:xfrm>
                <a:prstGeom prst="ellipse">
                  <a:avLst/>
                </a:prstGeom>
                <a:solidFill>
                  <a:srgbClr val="FFC000"/>
                </a:solidFill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b="1" dirty="0">
                    <a:solidFill>
                      <a:schemeClr val="bg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33" name="Straight Connector 137">
                  <a:extLst>
                    <a:ext uri="{FF2B5EF4-FFF2-40B4-BE49-F238E27FC236}">
                      <a16:creationId xmlns:a16="http://schemas.microsoft.com/office/drawing/2014/main" id="{12CE7B74-5EBD-D494-8D6B-2F353A691371}"/>
                    </a:ext>
                  </a:extLst>
                </p:cNvPr>
                <p:cNvCxnSpPr>
                  <a:cxnSpLocks/>
                  <a:stCxn id="32" idx="6"/>
                  <a:endCxn id="18" idx="2"/>
                </p:cNvCxnSpPr>
                <p:nvPr/>
              </p:nvCxnSpPr>
              <p:spPr>
                <a:xfrm flipV="1">
                  <a:off x="5734571" y="3311946"/>
                  <a:ext cx="855961" cy="108286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138">
                  <a:extLst>
                    <a:ext uri="{FF2B5EF4-FFF2-40B4-BE49-F238E27FC236}">
                      <a16:creationId xmlns:a16="http://schemas.microsoft.com/office/drawing/2014/main" id="{61A10711-D759-9C3B-DDDA-E3D10CD398CF}"/>
                    </a:ext>
                  </a:extLst>
                </p:cNvPr>
                <p:cNvCxnSpPr>
                  <a:cxnSpLocks/>
                  <a:stCxn id="31" idx="6"/>
                  <a:endCxn id="15" idx="3"/>
                </p:cNvCxnSpPr>
                <p:nvPr/>
              </p:nvCxnSpPr>
              <p:spPr>
                <a:xfrm flipV="1">
                  <a:off x="6004269" y="4366199"/>
                  <a:ext cx="525464" cy="39955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139">
                  <a:extLst>
                    <a:ext uri="{FF2B5EF4-FFF2-40B4-BE49-F238E27FC236}">
                      <a16:creationId xmlns:a16="http://schemas.microsoft.com/office/drawing/2014/main" id="{30AF3DF6-B96F-F452-8946-95A8EB05E145}"/>
                    </a:ext>
                  </a:extLst>
                </p:cNvPr>
                <p:cNvCxnSpPr>
                  <a:cxnSpLocks/>
                  <a:stCxn id="17" idx="5"/>
                  <a:endCxn id="30" idx="1"/>
                </p:cNvCxnSpPr>
                <p:nvPr/>
              </p:nvCxnSpPr>
              <p:spPr>
                <a:xfrm>
                  <a:off x="8546931" y="4115142"/>
                  <a:ext cx="478388" cy="24020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8" name="Picture 171">
                <a:extLst>
                  <a:ext uri="{FF2B5EF4-FFF2-40B4-BE49-F238E27FC236}">
                    <a16:creationId xmlns:a16="http://schemas.microsoft.com/office/drawing/2014/main" id="{3EF6FD46-6C32-9D45-6530-1AA45C99E1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78811" y="3044483"/>
                <a:ext cx="1642941" cy="1422985"/>
              </a:xfrm>
              <a:prstGeom prst="rect">
                <a:avLst/>
              </a:prstGeom>
            </p:spPr>
          </p:pic>
          <p:sp>
            <p:nvSpPr>
              <p:cNvPr id="80" name="Rounded Rectangle 74">
                <a:extLst>
                  <a:ext uri="{FF2B5EF4-FFF2-40B4-BE49-F238E27FC236}">
                    <a16:creationId xmlns:a16="http://schemas.microsoft.com/office/drawing/2014/main" id="{A6A8992A-FA84-93C0-9988-77FBB7E8BBB1}"/>
                  </a:ext>
                </a:extLst>
              </p:cNvPr>
              <p:cNvSpPr/>
              <p:nvPr/>
            </p:nvSpPr>
            <p:spPr>
              <a:xfrm>
                <a:off x="4397914" y="2668689"/>
                <a:ext cx="1324205" cy="261724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孔隙结构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ounded Rectangle 74">
                <a:extLst>
                  <a:ext uri="{FF2B5EF4-FFF2-40B4-BE49-F238E27FC236}">
                    <a16:creationId xmlns:a16="http://schemas.microsoft.com/office/drawing/2014/main" id="{BAAD0E3B-8749-B2F6-251B-25B1F1F22BA0}"/>
                  </a:ext>
                </a:extLst>
              </p:cNvPr>
              <p:cNvSpPr/>
              <p:nvPr/>
            </p:nvSpPr>
            <p:spPr>
              <a:xfrm>
                <a:off x="8620124" y="2686644"/>
                <a:ext cx="1430043" cy="261724"/>
              </a:xfrm>
              <a:prstGeom prst="roundRect">
                <a:avLst>
                  <a:gd name="adj" fmla="val 0"/>
                </a:avLst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图神经网络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ounded Rectangle 216">
                <a:extLst>
                  <a:ext uri="{FF2B5EF4-FFF2-40B4-BE49-F238E27FC236}">
                    <a16:creationId xmlns:a16="http://schemas.microsoft.com/office/drawing/2014/main" id="{D68E67C1-BEED-1BC3-D232-4B469BA82775}"/>
                  </a:ext>
                </a:extLst>
              </p:cNvPr>
              <p:cNvSpPr/>
              <p:nvPr/>
            </p:nvSpPr>
            <p:spPr>
              <a:xfrm>
                <a:off x="6231650" y="2657523"/>
                <a:ext cx="1862287" cy="290845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流场数据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Rounded Rectangle 216">
                <a:extLst>
                  <a:ext uri="{FF2B5EF4-FFF2-40B4-BE49-F238E27FC236}">
                    <a16:creationId xmlns:a16="http://schemas.microsoft.com/office/drawing/2014/main" id="{821EF536-C740-168D-7219-5BB8B29BC2B3}"/>
                  </a:ext>
                </a:extLst>
              </p:cNvPr>
              <p:cNvSpPr/>
              <p:nvPr/>
            </p:nvSpPr>
            <p:spPr>
              <a:xfrm>
                <a:off x="6231651" y="3262448"/>
                <a:ext cx="712118" cy="1157795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孔隙孔喉特征提取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Rounded Rectangle 214">
                <a:extLst>
                  <a:ext uri="{FF2B5EF4-FFF2-40B4-BE49-F238E27FC236}">
                    <a16:creationId xmlns:a16="http://schemas.microsoft.com/office/drawing/2014/main" id="{4CF9EF0C-B862-CC09-02AB-025BEB92F2A9}"/>
                  </a:ext>
                </a:extLst>
              </p:cNvPr>
              <p:cNvSpPr/>
              <p:nvPr/>
            </p:nvSpPr>
            <p:spPr>
              <a:xfrm>
                <a:off x="7423539" y="3262447"/>
                <a:ext cx="670399" cy="1157795"/>
              </a:xfrm>
              <a:prstGeom prst="roundRect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孔隙网络映射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Down Arrow 66">
                <a:extLst>
                  <a:ext uri="{FF2B5EF4-FFF2-40B4-BE49-F238E27FC236}">
                    <a16:creationId xmlns:a16="http://schemas.microsoft.com/office/drawing/2014/main" id="{1FCC81DC-88A6-1D58-A873-B3D26103BF5C}"/>
                  </a:ext>
                </a:extLst>
              </p:cNvPr>
              <p:cNvSpPr/>
              <p:nvPr/>
            </p:nvSpPr>
            <p:spPr>
              <a:xfrm rot="16200000">
                <a:off x="5931158" y="3547207"/>
                <a:ext cx="231683" cy="273720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Down Arrow 66">
                <a:extLst>
                  <a:ext uri="{FF2B5EF4-FFF2-40B4-BE49-F238E27FC236}">
                    <a16:creationId xmlns:a16="http://schemas.microsoft.com/office/drawing/2014/main" id="{E380150A-1970-9655-89BC-38ED55EE3B5B}"/>
                  </a:ext>
                </a:extLst>
              </p:cNvPr>
              <p:cNvSpPr/>
              <p:nvPr/>
            </p:nvSpPr>
            <p:spPr>
              <a:xfrm rot="16200000">
                <a:off x="7063588" y="3547206"/>
                <a:ext cx="231683" cy="273720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Down Arrow 66">
                <a:extLst>
                  <a:ext uri="{FF2B5EF4-FFF2-40B4-BE49-F238E27FC236}">
                    <a16:creationId xmlns:a16="http://schemas.microsoft.com/office/drawing/2014/main" id="{76991819-F4B2-3F7F-A047-C974582901EF}"/>
                  </a:ext>
                </a:extLst>
              </p:cNvPr>
              <p:cNvSpPr/>
              <p:nvPr/>
            </p:nvSpPr>
            <p:spPr>
              <a:xfrm rot="16200000">
                <a:off x="8202713" y="3539637"/>
                <a:ext cx="231683" cy="273720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Rectangle 109">
                <a:extLst>
                  <a:ext uri="{FF2B5EF4-FFF2-40B4-BE49-F238E27FC236}">
                    <a16:creationId xmlns:a16="http://schemas.microsoft.com/office/drawing/2014/main" id="{FDD1D22F-7083-3E7E-2178-A1156A55D773}"/>
                  </a:ext>
                </a:extLst>
              </p:cNvPr>
              <p:cNvSpPr/>
              <p:nvPr/>
            </p:nvSpPr>
            <p:spPr>
              <a:xfrm>
                <a:off x="4419112" y="3021593"/>
                <a:ext cx="1416172" cy="139865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109">
                <a:extLst>
                  <a:ext uri="{FF2B5EF4-FFF2-40B4-BE49-F238E27FC236}">
                    <a16:creationId xmlns:a16="http://schemas.microsoft.com/office/drawing/2014/main" id="{2EA57C90-3B3A-ACEB-4447-56ECFE9536DC}"/>
                  </a:ext>
                </a:extLst>
              </p:cNvPr>
              <p:cNvSpPr/>
              <p:nvPr/>
            </p:nvSpPr>
            <p:spPr>
              <a:xfrm>
                <a:off x="8537314" y="3038783"/>
                <a:ext cx="1642941" cy="1381461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Down Arrow 66">
                <a:extLst>
                  <a:ext uri="{FF2B5EF4-FFF2-40B4-BE49-F238E27FC236}">
                    <a16:creationId xmlns:a16="http://schemas.microsoft.com/office/drawing/2014/main" id="{1EDF429F-E4A3-12BE-64A3-7E1B36D91F8E}"/>
                  </a:ext>
                </a:extLst>
              </p:cNvPr>
              <p:cNvSpPr/>
              <p:nvPr/>
            </p:nvSpPr>
            <p:spPr>
              <a:xfrm>
                <a:off x="6462533" y="3008607"/>
                <a:ext cx="172234" cy="203484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Down Arrow 66">
                <a:extLst>
                  <a:ext uri="{FF2B5EF4-FFF2-40B4-BE49-F238E27FC236}">
                    <a16:creationId xmlns:a16="http://schemas.microsoft.com/office/drawing/2014/main" id="{6A680CB7-29F3-FF30-1F5F-28463D992697}"/>
                  </a:ext>
                </a:extLst>
              </p:cNvPr>
              <p:cNvSpPr/>
              <p:nvPr/>
            </p:nvSpPr>
            <p:spPr>
              <a:xfrm>
                <a:off x="7673485" y="3007679"/>
                <a:ext cx="172234" cy="203484"/>
              </a:xfrm>
              <a:prstGeom prst="downArrow">
                <a:avLst/>
              </a:prstGeom>
              <a:solidFill>
                <a:schemeClr val="bg1">
                  <a:lumMod val="85000"/>
                </a:schemeClr>
              </a:solidFill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SimHei" panose="02010609060101010101" pitchFamily="49" charset="-122"/>
                  <a:ea typeface="SimHe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62" name="Straight Arrow Connector 204">
              <a:extLst>
                <a:ext uri="{FF2B5EF4-FFF2-40B4-BE49-F238E27FC236}">
                  <a16:creationId xmlns:a16="http://schemas.microsoft.com/office/drawing/2014/main" id="{B3B52DA1-AE91-7DD8-A53D-96FA69C5E3B3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 flipH="1">
              <a:off x="3077636" y="3228853"/>
              <a:ext cx="1" cy="19496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Arrow Connector 204">
              <a:extLst>
                <a:ext uri="{FF2B5EF4-FFF2-40B4-BE49-F238E27FC236}">
                  <a16:creationId xmlns:a16="http://schemas.microsoft.com/office/drawing/2014/main" id="{9AD668B6-63A0-E510-E8FD-0EEA7A8765D6}"/>
                </a:ext>
              </a:extLst>
            </p:cNvPr>
            <p:cNvCxnSpPr>
              <a:cxnSpLocks/>
              <a:stCxn id="43" idx="2"/>
              <a:endCxn id="45" idx="0"/>
            </p:cNvCxnSpPr>
            <p:nvPr/>
          </p:nvCxnSpPr>
          <p:spPr>
            <a:xfrm>
              <a:off x="3077636" y="3799909"/>
              <a:ext cx="0" cy="20379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733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A36BD-517F-8F30-0253-3ABA9EDD3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2" name="组合 701">
            <a:extLst>
              <a:ext uri="{FF2B5EF4-FFF2-40B4-BE49-F238E27FC236}">
                <a16:creationId xmlns:a16="http://schemas.microsoft.com/office/drawing/2014/main" id="{8C2EEE73-E0B0-A07F-73DE-2CB8C6E8FFA2}"/>
              </a:ext>
            </a:extLst>
          </p:cNvPr>
          <p:cNvGrpSpPr/>
          <p:nvPr/>
        </p:nvGrpSpPr>
        <p:grpSpPr>
          <a:xfrm>
            <a:off x="1136565" y="1253954"/>
            <a:ext cx="7991040" cy="4731771"/>
            <a:chOff x="1136565" y="1253954"/>
            <a:chExt cx="7991040" cy="4731771"/>
          </a:xfrm>
        </p:grpSpPr>
        <p:sp>
          <p:nvSpPr>
            <p:cNvPr id="90" name="Rectangle 109">
              <a:extLst>
                <a:ext uri="{FF2B5EF4-FFF2-40B4-BE49-F238E27FC236}">
                  <a16:creationId xmlns:a16="http://schemas.microsoft.com/office/drawing/2014/main" id="{B846AB3C-C553-9B09-EE63-B1CFA65D3C53}"/>
                </a:ext>
              </a:extLst>
            </p:cNvPr>
            <p:cNvSpPr/>
            <p:nvPr/>
          </p:nvSpPr>
          <p:spPr>
            <a:xfrm>
              <a:off x="1136565" y="1253954"/>
              <a:ext cx="4822738" cy="4731771"/>
            </a:xfrm>
            <a:prstGeom prst="roundRect">
              <a:avLst>
                <a:gd name="adj" fmla="val 1489"/>
              </a:avLst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7" name="Rectangle 109">
              <a:extLst>
                <a:ext uri="{FF2B5EF4-FFF2-40B4-BE49-F238E27FC236}">
                  <a16:creationId xmlns:a16="http://schemas.microsoft.com/office/drawing/2014/main" id="{1149247D-898F-F04D-0CC1-CD9515AE54CB}"/>
                </a:ext>
              </a:extLst>
            </p:cNvPr>
            <p:cNvSpPr/>
            <p:nvPr/>
          </p:nvSpPr>
          <p:spPr>
            <a:xfrm>
              <a:off x="3437224" y="1449045"/>
              <a:ext cx="2435965" cy="807880"/>
            </a:xfrm>
            <a:prstGeom prst="roundRect">
              <a:avLst>
                <a:gd name="adj" fmla="val 14505"/>
              </a:avLst>
            </a:prstGeom>
            <a:solidFill>
              <a:schemeClr val="accent6">
                <a:lumMod val="40000"/>
                <a:lumOff val="60000"/>
                <a:alpha val="68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Rectangle 109">
              <a:extLst>
                <a:ext uri="{FF2B5EF4-FFF2-40B4-BE49-F238E27FC236}">
                  <a16:creationId xmlns:a16="http://schemas.microsoft.com/office/drawing/2014/main" id="{E559BC39-C3FF-F8C7-D541-654D9DD032AA}"/>
                </a:ext>
              </a:extLst>
            </p:cNvPr>
            <p:cNvSpPr/>
            <p:nvPr/>
          </p:nvSpPr>
          <p:spPr>
            <a:xfrm>
              <a:off x="1253137" y="3304510"/>
              <a:ext cx="2017108" cy="2609796"/>
            </a:xfrm>
            <a:prstGeom prst="roundRect">
              <a:avLst>
                <a:gd name="adj" fmla="val 2827"/>
              </a:avLst>
            </a:prstGeom>
            <a:solidFill>
              <a:schemeClr val="accent1">
                <a:lumMod val="60000"/>
                <a:lumOff val="40000"/>
                <a:alpha val="45000"/>
              </a:schemeClr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ounded Rectangle 3">
              <a:extLst>
                <a:ext uri="{FF2B5EF4-FFF2-40B4-BE49-F238E27FC236}">
                  <a16:creationId xmlns:a16="http://schemas.microsoft.com/office/drawing/2014/main" id="{79F4740F-ACCC-E34B-BDCA-488A62C4577B}"/>
                </a:ext>
              </a:extLst>
            </p:cNvPr>
            <p:cNvSpPr/>
            <p:nvPr/>
          </p:nvSpPr>
          <p:spPr>
            <a:xfrm>
              <a:off x="1411984" y="3543313"/>
              <a:ext cx="284254" cy="84366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边特征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49" name="Rounded Rectangle 3">
              <a:extLst>
                <a:ext uri="{FF2B5EF4-FFF2-40B4-BE49-F238E27FC236}">
                  <a16:creationId xmlns:a16="http://schemas.microsoft.com/office/drawing/2014/main" id="{E2891099-9552-E17D-03A1-57577C2DAF24}"/>
                </a:ext>
              </a:extLst>
            </p:cNvPr>
            <p:cNvSpPr/>
            <p:nvPr/>
          </p:nvSpPr>
          <p:spPr>
            <a:xfrm>
              <a:off x="1414536" y="4708559"/>
              <a:ext cx="281701" cy="1115960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空间特征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51" name="Rounded Rectangle 3">
              <a:extLst>
                <a:ext uri="{FF2B5EF4-FFF2-40B4-BE49-F238E27FC236}">
                  <a16:creationId xmlns:a16="http://schemas.microsoft.com/office/drawing/2014/main" id="{396E9EB1-9339-A459-F760-20250B034FA5}"/>
                </a:ext>
              </a:extLst>
            </p:cNvPr>
            <p:cNvSpPr/>
            <p:nvPr/>
          </p:nvSpPr>
          <p:spPr>
            <a:xfrm>
              <a:off x="3566535" y="1545458"/>
              <a:ext cx="879244" cy="260942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中心性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74" name="Rounded Rectangle 3">
              <a:extLst>
                <a:ext uri="{FF2B5EF4-FFF2-40B4-BE49-F238E27FC236}">
                  <a16:creationId xmlns:a16="http://schemas.microsoft.com/office/drawing/2014/main" id="{639F849F-6144-307A-7061-4817AB0EA169}"/>
                </a:ext>
              </a:extLst>
            </p:cNvPr>
            <p:cNvSpPr/>
            <p:nvPr/>
          </p:nvSpPr>
          <p:spPr>
            <a:xfrm>
              <a:off x="4602075" y="1545458"/>
              <a:ext cx="1119414" cy="260941"/>
            </a:xfrm>
            <a:prstGeom prst="roundRect">
              <a:avLst>
                <a:gd name="adj" fmla="val 0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节点特征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40" name="组合 239">
              <a:extLst>
                <a:ext uri="{FF2B5EF4-FFF2-40B4-BE49-F238E27FC236}">
                  <a16:creationId xmlns:a16="http://schemas.microsoft.com/office/drawing/2014/main" id="{AEAC5293-DF9A-AAE9-D6D2-07B51C605BC7}"/>
                </a:ext>
              </a:extLst>
            </p:cNvPr>
            <p:cNvGrpSpPr/>
            <p:nvPr/>
          </p:nvGrpSpPr>
          <p:grpSpPr>
            <a:xfrm>
              <a:off x="1909525" y="4699597"/>
              <a:ext cx="1131153" cy="1115966"/>
              <a:chOff x="4632634" y="5316684"/>
              <a:chExt cx="1131153" cy="1115966"/>
            </a:xfrm>
          </p:grpSpPr>
          <p:grpSp>
            <p:nvGrpSpPr>
              <p:cNvPr id="235" name="组合 234">
                <a:extLst>
                  <a:ext uri="{FF2B5EF4-FFF2-40B4-BE49-F238E27FC236}">
                    <a16:creationId xmlns:a16="http://schemas.microsoft.com/office/drawing/2014/main" id="{6D5AB966-EEE4-1510-1647-B71C03CC766D}"/>
                  </a:ext>
                </a:extLst>
              </p:cNvPr>
              <p:cNvGrpSpPr/>
              <p:nvPr/>
            </p:nvGrpSpPr>
            <p:grpSpPr>
              <a:xfrm>
                <a:off x="4632634" y="5316684"/>
                <a:ext cx="846766" cy="1115966"/>
                <a:chOff x="4632634" y="5316684"/>
                <a:chExt cx="846766" cy="1115966"/>
              </a:xfrm>
            </p:grpSpPr>
            <p:grpSp>
              <p:nvGrpSpPr>
                <p:cNvPr id="220" name="组合 219">
                  <a:extLst>
                    <a:ext uri="{FF2B5EF4-FFF2-40B4-BE49-F238E27FC236}">
                      <a16:creationId xmlns:a16="http://schemas.microsoft.com/office/drawing/2014/main" id="{30BCC63B-2E23-40E3-B36C-4C6DFCDECD12}"/>
                    </a:ext>
                  </a:extLst>
                </p:cNvPr>
                <p:cNvGrpSpPr/>
                <p:nvPr/>
              </p:nvGrpSpPr>
              <p:grpSpPr>
                <a:xfrm>
                  <a:off x="4632634" y="5316684"/>
                  <a:ext cx="846594" cy="843668"/>
                  <a:chOff x="5971707" y="5473335"/>
                  <a:chExt cx="680994" cy="678641"/>
                </a:xfrm>
              </p:grpSpPr>
              <p:sp>
                <p:nvSpPr>
                  <p:cNvPr id="221" name="矩形 220">
                    <a:extLst>
                      <a:ext uri="{FF2B5EF4-FFF2-40B4-BE49-F238E27FC236}">
                        <a16:creationId xmlns:a16="http://schemas.microsoft.com/office/drawing/2014/main" id="{9714F182-D793-BB89-C7FE-768CB9FE3CE9}"/>
                      </a:ext>
                    </a:extLst>
                  </p:cNvPr>
                  <p:cNvSpPr/>
                  <p:nvPr/>
                </p:nvSpPr>
                <p:spPr>
                  <a:xfrm>
                    <a:off x="5971707" y="5473337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2" name="矩形 221">
                    <a:extLst>
                      <a:ext uri="{FF2B5EF4-FFF2-40B4-BE49-F238E27FC236}">
                        <a16:creationId xmlns:a16="http://schemas.microsoft.com/office/drawing/2014/main" id="{0CA68217-5548-08FD-5940-591D32F9DF87}"/>
                      </a:ext>
                    </a:extLst>
                  </p:cNvPr>
                  <p:cNvSpPr/>
                  <p:nvPr/>
                </p:nvSpPr>
                <p:spPr>
                  <a:xfrm>
                    <a:off x="6201175" y="5473337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3" name="矩形 222">
                    <a:extLst>
                      <a:ext uri="{FF2B5EF4-FFF2-40B4-BE49-F238E27FC236}">
                        <a16:creationId xmlns:a16="http://schemas.microsoft.com/office/drawing/2014/main" id="{2A1F7ACD-7AA4-7F13-9C9A-05CBF1D9FAA2}"/>
                      </a:ext>
                    </a:extLst>
                  </p:cNvPr>
                  <p:cNvSpPr/>
                  <p:nvPr/>
                </p:nvSpPr>
                <p:spPr>
                  <a:xfrm>
                    <a:off x="6424754" y="5473335"/>
                    <a:ext cx="227516" cy="227516"/>
                  </a:xfrm>
                  <a:prstGeom prst="rect">
                    <a:avLst/>
                  </a:prstGeom>
                  <a:solidFill>
                    <a:schemeClr val="bg1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4" name="矩形 223">
                    <a:extLst>
                      <a:ext uri="{FF2B5EF4-FFF2-40B4-BE49-F238E27FC236}">
                        <a16:creationId xmlns:a16="http://schemas.microsoft.com/office/drawing/2014/main" id="{161630E5-1898-09A4-5E50-FFD1256A9565}"/>
                      </a:ext>
                    </a:extLst>
                  </p:cNvPr>
                  <p:cNvSpPr/>
                  <p:nvPr/>
                </p:nvSpPr>
                <p:spPr>
                  <a:xfrm>
                    <a:off x="5971707" y="5696944"/>
                    <a:ext cx="227516" cy="22751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5" name="矩形 224">
                    <a:extLst>
                      <a:ext uri="{FF2B5EF4-FFF2-40B4-BE49-F238E27FC236}">
                        <a16:creationId xmlns:a16="http://schemas.microsoft.com/office/drawing/2014/main" id="{EA4C6CB5-DE9C-04E6-402F-D3EA37A344F0}"/>
                      </a:ext>
                    </a:extLst>
                  </p:cNvPr>
                  <p:cNvSpPr/>
                  <p:nvPr/>
                </p:nvSpPr>
                <p:spPr>
                  <a:xfrm>
                    <a:off x="6201175" y="5696944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6" name="矩形 225">
                    <a:extLst>
                      <a:ext uri="{FF2B5EF4-FFF2-40B4-BE49-F238E27FC236}">
                        <a16:creationId xmlns:a16="http://schemas.microsoft.com/office/drawing/2014/main" id="{E2EFA711-A9A5-1D54-EADB-2622F68DE71E}"/>
                      </a:ext>
                    </a:extLst>
                  </p:cNvPr>
                  <p:cNvSpPr/>
                  <p:nvPr/>
                </p:nvSpPr>
                <p:spPr>
                  <a:xfrm>
                    <a:off x="6425185" y="5696944"/>
                    <a:ext cx="227516" cy="22751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7" name="矩形 226">
                    <a:extLst>
                      <a:ext uri="{FF2B5EF4-FFF2-40B4-BE49-F238E27FC236}">
                        <a16:creationId xmlns:a16="http://schemas.microsoft.com/office/drawing/2014/main" id="{5B722836-ED4E-1A7D-0E33-C2D1273E4DDC}"/>
                      </a:ext>
                    </a:extLst>
                  </p:cNvPr>
                  <p:cNvSpPr/>
                  <p:nvPr/>
                </p:nvSpPr>
                <p:spPr>
                  <a:xfrm>
                    <a:off x="5971707" y="5924460"/>
                    <a:ext cx="227516" cy="227516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8" name="矩形 227">
                    <a:extLst>
                      <a:ext uri="{FF2B5EF4-FFF2-40B4-BE49-F238E27FC236}">
                        <a16:creationId xmlns:a16="http://schemas.microsoft.com/office/drawing/2014/main" id="{F4DC5099-9347-00B9-8DA5-0B85DFA165B8}"/>
                      </a:ext>
                    </a:extLst>
                  </p:cNvPr>
                  <p:cNvSpPr/>
                  <p:nvPr/>
                </p:nvSpPr>
                <p:spPr>
                  <a:xfrm>
                    <a:off x="6201175" y="5924460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9" name="矩形 228">
                    <a:extLst>
                      <a:ext uri="{FF2B5EF4-FFF2-40B4-BE49-F238E27FC236}">
                        <a16:creationId xmlns:a16="http://schemas.microsoft.com/office/drawing/2014/main" id="{6C2E62B8-29B5-E378-8EAF-DA18D99A97C6}"/>
                      </a:ext>
                    </a:extLst>
                  </p:cNvPr>
                  <p:cNvSpPr/>
                  <p:nvPr/>
                </p:nvSpPr>
                <p:spPr>
                  <a:xfrm>
                    <a:off x="6425185" y="5924460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30" name="矩形 229">
                  <a:extLst>
                    <a:ext uri="{FF2B5EF4-FFF2-40B4-BE49-F238E27FC236}">
                      <a16:creationId xmlns:a16="http://schemas.microsoft.com/office/drawing/2014/main" id="{06A2E2F3-9350-5F99-94D9-873484A5CB05}"/>
                    </a:ext>
                  </a:extLst>
                </p:cNvPr>
                <p:cNvSpPr/>
                <p:nvPr/>
              </p:nvSpPr>
              <p:spPr>
                <a:xfrm>
                  <a:off x="4632806" y="6149808"/>
                  <a:ext cx="282842" cy="2828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1" name="矩形 230">
                  <a:extLst>
                    <a:ext uri="{FF2B5EF4-FFF2-40B4-BE49-F238E27FC236}">
                      <a16:creationId xmlns:a16="http://schemas.microsoft.com/office/drawing/2014/main" id="{CFF95FA5-EBC9-9429-4419-7A46B0566AE5}"/>
                    </a:ext>
                  </a:extLst>
                </p:cNvPr>
                <p:cNvSpPr/>
                <p:nvPr/>
              </p:nvSpPr>
              <p:spPr>
                <a:xfrm>
                  <a:off x="4918075" y="6149808"/>
                  <a:ext cx="282842" cy="282842"/>
                </a:xfrm>
                <a:prstGeom prst="rect">
                  <a:avLst/>
                </a:prstGeom>
                <a:solidFill>
                  <a:schemeClr val="bg1"/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2" name="矩形 231">
                  <a:extLst>
                    <a:ext uri="{FF2B5EF4-FFF2-40B4-BE49-F238E27FC236}">
                      <a16:creationId xmlns:a16="http://schemas.microsoft.com/office/drawing/2014/main" id="{A2DEA01F-0AE7-3CE4-2803-473AD01D70A0}"/>
                    </a:ext>
                  </a:extLst>
                </p:cNvPr>
                <p:cNvSpPr/>
                <p:nvPr/>
              </p:nvSpPr>
              <p:spPr>
                <a:xfrm>
                  <a:off x="5196558" y="6149808"/>
                  <a:ext cx="282842" cy="282842"/>
                </a:xfrm>
                <a:prstGeom prst="rect">
                  <a:avLst/>
                </a:prstGeom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36" name="矩形 235">
                <a:extLst>
                  <a:ext uri="{FF2B5EF4-FFF2-40B4-BE49-F238E27FC236}">
                    <a16:creationId xmlns:a16="http://schemas.microsoft.com/office/drawing/2014/main" id="{070C0AB2-52F7-01FA-08DD-4BE57644D231}"/>
                  </a:ext>
                </a:extLst>
              </p:cNvPr>
              <p:cNvSpPr/>
              <p:nvPr/>
            </p:nvSpPr>
            <p:spPr>
              <a:xfrm>
                <a:off x="5480773" y="5316688"/>
                <a:ext cx="282842" cy="282842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矩形 236">
                <a:extLst>
                  <a:ext uri="{FF2B5EF4-FFF2-40B4-BE49-F238E27FC236}">
                    <a16:creationId xmlns:a16="http://schemas.microsoft.com/office/drawing/2014/main" id="{6E7935F2-1206-8383-7C79-272F79487014}"/>
                  </a:ext>
                </a:extLst>
              </p:cNvPr>
              <p:cNvSpPr/>
              <p:nvPr/>
            </p:nvSpPr>
            <p:spPr>
              <a:xfrm>
                <a:off x="5480773" y="5594670"/>
                <a:ext cx="282842" cy="28284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4EEAC328-EAD3-0402-D490-3A04E0706210}"/>
                  </a:ext>
                </a:extLst>
              </p:cNvPr>
              <p:cNvSpPr/>
              <p:nvPr/>
            </p:nvSpPr>
            <p:spPr>
              <a:xfrm>
                <a:off x="5480773" y="5877512"/>
                <a:ext cx="282842" cy="2828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E10C308C-B816-28C8-C77F-37B656956BB0}"/>
                  </a:ext>
                </a:extLst>
              </p:cNvPr>
              <p:cNvSpPr/>
              <p:nvPr/>
            </p:nvSpPr>
            <p:spPr>
              <a:xfrm>
                <a:off x="5480945" y="6149806"/>
                <a:ext cx="282842" cy="282842"/>
              </a:xfrm>
              <a:prstGeom prst="rect">
                <a:avLst/>
              </a:prstGeom>
              <a:solidFill>
                <a:schemeClr val="bg2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1" name="组合 240">
              <a:extLst>
                <a:ext uri="{FF2B5EF4-FFF2-40B4-BE49-F238E27FC236}">
                  <a16:creationId xmlns:a16="http://schemas.microsoft.com/office/drawing/2014/main" id="{7F35AAA4-721C-7972-CC60-526304CCFCDB}"/>
                </a:ext>
              </a:extLst>
            </p:cNvPr>
            <p:cNvGrpSpPr/>
            <p:nvPr/>
          </p:nvGrpSpPr>
          <p:grpSpPr>
            <a:xfrm>
              <a:off x="1918416" y="3402040"/>
              <a:ext cx="1131153" cy="1115962"/>
              <a:chOff x="4632634" y="5316688"/>
              <a:chExt cx="1131153" cy="1115962"/>
            </a:xfrm>
          </p:grpSpPr>
          <p:grpSp>
            <p:nvGrpSpPr>
              <p:cNvPr id="242" name="组合 241">
                <a:extLst>
                  <a:ext uri="{FF2B5EF4-FFF2-40B4-BE49-F238E27FC236}">
                    <a16:creationId xmlns:a16="http://schemas.microsoft.com/office/drawing/2014/main" id="{318A822B-1F90-E172-045C-23A6534E92D3}"/>
                  </a:ext>
                </a:extLst>
              </p:cNvPr>
              <p:cNvGrpSpPr/>
              <p:nvPr/>
            </p:nvGrpSpPr>
            <p:grpSpPr>
              <a:xfrm>
                <a:off x="4632634" y="5316690"/>
                <a:ext cx="846766" cy="1115960"/>
                <a:chOff x="4632634" y="5316690"/>
                <a:chExt cx="846766" cy="1115960"/>
              </a:xfrm>
            </p:grpSpPr>
            <p:grpSp>
              <p:nvGrpSpPr>
                <p:cNvPr id="247" name="组合 246">
                  <a:extLst>
                    <a:ext uri="{FF2B5EF4-FFF2-40B4-BE49-F238E27FC236}">
                      <a16:creationId xmlns:a16="http://schemas.microsoft.com/office/drawing/2014/main" id="{6A95492D-E0EC-E9FB-E6F2-ADFF639454B6}"/>
                    </a:ext>
                  </a:extLst>
                </p:cNvPr>
                <p:cNvGrpSpPr/>
                <p:nvPr/>
              </p:nvGrpSpPr>
              <p:grpSpPr>
                <a:xfrm>
                  <a:off x="4632634" y="5316690"/>
                  <a:ext cx="846594" cy="843666"/>
                  <a:chOff x="5971707" y="5473337"/>
                  <a:chExt cx="680994" cy="678639"/>
                </a:xfrm>
              </p:grpSpPr>
              <p:sp>
                <p:nvSpPr>
                  <p:cNvPr id="251" name="矩形 250">
                    <a:extLst>
                      <a:ext uri="{FF2B5EF4-FFF2-40B4-BE49-F238E27FC236}">
                        <a16:creationId xmlns:a16="http://schemas.microsoft.com/office/drawing/2014/main" id="{323D49DF-6F3F-A93B-9485-BE9BE7707E75}"/>
                      </a:ext>
                    </a:extLst>
                  </p:cNvPr>
                  <p:cNvSpPr/>
                  <p:nvPr/>
                </p:nvSpPr>
                <p:spPr>
                  <a:xfrm>
                    <a:off x="5971707" y="5473337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矩形 251">
                    <a:extLst>
                      <a:ext uri="{FF2B5EF4-FFF2-40B4-BE49-F238E27FC236}">
                        <a16:creationId xmlns:a16="http://schemas.microsoft.com/office/drawing/2014/main" id="{139E405C-CC75-0FAF-2E30-F0E821AC3FF9}"/>
                      </a:ext>
                    </a:extLst>
                  </p:cNvPr>
                  <p:cNvSpPr/>
                  <p:nvPr/>
                </p:nvSpPr>
                <p:spPr>
                  <a:xfrm>
                    <a:off x="6201175" y="5473337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3" name="矩形 252">
                    <a:extLst>
                      <a:ext uri="{FF2B5EF4-FFF2-40B4-BE49-F238E27FC236}">
                        <a16:creationId xmlns:a16="http://schemas.microsoft.com/office/drawing/2014/main" id="{BFA8FA29-A0F7-F2DA-9D1A-F372B708EAB2}"/>
                      </a:ext>
                    </a:extLst>
                  </p:cNvPr>
                  <p:cNvSpPr/>
                  <p:nvPr/>
                </p:nvSpPr>
                <p:spPr>
                  <a:xfrm>
                    <a:off x="6425185" y="5473337"/>
                    <a:ext cx="227516" cy="22751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4" name="矩形 253">
                    <a:extLst>
                      <a:ext uri="{FF2B5EF4-FFF2-40B4-BE49-F238E27FC236}">
                        <a16:creationId xmlns:a16="http://schemas.microsoft.com/office/drawing/2014/main" id="{27003902-7249-419F-690C-6DE82068B201}"/>
                      </a:ext>
                    </a:extLst>
                  </p:cNvPr>
                  <p:cNvSpPr/>
                  <p:nvPr/>
                </p:nvSpPr>
                <p:spPr>
                  <a:xfrm>
                    <a:off x="5971707" y="5696944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5" name="矩形 254">
                    <a:extLst>
                      <a:ext uri="{FF2B5EF4-FFF2-40B4-BE49-F238E27FC236}">
                        <a16:creationId xmlns:a16="http://schemas.microsoft.com/office/drawing/2014/main" id="{0F672F3B-105E-7C46-5A5F-B5A834FD7C42}"/>
                      </a:ext>
                    </a:extLst>
                  </p:cNvPr>
                  <p:cNvSpPr/>
                  <p:nvPr/>
                </p:nvSpPr>
                <p:spPr>
                  <a:xfrm>
                    <a:off x="6201175" y="5696944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矩形 255">
                    <a:extLst>
                      <a:ext uri="{FF2B5EF4-FFF2-40B4-BE49-F238E27FC236}">
                        <a16:creationId xmlns:a16="http://schemas.microsoft.com/office/drawing/2014/main" id="{8005A3B6-B2A3-D15B-5724-06A9EB526704}"/>
                      </a:ext>
                    </a:extLst>
                  </p:cNvPr>
                  <p:cNvSpPr/>
                  <p:nvPr/>
                </p:nvSpPr>
                <p:spPr>
                  <a:xfrm>
                    <a:off x="6425185" y="5696944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矩形 256">
                    <a:extLst>
                      <a:ext uri="{FF2B5EF4-FFF2-40B4-BE49-F238E27FC236}">
                        <a16:creationId xmlns:a16="http://schemas.microsoft.com/office/drawing/2014/main" id="{E6ED09B0-9566-7A02-63BA-BB46E59D1BDC}"/>
                      </a:ext>
                    </a:extLst>
                  </p:cNvPr>
                  <p:cNvSpPr/>
                  <p:nvPr/>
                </p:nvSpPr>
                <p:spPr>
                  <a:xfrm>
                    <a:off x="5971707" y="5924460"/>
                    <a:ext cx="227516" cy="227516"/>
                  </a:xfrm>
                  <a:prstGeom prst="rect">
                    <a:avLst/>
                  </a:prstGeom>
                  <a:solidFill>
                    <a:schemeClr val="accent5">
                      <a:lumMod val="40000"/>
                      <a:lumOff val="60000"/>
                    </a:schemeClr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8" name="矩形 257">
                    <a:extLst>
                      <a:ext uri="{FF2B5EF4-FFF2-40B4-BE49-F238E27FC236}">
                        <a16:creationId xmlns:a16="http://schemas.microsoft.com/office/drawing/2014/main" id="{CF14C6CF-E2C0-FFFD-EE11-5A6C1F718E92}"/>
                      </a:ext>
                    </a:extLst>
                  </p:cNvPr>
                  <p:cNvSpPr/>
                  <p:nvPr/>
                </p:nvSpPr>
                <p:spPr>
                  <a:xfrm>
                    <a:off x="6201175" y="5924460"/>
                    <a:ext cx="227516" cy="227516"/>
                  </a:xfrm>
                  <a:prstGeom prst="rect">
                    <a:avLst/>
                  </a:prstGeom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" name="矩形 258">
                    <a:extLst>
                      <a:ext uri="{FF2B5EF4-FFF2-40B4-BE49-F238E27FC236}">
                        <a16:creationId xmlns:a16="http://schemas.microsoft.com/office/drawing/2014/main" id="{B18DD78E-2AD6-3A5A-CAE2-9BBBB5D350FA}"/>
                      </a:ext>
                    </a:extLst>
                  </p:cNvPr>
                  <p:cNvSpPr/>
                  <p:nvPr/>
                </p:nvSpPr>
                <p:spPr>
                  <a:xfrm>
                    <a:off x="6425185" y="5924460"/>
                    <a:ext cx="227516" cy="227516"/>
                  </a:xfrm>
                  <a:prstGeom prst="rect">
                    <a:avLst/>
                  </a:prstGeom>
                  <a:solidFill>
                    <a:schemeClr val="bg2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248" name="矩形 247">
                  <a:extLst>
                    <a:ext uri="{FF2B5EF4-FFF2-40B4-BE49-F238E27FC236}">
                      <a16:creationId xmlns:a16="http://schemas.microsoft.com/office/drawing/2014/main" id="{615BEDF1-B7A6-DA05-DA72-5BADCDEB0F88}"/>
                    </a:ext>
                  </a:extLst>
                </p:cNvPr>
                <p:cNvSpPr/>
                <p:nvPr/>
              </p:nvSpPr>
              <p:spPr>
                <a:xfrm>
                  <a:off x="4632806" y="6149808"/>
                  <a:ext cx="282842" cy="2828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9" name="矩形 248">
                  <a:extLst>
                    <a:ext uri="{FF2B5EF4-FFF2-40B4-BE49-F238E27FC236}">
                      <a16:creationId xmlns:a16="http://schemas.microsoft.com/office/drawing/2014/main" id="{98EF0A4C-9B2B-3287-ADB6-090A8DACFDA0}"/>
                    </a:ext>
                  </a:extLst>
                </p:cNvPr>
                <p:cNvSpPr/>
                <p:nvPr/>
              </p:nvSpPr>
              <p:spPr>
                <a:xfrm>
                  <a:off x="4918075" y="6149808"/>
                  <a:ext cx="282842" cy="282842"/>
                </a:xfrm>
                <a:prstGeom prst="rect">
                  <a:avLst/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0" name="矩形 249">
                  <a:extLst>
                    <a:ext uri="{FF2B5EF4-FFF2-40B4-BE49-F238E27FC236}">
                      <a16:creationId xmlns:a16="http://schemas.microsoft.com/office/drawing/2014/main" id="{06CA268A-F17E-FF90-AB29-6B9D6F440F66}"/>
                    </a:ext>
                  </a:extLst>
                </p:cNvPr>
                <p:cNvSpPr/>
                <p:nvPr/>
              </p:nvSpPr>
              <p:spPr>
                <a:xfrm>
                  <a:off x="5196558" y="6149808"/>
                  <a:ext cx="282842" cy="282842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158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3" name="矩形 242">
                <a:extLst>
                  <a:ext uri="{FF2B5EF4-FFF2-40B4-BE49-F238E27FC236}">
                    <a16:creationId xmlns:a16="http://schemas.microsoft.com/office/drawing/2014/main" id="{3B6E4F15-87F8-F635-DDDA-7ED3201BDD1D}"/>
                  </a:ext>
                </a:extLst>
              </p:cNvPr>
              <p:cNvSpPr/>
              <p:nvPr/>
            </p:nvSpPr>
            <p:spPr>
              <a:xfrm>
                <a:off x="5480773" y="5316688"/>
                <a:ext cx="282842" cy="2828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矩形 243">
                <a:extLst>
                  <a:ext uri="{FF2B5EF4-FFF2-40B4-BE49-F238E27FC236}">
                    <a16:creationId xmlns:a16="http://schemas.microsoft.com/office/drawing/2014/main" id="{9F2A83A3-F77F-ABC2-8F63-FBDDABFA044F}"/>
                  </a:ext>
                </a:extLst>
              </p:cNvPr>
              <p:cNvSpPr/>
              <p:nvPr/>
            </p:nvSpPr>
            <p:spPr>
              <a:xfrm>
                <a:off x="5480773" y="5594670"/>
                <a:ext cx="282842" cy="2828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5" name="矩形 244">
                <a:extLst>
                  <a:ext uri="{FF2B5EF4-FFF2-40B4-BE49-F238E27FC236}">
                    <a16:creationId xmlns:a16="http://schemas.microsoft.com/office/drawing/2014/main" id="{48EA605F-4130-AEAF-614A-9BEB8F78DE85}"/>
                  </a:ext>
                </a:extLst>
              </p:cNvPr>
              <p:cNvSpPr/>
              <p:nvPr/>
            </p:nvSpPr>
            <p:spPr>
              <a:xfrm>
                <a:off x="5480773" y="5877512"/>
                <a:ext cx="282842" cy="282842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矩形 245">
                <a:extLst>
                  <a:ext uri="{FF2B5EF4-FFF2-40B4-BE49-F238E27FC236}">
                    <a16:creationId xmlns:a16="http://schemas.microsoft.com/office/drawing/2014/main" id="{8F91B077-D7C4-054A-E374-445345C9C670}"/>
                  </a:ext>
                </a:extLst>
              </p:cNvPr>
              <p:cNvSpPr/>
              <p:nvPr/>
            </p:nvSpPr>
            <p:spPr>
              <a:xfrm>
                <a:off x="5480945" y="6149806"/>
                <a:ext cx="282842" cy="282842"/>
              </a:xfrm>
              <a:prstGeom prst="rect">
                <a:avLst/>
              </a:prstGeom>
              <a:solidFill>
                <a:schemeClr val="bg2"/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9" name="组合 458">
              <a:extLst>
                <a:ext uri="{FF2B5EF4-FFF2-40B4-BE49-F238E27FC236}">
                  <a16:creationId xmlns:a16="http://schemas.microsoft.com/office/drawing/2014/main" id="{FE33AFCF-A998-044F-7821-6C3B4272CDBD}"/>
                </a:ext>
              </a:extLst>
            </p:cNvPr>
            <p:cNvGrpSpPr/>
            <p:nvPr/>
          </p:nvGrpSpPr>
          <p:grpSpPr>
            <a:xfrm>
              <a:off x="3437224" y="2332745"/>
              <a:ext cx="2435965" cy="3581561"/>
              <a:chOff x="4593550" y="1147715"/>
              <a:chExt cx="2435965" cy="3581561"/>
            </a:xfrm>
          </p:grpSpPr>
          <p:sp>
            <p:nvSpPr>
              <p:cNvPr id="444" name="Rectangle 109">
                <a:extLst>
                  <a:ext uri="{FF2B5EF4-FFF2-40B4-BE49-F238E27FC236}">
                    <a16:creationId xmlns:a16="http://schemas.microsoft.com/office/drawing/2014/main" id="{33DF9247-AB11-55AC-D852-09A87CDD7210}"/>
                  </a:ext>
                </a:extLst>
              </p:cNvPr>
              <p:cNvSpPr/>
              <p:nvPr/>
            </p:nvSpPr>
            <p:spPr>
              <a:xfrm>
                <a:off x="4593550" y="1147715"/>
                <a:ext cx="2435965" cy="3581561"/>
              </a:xfrm>
              <a:prstGeom prst="roundRect">
                <a:avLst>
                  <a:gd name="adj" fmla="val 2827"/>
                </a:avLst>
              </a:prstGeom>
              <a:solidFill>
                <a:schemeClr val="accent3">
                  <a:lumMod val="40000"/>
                  <a:lumOff val="60000"/>
                </a:schemeClr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54" name="组合 153">
                <a:extLst>
                  <a:ext uri="{FF2B5EF4-FFF2-40B4-BE49-F238E27FC236}">
                    <a16:creationId xmlns:a16="http://schemas.microsoft.com/office/drawing/2014/main" id="{311E2EF9-F220-9AC1-FA2D-F2A74B3B4BD8}"/>
                  </a:ext>
                </a:extLst>
              </p:cNvPr>
              <p:cNvGrpSpPr/>
              <p:nvPr/>
            </p:nvGrpSpPr>
            <p:grpSpPr>
              <a:xfrm>
                <a:off x="4768619" y="1498147"/>
                <a:ext cx="1788116" cy="300810"/>
                <a:chOff x="5598521" y="2804802"/>
                <a:chExt cx="1788116" cy="300810"/>
              </a:xfrm>
            </p:grpSpPr>
            <p:sp>
              <p:nvSpPr>
                <p:cNvPr id="141" name="Rounded Rectangle 3">
                  <a:extLst>
                    <a:ext uri="{FF2B5EF4-FFF2-40B4-BE49-F238E27FC236}">
                      <a16:creationId xmlns:a16="http://schemas.microsoft.com/office/drawing/2014/main" id="{973A3A79-910C-19DD-4660-F685BF0712A4}"/>
                    </a:ext>
                  </a:extLst>
                </p:cNvPr>
                <p:cNvSpPr/>
                <p:nvPr/>
              </p:nvSpPr>
              <p:spPr>
                <a:xfrm>
                  <a:off x="5598521" y="2804802"/>
                  <a:ext cx="312591" cy="29904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2">
                    <a:lumMod val="40000"/>
                    <a:lumOff val="60000"/>
                    <a:alpha val="8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Q</a:t>
                  </a:r>
                  <a:endPara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" name="Rounded Rectangle 3">
                  <a:extLst>
                    <a:ext uri="{FF2B5EF4-FFF2-40B4-BE49-F238E27FC236}">
                      <a16:creationId xmlns:a16="http://schemas.microsoft.com/office/drawing/2014/main" id="{D2BEAF58-DFAC-97D0-8488-1A3E3B9F15C6}"/>
                    </a:ext>
                  </a:extLst>
                </p:cNvPr>
                <p:cNvSpPr/>
                <p:nvPr/>
              </p:nvSpPr>
              <p:spPr>
                <a:xfrm>
                  <a:off x="6312519" y="2804802"/>
                  <a:ext cx="312591" cy="29904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2">
                    <a:lumMod val="40000"/>
                    <a:lumOff val="60000"/>
                    <a:alpha val="8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K</a:t>
                  </a:r>
                  <a:endPara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" name="Rounded Rectangle 3">
                  <a:extLst>
                    <a:ext uri="{FF2B5EF4-FFF2-40B4-BE49-F238E27FC236}">
                      <a16:creationId xmlns:a16="http://schemas.microsoft.com/office/drawing/2014/main" id="{F826F624-C6F7-3B36-5877-661289D909D0}"/>
                    </a:ext>
                  </a:extLst>
                </p:cNvPr>
                <p:cNvSpPr/>
                <p:nvPr/>
              </p:nvSpPr>
              <p:spPr>
                <a:xfrm>
                  <a:off x="7074046" y="2806563"/>
                  <a:ext cx="312591" cy="299049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tx2">
                    <a:lumMod val="40000"/>
                    <a:lumOff val="60000"/>
                    <a:alpha val="8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FangSong_GB2312" panose="02010609030101010101" pitchFamily="49" charset="-122"/>
                      <a:cs typeface="Times New Roman" panose="02020603050405020304" pitchFamily="18" charset="0"/>
                    </a:rPr>
                    <a:t>V</a:t>
                  </a:r>
                </a:p>
              </p:txBody>
            </p:sp>
          </p:grpSp>
          <p:sp>
            <p:nvSpPr>
              <p:cNvPr id="155" name="Rounded Rectangle 3">
                <a:extLst>
                  <a:ext uri="{FF2B5EF4-FFF2-40B4-BE49-F238E27FC236}">
                    <a16:creationId xmlns:a16="http://schemas.microsoft.com/office/drawing/2014/main" id="{DEF5AE00-740E-F3A0-6D2F-68EDBFE520FE}"/>
                  </a:ext>
                </a:extLst>
              </p:cNvPr>
              <p:cNvSpPr/>
              <p:nvPr/>
            </p:nvSpPr>
            <p:spPr>
              <a:xfrm>
                <a:off x="4763026" y="2004668"/>
                <a:ext cx="1028535" cy="291994"/>
              </a:xfrm>
              <a:prstGeom prst="roundRect">
                <a:avLst>
                  <a:gd name="adj" fmla="val 17398"/>
                </a:avLst>
              </a:prstGeom>
              <a:solidFill>
                <a:schemeClr val="accent5">
                  <a:lumMod val="40000"/>
                  <a:lumOff val="60000"/>
                  <a:alpha val="8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MatMul</a:t>
                </a:r>
                <a:endParaRPr 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8" name="Straight Arrow Connector 260">
                <a:extLst>
                  <a:ext uri="{FF2B5EF4-FFF2-40B4-BE49-F238E27FC236}">
                    <a16:creationId xmlns:a16="http://schemas.microsoft.com/office/drawing/2014/main" id="{93B8E850-A880-DD44-5B96-4C7A4F84DB75}"/>
                  </a:ext>
                </a:extLst>
              </p:cNvPr>
              <p:cNvCxnSpPr>
                <a:cxnSpLocks/>
                <a:stCxn id="141" idx="2"/>
              </p:cNvCxnSpPr>
              <p:nvPr/>
            </p:nvCxnSpPr>
            <p:spPr>
              <a:xfrm>
                <a:off x="4924915" y="1797196"/>
                <a:ext cx="0" cy="20571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Arrow Connector 260">
                <a:extLst>
                  <a:ext uri="{FF2B5EF4-FFF2-40B4-BE49-F238E27FC236}">
                    <a16:creationId xmlns:a16="http://schemas.microsoft.com/office/drawing/2014/main" id="{7EE4BC98-9EFD-7B7B-3999-DDBE3EF7D199}"/>
                  </a:ext>
                </a:extLst>
              </p:cNvPr>
              <p:cNvCxnSpPr>
                <a:cxnSpLocks/>
                <a:stCxn id="144" idx="2"/>
              </p:cNvCxnSpPr>
              <p:nvPr/>
            </p:nvCxnSpPr>
            <p:spPr>
              <a:xfrm>
                <a:off x="5638913" y="1797196"/>
                <a:ext cx="0" cy="184004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Rounded Rectangle 3">
                <a:extLst>
                  <a:ext uri="{FF2B5EF4-FFF2-40B4-BE49-F238E27FC236}">
                    <a16:creationId xmlns:a16="http://schemas.microsoft.com/office/drawing/2014/main" id="{4376E7A3-38BC-34BE-A623-9CD3489F94B1}"/>
                  </a:ext>
                </a:extLst>
              </p:cNvPr>
              <p:cNvSpPr/>
              <p:nvPr/>
            </p:nvSpPr>
            <p:spPr>
              <a:xfrm>
                <a:off x="4763026" y="2477615"/>
                <a:ext cx="1030388" cy="291994"/>
              </a:xfrm>
              <a:prstGeom prst="roundRect">
                <a:avLst>
                  <a:gd name="adj" fmla="val 13669"/>
                </a:avLst>
              </a:prstGeom>
              <a:solidFill>
                <a:schemeClr val="accent2">
                  <a:lumMod val="40000"/>
                  <a:lumOff val="60000"/>
                  <a:alpha val="8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cale</a:t>
                </a:r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8" name="Rounded Rectangle 3">
                <a:extLst>
                  <a:ext uri="{FF2B5EF4-FFF2-40B4-BE49-F238E27FC236}">
                    <a16:creationId xmlns:a16="http://schemas.microsoft.com/office/drawing/2014/main" id="{EC3BF895-C187-96E9-043C-95D97E96CFED}"/>
                  </a:ext>
                </a:extLst>
              </p:cNvPr>
              <p:cNvSpPr/>
              <p:nvPr/>
            </p:nvSpPr>
            <p:spPr>
              <a:xfrm>
                <a:off x="4779877" y="4159600"/>
                <a:ext cx="1776858" cy="29199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  <a:alpha val="8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MatMul</a:t>
                </a:r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9" name="Straight Arrow Connector 260">
                <a:extLst>
                  <a:ext uri="{FF2B5EF4-FFF2-40B4-BE49-F238E27FC236}">
                    <a16:creationId xmlns:a16="http://schemas.microsoft.com/office/drawing/2014/main" id="{6E415FD4-03BE-5CC1-76A7-BF931CBC52D3}"/>
                  </a:ext>
                </a:extLst>
              </p:cNvPr>
              <p:cNvCxnSpPr>
                <a:cxnSpLocks/>
                <a:stCxn id="145" idx="2"/>
              </p:cNvCxnSpPr>
              <p:nvPr/>
            </p:nvCxnSpPr>
            <p:spPr>
              <a:xfrm>
                <a:off x="6400440" y="1798957"/>
                <a:ext cx="0" cy="236064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484327C0-B2FE-6638-589A-C5D7933EF854}"/>
                  </a:ext>
                </a:extLst>
              </p:cNvPr>
              <p:cNvSpPr/>
              <p:nvPr/>
            </p:nvSpPr>
            <p:spPr>
              <a:xfrm>
                <a:off x="5170607" y="2943257"/>
                <a:ext cx="222548" cy="222548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0" tIns="0" rIns="0" bIns="36000" rtlCol="0" anchor="ctr" anchorCtr="1"/>
              <a:lstStyle/>
              <a:p>
                <a:pPr algn="ctr"/>
                <a:r>
                  <a:rPr lang="en-US" sz="3200" dirty="0"/>
                  <a:t>+</a:t>
                </a:r>
              </a:p>
            </p:txBody>
          </p:sp>
          <p:sp>
            <p:nvSpPr>
              <p:cNvPr id="204" name="Rounded Rectangle 3">
                <a:extLst>
                  <a:ext uri="{FF2B5EF4-FFF2-40B4-BE49-F238E27FC236}">
                    <a16:creationId xmlns:a16="http://schemas.microsoft.com/office/drawing/2014/main" id="{A21DC30F-E150-28C8-4B9D-EB0B025FBC4D}"/>
                  </a:ext>
                </a:extLst>
              </p:cNvPr>
              <p:cNvSpPr/>
              <p:nvPr/>
            </p:nvSpPr>
            <p:spPr>
              <a:xfrm>
                <a:off x="4766687" y="3430940"/>
                <a:ext cx="1030388" cy="291994"/>
              </a:xfrm>
              <a:prstGeom prst="roundRect">
                <a:avLst>
                  <a:gd name="adj" fmla="val 11930"/>
                </a:avLst>
              </a:prstGeom>
              <a:solidFill>
                <a:schemeClr val="accent4">
                  <a:lumMod val="40000"/>
                  <a:lumOff val="60000"/>
                  <a:alpha val="89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S</a:t>
                </a:r>
                <a:r>
                  <a:rPr lang="en-US" altLang="zh-CN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oftmax</a:t>
                </a:r>
                <a:endParaRPr 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05" name="Straight Arrow Connector 260">
                <a:extLst>
                  <a:ext uri="{FF2B5EF4-FFF2-40B4-BE49-F238E27FC236}">
                    <a16:creationId xmlns:a16="http://schemas.microsoft.com/office/drawing/2014/main" id="{45DB4621-AA98-D2C0-B025-C2A038C77750}"/>
                  </a:ext>
                </a:extLst>
              </p:cNvPr>
              <p:cNvCxnSpPr>
                <a:cxnSpLocks/>
                <a:stCxn id="204" idx="2"/>
              </p:cNvCxnSpPr>
              <p:nvPr/>
            </p:nvCxnSpPr>
            <p:spPr>
              <a:xfrm>
                <a:off x="5281881" y="3722934"/>
                <a:ext cx="0" cy="436666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260">
                <a:extLst>
                  <a:ext uri="{FF2B5EF4-FFF2-40B4-BE49-F238E27FC236}">
                    <a16:creationId xmlns:a16="http://schemas.microsoft.com/office/drawing/2014/main" id="{44723D93-17DC-5610-C2AF-E47D69186704}"/>
                  </a:ext>
                </a:extLst>
              </p:cNvPr>
              <p:cNvCxnSpPr>
                <a:cxnSpLocks/>
                <a:stCxn id="155" idx="2"/>
                <a:endCxn id="166" idx="0"/>
              </p:cNvCxnSpPr>
              <p:nvPr/>
            </p:nvCxnSpPr>
            <p:spPr>
              <a:xfrm>
                <a:off x="5277294" y="2296662"/>
                <a:ext cx="926" cy="180953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260">
                <a:extLst>
                  <a:ext uri="{FF2B5EF4-FFF2-40B4-BE49-F238E27FC236}">
                    <a16:creationId xmlns:a16="http://schemas.microsoft.com/office/drawing/2014/main" id="{B0E92043-CC6F-8D57-FB80-88FF2A91E30C}"/>
                  </a:ext>
                </a:extLst>
              </p:cNvPr>
              <p:cNvCxnSpPr>
                <a:cxnSpLocks/>
                <a:stCxn id="166" idx="2"/>
                <a:endCxn id="203" idx="0"/>
              </p:cNvCxnSpPr>
              <p:nvPr/>
            </p:nvCxnSpPr>
            <p:spPr>
              <a:xfrm>
                <a:off x="5278220" y="2769609"/>
                <a:ext cx="3661" cy="173648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Arrow Connector 260">
              <a:extLst>
                <a:ext uri="{FF2B5EF4-FFF2-40B4-BE49-F238E27FC236}">
                  <a16:creationId xmlns:a16="http://schemas.microsoft.com/office/drawing/2014/main" id="{BC46B7FB-5ABB-8BFD-1C01-CDAA2DE65DB7}"/>
                </a:ext>
              </a:extLst>
            </p:cNvPr>
            <p:cNvCxnSpPr>
              <a:cxnSpLocks/>
              <a:stCxn id="203" idx="4"/>
              <a:endCxn id="204" idx="0"/>
            </p:cNvCxnSpPr>
            <p:nvPr/>
          </p:nvCxnSpPr>
          <p:spPr>
            <a:xfrm>
              <a:off x="4125555" y="4350835"/>
              <a:ext cx="0" cy="265135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连接符: 肘形 145">
              <a:extLst>
                <a:ext uri="{FF2B5EF4-FFF2-40B4-BE49-F238E27FC236}">
                  <a16:creationId xmlns:a16="http://schemas.microsoft.com/office/drawing/2014/main" id="{D24EB34E-C2AC-BC93-860C-6B9ACB007946}"/>
                </a:ext>
              </a:extLst>
            </p:cNvPr>
            <p:cNvCxnSpPr>
              <a:cxnSpLocks/>
              <a:stCxn id="285" idx="2"/>
              <a:endCxn id="141" idx="0"/>
            </p:cNvCxnSpPr>
            <p:nvPr/>
          </p:nvCxnSpPr>
          <p:spPr>
            <a:xfrm rot="5400000">
              <a:off x="3620080" y="2301711"/>
              <a:ext cx="529975" cy="232956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连接符: 肘形 155">
              <a:extLst>
                <a:ext uri="{FF2B5EF4-FFF2-40B4-BE49-F238E27FC236}">
                  <a16:creationId xmlns:a16="http://schemas.microsoft.com/office/drawing/2014/main" id="{679DCE8A-0117-1937-3E20-56159EED739D}"/>
                </a:ext>
              </a:extLst>
            </p:cNvPr>
            <p:cNvCxnSpPr>
              <a:cxnSpLocks/>
              <a:stCxn id="214" idx="3"/>
              <a:endCxn id="144" idx="0"/>
            </p:cNvCxnSpPr>
            <p:nvPr/>
          </p:nvCxnSpPr>
          <p:spPr>
            <a:xfrm flipH="1">
              <a:off x="4482587" y="2010223"/>
              <a:ext cx="683731" cy="672954"/>
            </a:xfrm>
            <a:prstGeom prst="bentConnector4">
              <a:avLst>
                <a:gd name="adj1" fmla="val 796"/>
                <a:gd name="adj2" fmla="val 6070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连接符: 肘形 159">
              <a:extLst>
                <a:ext uri="{FF2B5EF4-FFF2-40B4-BE49-F238E27FC236}">
                  <a16:creationId xmlns:a16="http://schemas.microsoft.com/office/drawing/2014/main" id="{022DC2E6-2F8D-DC34-41AB-501ADF24DD5D}"/>
                </a:ext>
              </a:extLst>
            </p:cNvPr>
            <p:cNvCxnSpPr>
              <a:cxnSpLocks/>
              <a:stCxn id="215" idx="1"/>
              <a:endCxn id="145" idx="0"/>
            </p:cNvCxnSpPr>
            <p:nvPr/>
          </p:nvCxnSpPr>
          <p:spPr>
            <a:xfrm rot="10800000" flipH="1" flipV="1">
              <a:off x="5161958" y="2010222"/>
              <a:ext cx="82155" cy="674715"/>
            </a:xfrm>
            <a:prstGeom prst="bentConnector4">
              <a:avLst>
                <a:gd name="adj1" fmla="val -4969"/>
                <a:gd name="adj2" fmla="val 6048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连接符: 肘形 163">
              <a:extLst>
                <a:ext uri="{FF2B5EF4-FFF2-40B4-BE49-F238E27FC236}">
                  <a16:creationId xmlns:a16="http://schemas.microsoft.com/office/drawing/2014/main" id="{5376EC13-1E93-6CC5-9B1C-209DC7E472BB}"/>
                </a:ext>
              </a:extLst>
            </p:cNvPr>
            <p:cNvCxnSpPr>
              <a:cxnSpLocks/>
              <a:stCxn id="285" idx="2"/>
              <a:endCxn id="144" idx="0"/>
            </p:cNvCxnSpPr>
            <p:nvPr/>
          </p:nvCxnSpPr>
          <p:spPr>
            <a:xfrm rot="16200000" flipH="1">
              <a:off x="3977079" y="2177668"/>
              <a:ext cx="529975" cy="481042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连接符: 肘形 184">
              <a:extLst>
                <a:ext uri="{FF2B5EF4-FFF2-40B4-BE49-F238E27FC236}">
                  <a16:creationId xmlns:a16="http://schemas.microsoft.com/office/drawing/2014/main" id="{467202E9-1A37-1587-C0F3-02323CA81F80}"/>
                </a:ext>
              </a:extLst>
            </p:cNvPr>
            <p:cNvCxnSpPr>
              <a:cxnSpLocks/>
              <a:stCxn id="245" idx="0"/>
              <a:endCxn id="203" idx="2"/>
            </p:cNvCxnSpPr>
            <p:nvPr/>
          </p:nvCxnSpPr>
          <p:spPr>
            <a:xfrm rot="16200000" flipH="1">
              <a:off x="3322779" y="3548060"/>
              <a:ext cx="276697" cy="1106305"/>
            </a:xfrm>
            <a:prstGeom prst="bentConnector4">
              <a:avLst>
                <a:gd name="adj1" fmla="val 164"/>
                <a:gd name="adj2" fmla="val 3991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连接符: 肘形 194">
              <a:extLst>
                <a:ext uri="{FF2B5EF4-FFF2-40B4-BE49-F238E27FC236}">
                  <a16:creationId xmlns:a16="http://schemas.microsoft.com/office/drawing/2014/main" id="{58F250A1-07EA-D813-A2C1-81648FCBB150}"/>
                </a:ext>
              </a:extLst>
            </p:cNvPr>
            <p:cNvCxnSpPr>
              <a:cxnSpLocks/>
              <a:stCxn id="237" idx="2"/>
              <a:endCxn id="203" idx="2"/>
            </p:cNvCxnSpPr>
            <p:nvPr/>
          </p:nvCxnSpPr>
          <p:spPr>
            <a:xfrm rot="5400000" flipH="1" flipV="1">
              <a:off x="2946251" y="4192395"/>
              <a:ext cx="1020864" cy="1115196"/>
            </a:xfrm>
            <a:prstGeom prst="bentConnector4">
              <a:avLst>
                <a:gd name="adj1" fmla="val 134"/>
                <a:gd name="adj2" fmla="val 4047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组合 216">
              <a:extLst>
                <a:ext uri="{FF2B5EF4-FFF2-40B4-BE49-F238E27FC236}">
                  <a16:creationId xmlns:a16="http://schemas.microsoft.com/office/drawing/2014/main" id="{E473C4DB-C8A5-B3ED-9F29-FF82894B1724}"/>
                </a:ext>
              </a:extLst>
            </p:cNvPr>
            <p:cNvGrpSpPr/>
            <p:nvPr/>
          </p:nvGrpSpPr>
          <p:grpSpPr>
            <a:xfrm>
              <a:off x="4598207" y="1868800"/>
              <a:ext cx="1130981" cy="282844"/>
              <a:chOff x="8498227" y="2494992"/>
              <a:chExt cx="1130981" cy="282844"/>
            </a:xfrm>
          </p:grpSpPr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61CA6F63-5A42-F6E7-BE7F-90A69C2F18E9}"/>
                  </a:ext>
                </a:extLst>
              </p:cNvPr>
              <p:cNvSpPr/>
              <p:nvPr/>
            </p:nvSpPr>
            <p:spPr>
              <a:xfrm>
                <a:off x="8498227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A8830880-DA3F-9144-A79C-81D6ED5E5ADF}"/>
                  </a:ext>
                </a:extLst>
              </p:cNvPr>
              <p:cNvSpPr/>
              <p:nvPr/>
            </p:nvSpPr>
            <p:spPr>
              <a:xfrm>
                <a:off x="8783496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33523807-2F2C-B854-902E-182B1157F9F4}"/>
                  </a:ext>
                </a:extLst>
              </p:cNvPr>
              <p:cNvSpPr/>
              <p:nvPr/>
            </p:nvSpPr>
            <p:spPr>
              <a:xfrm>
                <a:off x="9061979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C9F4F7A-6543-33A6-D7D6-0A99F130FA93}"/>
                  </a:ext>
                </a:extLst>
              </p:cNvPr>
              <p:cNvSpPr/>
              <p:nvPr/>
            </p:nvSpPr>
            <p:spPr>
              <a:xfrm>
                <a:off x="9346366" y="2494992"/>
                <a:ext cx="282842" cy="282842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E2151B35-AE59-4E25-0822-ED9B702C2A78}"/>
                </a:ext>
              </a:extLst>
            </p:cNvPr>
            <p:cNvGrpSpPr/>
            <p:nvPr/>
          </p:nvGrpSpPr>
          <p:grpSpPr>
            <a:xfrm>
              <a:off x="3574855" y="1870360"/>
              <a:ext cx="846594" cy="282842"/>
              <a:chOff x="8498227" y="2494994"/>
              <a:chExt cx="846594" cy="282842"/>
            </a:xfrm>
          </p:grpSpPr>
          <p:sp>
            <p:nvSpPr>
              <p:cNvPr id="284" name="矩形 283">
                <a:extLst>
                  <a:ext uri="{FF2B5EF4-FFF2-40B4-BE49-F238E27FC236}">
                    <a16:creationId xmlns:a16="http://schemas.microsoft.com/office/drawing/2014/main" id="{09BB8D00-0C70-8852-3269-13F61B4C0583}"/>
                  </a:ext>
                </a:extLst>
              </p:cNvPr>
              <p:cNvSpPr/>
              <p:nvPr/>
            </p:nvSpPr>
            <p:spPr>
              <a:xfrm>
                <a:off x="8498227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矩形 284">
                <a:extLst>
                  <a:ext uri="{FF2B5EF4-FFF2-40B4-BE49-F238E27FC236}">
                    <a16:creationId xmlns:a16="http://schemas.microsoft.com/office/drawing/2014/main" id="{943D8554-24F6-10CF-6EDF-660846D60B9C}"/>
                  </a:ext>
                </a:extLst>
              </p:cNvPr>
              <p:cNvSpPr/>
              <p:nvPr/>
            </p:nvSpPr>
            <p:spPr>
              <a:xfrm>
                <a:off x="8783496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6" name="矩形 285">
                <a:extLst>
                  <a:ext uri="{FF2B5EF4-FFF2-40B4-BE49-F238E27FC236}">
                    <a16:creationId xmlns:a16="http://schemas.microsoft.com/office/drawing/2014/main" id="{4AAA2D1B-C604-C90D-F9E1-934417ADBA24}"/>
                  </a:ext>
                </a:extLst>
              </p:cNvPr>
              <p:cNvSpPr/>
              <p:nvPr/>
            </p:nvSpPr>
            <p:spPr>
              <a:xfrm>
                <a:off x="9061979" y="2494994"/>
                <a:ext cx="282842" cy="282842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158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4" name="Group 108">
              <a:extLst>
                <a:ext uri="{FF2B5EF4-FFF2-40B4-BE49-F238E27FC236}">
                  <a16:creationId xmlns:a16="http://schemas.microsoft.com/office/drawing/2014/main" id="{35B2A00D-25EA-F524-65F5-D0A28A1002B0}"/>
                </a:ext>
              </a:extLst>
            </p:cNvPr>
            <p:cNvGrpSpPr/>
            <p:nvPr/>
          </p:nvGrpSpPr>
          <p:grpSpPr>
            <a:xfrm>
              <a:off x="1314324" y="1542189"/>
              <a:ext cx="1578105" cy="1258075"/>
              <a:chOff x="5167598" y="2360087"/>
              <a:chExt cx="4341663" cy="3461200"/>
            </a:xfrm>
          </p:grpSpPr>
          <p:sp>
            <p:nvSpPr>
              <p:cNvPr id="335" name="Oval 111">
                <a:extLst>
                  <a:ext uri="{FF2B5EF4-FFF2-40B4-BE49-F238E27FC236}">
                    <a16:creationId xmlns:a16="http://schemas.microsoft.com/office/drawing/2014/main" id="{8C7FF282-8397-DBAA-DF9B-F5976054C60A}"/>
                  </a:ext>
                </a:extLst>
              </p:cNvPr>
              <p:cNvSpPr/>
              <p:nvPr/>
            </p:nvSpPr>
            <p:spPr>
              <a:xfrm>
                <a:off x="6473821" y="4040317"/>
                <a:ext cx="381794" cy="381794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6" name="Oval 112">
                <a:extLst>
                  <a:ext uri="{FF2B5EF4-FFF2-40B4-BE49-F238E27FC236}">
                    <a16:creationId xmlns:a16="http://schemas.microsoft.com/office/drawing/2014/main" id="{0B337ADA-22C2-ACA5-A4FD-00F3A6650A11}"/>
                  </a:ext>
                </a:extLst>
              </p:cNvPr>
              <p:cNvSpPr/>
              <p:nvPr/>
            </p:nvSpPr>
            <p:spPr>
              <a:xfrm>
                <a:off x="7410050" y="4231214"/>
                <a:ext cx="280628" cy="280628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7" name="Oval 113">
                <a:extLst>
                  <a:ext uri="{FF2B5EF4-FFF2-40B4-BE49-F238E27FC236}">
                    <a16:creationId xmlns:a16="http://schemas.microsoft.com/office/drawing/2014/main" id="{5AD10864-0A18-EB28-38BB-F8E1B510F4F8}"/>
                  </a:ext>
                </a:extLst>
              </p:cNvPr>
              <p:cNvSpPr/>
              <p:nvPr/>
            </p:nvSpPr>
            <p:spPr>
              <a:xfrm>
                <a:off x="8221049" y="3789260"/>
                <a:ext cx="381794" cy="381794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8" name="Oval 114">
                <a:extLst>
                  <a:ext uri="{FF2B5EF4-FFF2-40B4-BE49-F238E27FC236}">
                    <a16:creationId xmlns:a16="http://schemas.microsoft.com/office/drawing/2014/main" id="{E7185FFD-26CA-6588-713F-D45974329572}"/>
                  </a:ext>
                </a:extLst>
              </p:cNvPr>
              <p:cNvSpPr/>
              <p:nvPr/>
            </p:nvSpPr>
            <p:spPr>
              <a:xfrm>
                <a:off x="6590532" y="3046863"/>
                <a:ext cx="530166" cy="530166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Oval 115">
                <a:extLst>
                  <a:ext uri="{FF2B5EF4-FFF2-40B4-BE49-F238E27FC236}">
                    <a16:creationId xmlns:a16="http://schemas.microsoft.com/office/drawing/2014/main" id="{E669278A-17FB-D1D7-EF47-8BB190E9F9D7}"/>
                  </a:ext>
                </a:extLst>
              </p:cNvPr>
              <p:cNvSpPr/>
              <p:nvPr/>
            </p:nvSpPr>
            <p:spPr>
              <a:xfrm>
                <a:off x="6938525" y="5349761"/>
                <a:ext cx="471526" cy="471526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0" name="Oval 116">
                <a:extLst>
                  <a:ext uri="{FF2B5EF4-FFF2-40B4-BE49-F238E27FC236}">
                    <a16:creationId xmlns:a16="http://schemas.microsoft.com/office/drawing/2014/main" id="{3FC78B40-CD45-5674-598D-3A1D01079C63}"/>
                  </a:ext>
                </a:extLst>
              </p:cNvPr>
              <p:cNvSpPr/>
              <p:nvPr/>
            </p:nvSpPr>
            <p:spPr>
              <a:xfrm>
                <a:off x="8438997" y="2707105"/>
                <a:ext cx="381794" cy="381794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1" name="Oval 118">
                <a:extLst>
                  <a:ext uri="{FF2B5EF4-FFF2-40B4-BE49-F238E27FC236}">
                    <a16:creationId xmlns:a16="http://schemas.microsoft.com/office/drawing/2014/main" id="{674EFA24-7F89-057B-E976-719E40154A01}"/>
                  </a:ext>
                </a:extLst>
              </p:cNvPr>
              <p:cNvSpPr/>
              <p:nvPr/>
            </p:nvSpPr>
            <p:spPr>
              <a:xfrm>
                <a:off x="7588069" y="3420232"/>
                <a:ext cx="172301" cy="172301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2" name="Oval 119">
                <a:extLst>
                  <a:ext uri="{FF2B5EF4-FFF2-40B4-BE49-F238E27FC236}">
                    <a16:creationId xmlns:a16="http://schemas.microsoft.com/office/drawing/2014/main" id="{90C447EF-167C-8D64-C81B-9B97DE831893}"/>
                  </a:ext>
                </a:extLst>
              </p:cNvPr>
              <p:cNvSpPr/>
              <p:nvPr/>
            </p:nvSpPr>
            <p:spPr>
              <a:xfrm>
                <a:off x="7677452" y="2360087"/>
                <a:ext cx="172301" cy="172301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43" name="Straight Connector 121">
                <a:extLst>
                  <a:ext uri="{FF2B5EF4-FFF2-40B4-BE49-F238E27FC236}">
                    <a16:creationId xmlns:a16="http://schemas.microsoft.com/office/drawing/2014/main" id="{CC526C92-4B87-FB42-7641-FEDB4D3B8D7F}"/>
                  </a:ext>
                </a:extLst>
              </p:cNvPr>
              <p:cNvCxnSpPr>
                <a:cxnSpLocks/>
                <a:stCxn id="338" idx="4"/>
                <a:endCxn id="335" idx="0"/>
              </p:cNvCxnSpPr>
              <p:nvPr/>
            </p:nvCxnSpPr>
            <p:spPr>
              <a:xfrm flipH="1">
                <a:off x="6664718" y="3577029"/>
                <a:ext cx="190897" cy="46328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122">
                <a:extLst>
                  <a:ext uri="{FF2B5EF4-FFF2-40B4-BE49-F238E27FC236}">
                    <a16:creationId xmlns:a16="http://schemas.microsoft.com/office/drawing/2014/main" id="{7C1D5F96-A8DD-94F4-3090-8E59F0416B88}"/>
                  </a:ext>
                </a:extLst>
              </p:cNvPr>
              <p:cNvCxnSpPr>
                <a:cxnSpLocks/>
                <a:stCxn id="338" idx="5"/>
                <a:endCxn id="341" idx="2"/>
              </p:cNvCxnSpPr>
              <p:nvPr/>
            </p:nvCxnSpPr>
            <p:spPr>
              <a:xfrm>
                <a:off x="7043057" y="3499388"/>
                <a:ext cx="545012" cy="699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123">
                <a:extLst>
                  <a:ext uri="{FF2B5EF4-FFF2-40B4-BE49-F238E27FC236}">
                    <a16:creationId xmlns:a16="http://schemas.microsoft.com/office/drawing/2014/main" id="{4478AA29-C22F-B7C2-74A2-0E1C7A7BB2CD}"/>
                  </a:ext>
                </a:extLst>
              </p:cNvPr>
              <p:cNvCxnSpPr>
                <a:cxnSpLocks/>
                <a:stCxn id="342" idx="4"/>
                <a:endCxn id="341" idx="0"/>
              </p:cNvCxnSpPr>
              <p:nvPr/>
            </p:nvCxnSpPr>
            <p:spPr>
              <a:xfrm flipH="1">
                <a:off x="7674220" y="2532388"/>
                <a:ext cx="89383" cy="88784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125">
                <a:extLst>
                  <a:ext uri="{FF2B5EF4-FFF2-40B4-BE49-F238E27FC236}">
                    <a16:creationId xmlns:a16="http://schemas.microsoft.com/office/drawing/2014/main" id="{A9A1AC9C-B582-DE2B-2D7A-A590C69500F1}"/>
                  </a:ext>
                </a:extLst>
              </p:cNvPr>
              <p:cNvCxnSpPr>
                <a:cxnSpLocks/>
                <a:stCxn id="340" idx="4"/>
                <a:endCxn id="337" idx="0"/>
              </p:cNvCxnSpPr>
              <p:nvPr/>
            </p:nvCxnSpPr>
            <p:spPr>
              <a:xfrm flipH="1">
                <a:off x="8411946" y="3088899"/>
                <a:ext cx="217948" cy="700361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128">
                <a:extLst>
                  <a:ext uri="{FF2B5EF4-FFF2-40B4-BE49-F238E27FC236}">
                    <a16:creationId xmlns:a16="http://schemas.microsoft.com/office/drawing/2014/main" id="{07ABFBB6-C85B-3C14-B723-1A95E853BC4D}"/>
                  </a:ext>
                </a:extLst>
              </p:cNvPr>
              <p:cNvCxnSpPr>
                <a:cxnSpLocks/>
                <a:stCxn id="336" idx="7"/>
                <a:endCxn id="337" idx="2"/>
              </p:cNvCxnSpPr>
              <p:nvPr/>
            </p:nvCxnSpPr>
            <p:spPr>
              <a:xfrm flipV="1">
                <a:off x="7649581" y="3980157"/>
                <a:ext cx="571468" cy="29215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129">
                <a:extLst>
                  <a:ext uri="{FF2B5EF4-FFF2-40B4-BE49-F238E27FC236}">
                    <a16:creationId xmlns:a16="http://schemas.microsoft.com/office/drawing/2014/main" id="{99CC480E-277A-0836-5B37-DCA7D87D7A68}"/>
                  </a:ext>
                </a:extLst>
              </p:cNvPr>
              <p:cNvCxnSpPr>
                <a:cxnSpLocks/>
                <a:stCxn id="335" idx="6"/>
                <a:endCxn id="336" idx="2"/>
              </p:cNvCxnSpPr>
              <p:nvPr/>
            </p:nvCxnSpPr>
            <p:spPr>
              <a:xfrm>
                <a:off x="6855615" y="4231214"/>
                <a:ext cx="554435" cy="140314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131">
                <a:extLst>
                  <a:ext uri="{FF2B5EF4-FFF2-40B4-BE49-F238E27FC236}">
                    <a16:creationId xmlns:a16="http://schemas.microsoft.com/office/drawing/2014/main" id="{85EC423E-66E4-454A-9011-4CB0C028B34E}"/>
                  </a:ext>
                </a:extLst>
              </p:cNvPr>
              <p:cNvCxnSpPr>
                <a:cxnSpLocks/>
                <a:stCxn id="339" idx="0"/>
                <a:endCxn id="336" idx="4"/>
              </p:cNvCxnSpPr>
              <p:nvPr/>
            </p:nvCxnSpPr>
            <p:spPr>
              <a:xfrm flipV="1">
                <a:off x="7174288" y="4511843"/>
                <a:ext cx="376077" cy="837918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0" name="Oval 133">
                <a:extLst>
                  <a:ext uri="{FF2B5EF4-FFF2-40B4-BE49-F238E27FC236}">
                    <a16:creationId xmlns:a16="http://schemas.microsoft.com/office/drawing/2014/main" id="{30696733-7928-3FE1-6BFF-611EA825B6F2}"/>
                  </a:ext>
                </a:extLst>
              </p:cNvPr>
              <p:cNvSpPr/>
              <p:nvPr/>
            </p:nvSpPr>
            <p:spPr>
              <a:xfrm>
                <a:off x="8942288" y="4272311"/>
                <a:ext cx="566973" cy="566973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1" name="Oval 134">
                <a:extLst>
                  <a:ext uri="{FF2B5EF4-FFF2-40B4-BE49-F238E27FC236}">
                    <a16:creationId xmlns:a16="http://schemas.microsoft.com/office/drawing/2014/main" id="{B48B3A89-DE61-AE23-33B8-8DEEE37830EB}"/>
                  </a:ext>
                </a:extLst>
              </p:cNvPr>
              <p:cNvSpPr/>
              <p:nvPr/>
            </p:nvSpPr>
            <p:spPr>
              <a:xfrm>
                <a:off x="5437296" y="4122667"/>
                <a:ext cx="566973" cy="566973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2" name="Oval 136">
                <a:extLst>
                  <a:ext uri="{FF2B5EF4-FFF2-40B4-BE49-F238E27FC236}">
                    <a16:creationId xmlns:a16="http://schemas.microsoft.com/office/drawing/2014/main" id="{E16C2D97-67E2-5274-BFE6-32FAE011BC80}"/>
                  </a:ext>
                </a:extLst>
              </p:cNvPr>
              <p:cNvSpPr/>
              <p:nvPr/>
            </p:nvSpPr>
            <p:spPr>
              <a:xfrm>
                <a:off x="5167598" y="3136745"/>
                <a:ext cx="566973" cy="566973"/>
              </a:xfrm>
              <a:prstGeom prst="ellipse">
                <a:avLst/>
              </a:prstGeom>
              <a:solidFill>
                <a:srgbClr val="FFC000"/>
              </a:solidFill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53" name="Straight Connector 137">
                <a:extLst>
                  <a:ext uri="{FF2B5EF4-FFF2-40B4-BE49-F238E27FC236}">
                    <a16:creationId xmlns:a16="http://schemas.microsoft.com/office/drawing/2014/main" id="{A36FB788-445B-6A17-611F-F02EB0B250CA}"/>
                  </a:ext>
                </a:extLst>
              </p:cNvPr>
              <p:cNvCxnSpPr>
                <a:cxnSpLocks/>
                <a:stCxn id="352" idx="6"/>
                <a:endCxn id="338" idx="2"/>
              </p:cNvCxnSpPr>
              <p:nvPr/>
            </p:nvCxnSpPr>
            <p:spPr>
              <a:xfrm flipV="1">
                <a:off x="5734571" y="3311946"/>
                <a:ext cx="855961" cy="108286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138">
                <a:extLst>
                  <a:ext uri="{FF2B5EF4-FFF2-40B4-BE49-F238E27FC236}">
                    <a16:creationId xmlns:a16="http://schemas.microsoft.com/office/drawing/2014/main" id="{1E2C7BCA-5DF8-6311-CFA2-0404755EB659}"/>
                  </a:ext>
                </a:extLst>
              </p:cNvPr>
              <p:cNvCxnSpPr>
                <a:cxnSpLocks/>
                <a:stCxn id="351" idx="6"/>
                <a:endCxn id="335" idx="3"/>
              </p:cNvCxnSpPr>
              <p:nvPr/>
            </p:nvCxnSpPr>
            <p:spPr>
              <a:xfrm flipV="1">
                <a:off x="6004269" y="4366199"/>
                <a:ext cx="525464" cy="39955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139">
                <a:extLst>
                  <a:ext uri="{FF2B5EF4-FFF2-40B4-BE49-F238E27FC236}">
                    <a16:creationId xmlns:a16="http://schemas.microsoft.com/office/drawing/2014/main" id="{3AC2F920-5055-38F6-FF0D-4186D3BEA47B}"/>
                  </a:ext>
                </a:extLst>
              </p:cNvPr>
              <p:cNvCxnSpPr>
                <a:cxnSpLocks/>
                <a:stCxn id="337" idx="5"/>
                <a:endCxn id="350" idx="1"/>
              </p:cNvCxnSpPr>
              <p:nvPr/>
            </p:nvCxnSpPr>
            <p:spPr>
              <a:xfrm>
                <a:off x="8546931" y="4115142"/>
                <a:ext cx="478388" cy="24020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3" name="连接符: 肘形 432">
              <a:extLst>
                <a:ext uri="{FF2B5EF4-FFF2-40B4-BE49-F238E27FC236}">
                  <a16:creationId xmlns:a16="http://schemas.microsoft.com/office/drawing/2014/main" id="{0F7B1B99-9222-D7DC-F056-B50E436C3123}"/>
                </a:ext>
              </a:extLst>
            </p:cNvPr>
            <p:cNvCxnSpPr>
              <a:cxnSpLocks/>
              <a:stCxn id="198" idx="2"/>
              <a:endCxn id="618" idx="2"/>
            </p:cNvCxnSpPr>
            <p:nvPr/>
          </p:nvCxnSpPr>
          <p:spPr>
            <a:xfrm rot="16200000" flipH="1">
              <a:off x="6447319" y="3701284"/>
              <a:ext cx="4436" cy="3875115"/>
            </a:xfrm>
            <a:prstGeom prst="bentConnector3">
              <a:avLst>
                <a:gd name="adj1" fmla="val 427170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8" name="Rectangle 109">
              <a:extLst>
                <a:ext uri="{FF2B5EF4-FFF2-40B4-BE49-F238E27FC236}">
                  <a16:creationId xmlns:a16="http://schemas.microsoft.com/office/drawing/2014/main" id="{B6358C82-AB73-007F-7315-02D25A9F5A58}"/>
                </a:ext>
              </a:extLst>
            </p:cNvPr>
            <p:cNvSpPr/>
            <p:nvPr/>
          </p:nvSpPr>
          <p:spPr>
            <a:xfrm>
              <a:off x="1268366" y="1449045"/>
              <a:ext cx="1749979" cy="1448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Arrow: Down 334">
              <a:extLst>
                <a:ext uri="{FF2B5EF4-FFF2-40B4-BE49-F238E27FC236}">
                  <a16:creationId xmlns:a16="http://schemas.microsoft.com/office/drawing/2014/main" id="{8D59FBB7-FE60-AADC-0314-51E1A5A2212E}"/>
                </a:ext>
              </a:extLst>
            </p:cNvPr>
            <p:cNvSpPr/>
            <p:nvPr/>
          </p:nvSpPr>
          <p:spPr>
            <a:xfrm>
              <a:off x="1951029" y="2966206"/>
              <a:ext cx="394955" cy="292103"/>
            </a:xfrm>
            <a:prstGeom prst="downArrow">
              <a:avLst>
                <a:gd name="adj1" fmla="val 50000"/>
                <a:gd name="adj2" fmla="val 5307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3" name="Arrow: Down 334">
              <a:extLst>
                <a:ext uri="{FF2B5EF4-FFF2-40B4-BE49-F238E27FC236}">
                  <a16:creationId xmlns:a16="http://schemas.microsoft.com/office/drawing/2014/main" id="{B0AE548F-580B-928A-719A-5AFDA5B524E5}"/>
                </a:ext>
              </a:extLst>
            </p:cNvPr>
            <p:cNvSpPr/>
            <p:nvPr/>
          </p:nvSpPr>
          <p:spPr>
            <a:xfrm rot="16200000">
              <a:off x="3051278" y="1723821"/>
              <a:ext cx="394955" cy="292103"/>
            </a:xfrm>
            <a:prstGeom prst="downArrow">
              <a:avLst>
                <a:gd name="adj1" fmla="val 50000"/>
                <a:gd name="adj2" fmla="val 53070"/>
              </a:avLst>
            </a:prstGeom>
            <a:solidFill>
              <a:schemeClr val="accent3">
                <a:lumMod val="60000"/>
                <a:lumOff val="40000"/>
              </a:schemeClr>
            </a:solidFill>
            <a:ln w="254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3" name="连接符: 肘形 482">
              <a:extLst>
                <a:ext uri="{FF2B5EF4-FFF2-40B4-BE49-F238E27FC236}">
                  <a16:creationId xmlns:a16="http://schemas.microsoft.com/office/drawing/2014/main" id="{ED730FC5-B59D-2FB2-A72A-699D95EA549D}"/>
                </a:ext>
              </a:extLst>
            </p:cNvPr>
            <p:cNvCxnSpPr>
              <a:cxnSpLocks/>
              <a:stCxn id="198" idx="2"/>
              <a:endCxn id="617" idx="2"/>
            </p:cNvCxnSpPr>
            <p:nvPr/>
          </p:nvCxnSpPr>
          <p:spPr>
            <a:xfrm rot="16200000" flipH="1">
              <a:off x="5672383" y="4476220"/>
              <a:ext cx="3010" cy="2323817"/>
            </a:xfrm>
            <a:prstGeom prst="bentConnector3">
              <a:avLst>
                <a:gd name="adj1" fmla="val 6338472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连接符: 肘形 693">
              <a:extLst>
                <a:ext uri="{FF2B5EF4-FFF2-40B4-BE49-F238E27FC236}">
                  <a16:creationId xmlns:a16="http://schemas.microsoft.com/office/drawing/2014/main" id="{C40CF226-0F97-8215-A3BB-97897F64DE19}"/>
                </a:ext>
              </a:extLst>
            </p:cNvPr>
            <p:cNvCxnSpPr>
              <a:cxnSpLocks/>
              <a:stCxn id="671" idx="1"/>
            </p:cNvCxnSpPr>
            <p:nvPr/>
          </p:nvCxnSpPr>
          <p:spPr>
            <a:xfrm rot="10800000" flipV="1">
              <a:off x="5836658" y="2375898"/>
              <a:ext cx="1147889" cy="292518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01" name="组合 700">
              <a:extLst>
                <a:ext uri="{FF2B5EF4-FFF2-40B4-BE49-F238E27FC236}">
                  <a16:creationId xmlns:a16="http://schemas.microsoft.com/office/drawing/2014/main" id="{45C96B57-DA50-2045-20AE-BFB1FF9F7381}"/>
                </a:ext>
              </a:extLst>
            </p:cNvPr>
            <p:cNvGrpSpPr/>
            <p:nvPr/>
          </p:nvGrpSpPr>
          <p:grpSpPr>
            <a:xfrm>
              <a:off x="6114758" y="1253954"/>
              <a:ext cx="3012847" cy="4731771"/>
              <a:chOff x="6114758" y="1253954"/>
              <a:chExt cx="3012847" cy="4731771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8" name="文本框 497">
                    <a:extLst>
                      <a:ext uri="{FF2B5EF4-FFF2-40B4-BE49-F238E27FC236}">
                        <a16:creationId xmlns:a16="http://schemas.microsoft.com/office/drawing/2014/main" id="{F905A5CC-9F91-8D21-1290-B7DEC8015651}"/>
                      </a:ext>
                    </a:extLst>
                  </p:cNvPr>
                  <p:cNvSpPr txBox="1"/>
                  <p:nvPr/>
                </p:nvSpPr>
                <p:spPr>
                  <a:xfrm>
                    <a:off x="6252600" y="2780359"/>
                    <a:ext cx="2738139" cy="334805"/>
                  </a:xfrm>
                  <a:prstGeom prst="rect">
                    <a:avLst/>
                  </a:prstGeom>
                  <a:ln w="28575"/>
                </p:spPr>
                <p:style>
                  <a:lnRef idx="2">
                    <a:schemeClr val="accent1"/>
                  </a:lnRef>
                  <a:fillRef idx="1">
                    <a:schemeClr val="lt1"/>
                  </a:fillRef>
                  <a:effectRef idx="0">
                    <a:schemeClr val="accent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algn="ctr">
                      <a:defRPr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14:m>
                      <m:oMath xmlns:m="http://schemas.openxmlformats.org/officeDocument/2006/math"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𝓛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𝓛</m:t>
                            </m:r>
                            <m:r>
                              <m:rPr>
                                <m:nor/>
                              </m:rPr>
                              <a:rPr lang="en-US" altLang="zh-CN" dirty="0"/>
                              <m:t>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flow</m:t>
                            </m:r>
                          </m:sub>
                        </m:sSub>
                      </m:oMath>
                    </a14:m>
                    <a:r>
                      <a:rPr lang="en-US" altLang="zh-CN" dirty="0"/>
                      <a:t>+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𝓛</m:t>
                            </m:r>
                            <m:r>
                              <m:rPr>
                                <m:nor/>
                              </m:rPr>
                              <a:rPr lang="en-US" altLang="zh-CN" dirty="0"/>
                              <m:t> 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model</m:t>
                            </m:r>
                          </m:sub>
                        </m:sSub>
                      </m:oMath>
                    </a14:m>
                    <a:endParaRPr lang="en-US" altLang="zh-CN" dirty="0"/>
                  </a:p>
                </p:txBody>
              </p:sp>
            </mc:Choice>
            <mc:Fallback>
              <p:sp>
                <p:nvSpPr>
                  <p:cNvPr id="498" name="文本框 497">
                    <a:extLst>
                      <a:ext uri="{FF2B5EF4-FFF2-40B4-BE49-F238E27FC236}">
                        <a16:creationId xmlns:a16="http://schemas.microsoft.com/office/drawing/2014/main" id="{F905A5CC-9F91-8D21-1290-B7DEC80156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52600" y="2780359"/>
                    <a:ext cx="2738139" cy="33480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0000" b="-26667"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17" name="文本框 616">
                <a:extLst>
                  <a:ext uri="{FF2B5EF4-FFF2-40B4-BE49-F238E27FC236}">
                    <a16:creationId xmlns:a16="http://schemas.microsoft.com/office/drawing/2014/main" id="{E6C1BC30-6C5A-76D8-1EA1-48B0B3F956F6}"/>
                  </a:ext>
                </a:extLst>
              </p:cNvPr>
              <p:cNvSpPr txBox="1"/>
              <p:nvPr/>
            </p:nvSpPr>
            <p:spPr>
              <a:xfrm>
                <a:off x="6243253" y="5303837"/>
                <a:ext cx="1185087" cy="335797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:r>
                  <a:rPr lang="zh-CN" altLang="en-US" dirty="0"/>
                  <a:t>流场快照</a:t>
                </a:r>
                <a:endParaRPr lang="en-US" altLang="zh-CN" dirty="0"/>
              </a:p>
            </p:txBody>
          </p:sp>
          <p:sp>
            <p:nvSpPr>
              <p:cNvPr id="618" name="文本框 617">
                <a:extLst>
                  <a:ext uri="{FF2B5EF4-FFF2-40B4-BE49-F238E27FC236}">
                    <a16:creationId xmlns:a16="http://schemas.microsoft.com/office/drawing/2014/main" id="{D52FA923-305D-06AC-A77A-85DE66EBD720}"/>
                  </a:ext>
                </a:extLst>
              </p:cNvPr>
              <p:cNvSpPr txBox="1"/>
              <p:nvPr/>
            </p:nvSpPr>
            <p:spPr>
              <a:xfrm>
                <a:off x="7794551" y="5305263"/>
                <a:ext cx="1185087" cy="335797"/>
              </a:xfrm>
              <a:prstGeom prst="roundRect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/>
                <a:r>
                  <a:rPr lang="zh-CN" altLang="en-US"/>
                  <a:t>阻抗参数</a:t>
                </a:r>
                <a:endParaRPr lang="en-US" altLang="zh-CN" dirty="0"/>
              </a:p>
            </p:txBody>
          </p:sp>
          <p:cxnSp>
            <p:nvCxnSpPr>
              <p:cNvPr id="621" name="Straight Arrow Connector 260">
                <a:extLst>
                  <a:ext uri="{FF2B5EF4-FFF2-40B4-BE49-F238E27FC236}">
                    <a16:creationId xmlns:a16="http://schemas.microsoft.com/office/drawing/2014/main" id="{DEFD4E69-B15B-7711-EF86-75238609E52E}"/>
                  </a:ext>
                </a:extLst>
              </p:cNvPr>
              <p:cNvCxnSpPr>
                <a:cxnSpLocks/>
                <a:stCxn id="617" idx="0"/>
              </p:cNvCxnSpPr>
              <p:nvPr/>
            </p:nvCxnSpPr>
            <p:spPr>
              <a:xfrm flipV="1">
                <a:off x="6835797" y="5112578"/>
                <a:ext cx="0" cy="19125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4" name="Straight Arrow Connector 260">
                <a:extLst>
                  <a:ext uri="{FF2B5EF4-FFF2-40B4-BE49-F238E27FC236}">
                    <a16:creationId xmlns:a16="http://schemas.microsoft.com/office/drawing/2014/main" id="{07D83439-5A39-C820-6188-252EFA946AD6}"/>
                  </a:ext>
                </a:extLst>
              </p:cNvPr>
              <p:cNvCxnSpPr>
                <a:cxnSpLocks/>
                <a:stCxn id="618" idx="0"/>
              </p:cNvCxnSpPr>
              <p:nvPr/>
            </p:nvCxnSpPr>
            <p:spPr>
              <a:xfrm flipV="1">
                <a:off x="8387095" y="5112578"/>
                <a:ext cx="0" cy="19268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0" name="Straight Arrow Connector 260">
                <a:extLst>
                  <a:ext uri="{FF2B5EF4-FFF2-40B4-BE49-F238E27FC236}">
                    <a16:creationId xmlns:a16="http://schemas.microsoft.com/office/drawing/2014/main" id="{407F2F12-A31D-6EA0-A774-4CAC0A52DAD0}"/>
                  </a:ext>
                </a:extLst>
              </p:cNvPr>
              <p:cNvCxnSpPr>
                <a:cxnSpLocks/>
                <a:stCxn id="554" idx="0"/>
                <a:endCxn id="498" idx="2"/>
              </p:cNvCxnSpPr>
              <p:nvPr/>
            </p:nvCxnSpPr>
            <p:spPr>
              <a:xfrm flipV="1">
                <a:off x="7621670" y="3115164"/>
                <a:ext cx="0" cy="17284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47" name="组合 646">
                <a:extLst>
                  <a:ext uri="{FF2B5EF4-FFF2-40B4-BE49-F238E27FC236}">
                    <a16:creationId xmlns:a16="http://schemas.microsoft.com/office/drawing/2014/main" id="{05B3BD85-31B0-E016-609C-A1DDB94C92B8}"/>
                  </a:ext>
                </a:extLst>
              </p:cNvPr>
              <p:cNvGrpSpPr/>
              <p:nvPr/>
            </p:nvGrpSpPr>
            <p:grpSpPr>
              <a:xfrm>
                <a:off x="6566329" y="3288004"/>
                <a:ext cx="2110681" cy="1817481"/>
                <a:chOff x="7671856" y="2022818"/>
                <a:chExt cx="2110681" cy="1817481"/>
              </a:xfrm>
            </p:grpSpPr>
            <p:grpSp>
              <p:nvGrpSpPr>
                <p:cNvPr id="558" name="组合 557">
                  <a:extLst>
                    <a:ext uri="{FF2B5EF4-FFF2-40B4-BE49-F238E27FC236}">
                      <a16:creationId xmlns:a16="http://schemas.microsoft.com/office/drawing/2014/main" id="{B6A2B60E-3315-3B51-50E6-27D00363F8E6}"/>
                    </a:ext>
                  </a:extLst>
                </p:cNvPr>
                <p:cNvGrpSpPr/>
                <p:nvPr/>
              </p:nvGrpSpPr>
              <p:grpSpPr>
                <a:xfrm>
                  <a:off x="7671856" y="2022818"/>
                  <a:ext cx="2110681" cy="1814324"/>
                  <a:chOff x="7344435" y="4785350"/>
                  <a:chExt cx="1918399" cy="1346491"/>
                </a:xfrm>
              </p:grpSpPr>
              <p:sp>
                <p:nvSpPr>
                  <p:cNvPr id="553" name="Rectangle 109">
                    <a:extLst>
                      <a:ext uri="{FF2B5EF4-FFF2-40B4-BE49-F238E27FC236}">
                        <a16:creationId xmlns:a16="http://schemas.microsoft.com/office/drawing/2014/main" id="{ED7475CF-1ABC-C4E2-77E5-0C53485789BB}"/>
                      </a:ext>
                    </a:extLst>
                  </p:cNvPr>
                  <p:cNvSpPr/>
                  <p:nvPr/>
                </p:nvSpPr>
                <p:spPr>
                  <a:xfrm>
                    <a:off x="7344435" y="5046291"/>
                    <a:ext cx="1918399" cy="1085550"/>
                  </a:xfrm>
                  <a:prstGeom prst="roundRect">
                    <a:avLst>
                      <a:gd name="adj" fmla="val 1489"/>
                    </a:avLst>
                  </a:prstGeom>
                  <a:noFill/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554" name="Rounded Rectangle 3">
                    <a:extLst>
                      <a:ext uri="{FF2B5EF4-FFF2-40B4-BE49-F238E27FC236}">
                        <a16:creationId xmlns:a16="http://schemas.microsoft.com/office/drawing/2014/main" id="{A68DBD31-2ADF-73E2-C246-C75C9FBCA831}"/>
                      </a:ext>
                    </a:extLst>
                  </p:cNvPr>
                  <p:cNvSpPr/>
                  <p:nvPr/>
                </p:nvSpPr>
                <p:spPr>
                  <a:xfrm>
                    <a:off x="7344435" y="4785350"/>
                    <a:ext cx="1918399" cy="26094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zh-CN" altLang="en-US" b="1" dirty="0">
                        <a:solidFill>
                          <a:schemeClr val="tx1"/>
                        </a:solidFill>
                        <a:latin typeface="FangSong_GB2312" panose="02010609030101010101" pitchFamily="49" charset="-122"/>
                        <a:ea typeface="FangSong_GB2312" panose="02010609030101010101" pitchFamily="49" charset="-122"/>
                        <a:cs typeface="Times New Roman" panose="02020603050405020304" pitchFamily="18" charset="0"/>
                      </a:rPr>
                      <a:t>流动数据</a:t>
                    </a:r>
                    <a:endParaRPr lang="en-US" b="1" dirty="0">
                      <a:solidFill>
                        <a:schemeClr val="tx1"/>
                      </a:solidFill>
                      <a:latin typeface="FangSong_GB2312" panose="02010609030101010101" pitchFamily="49" charset="-122"/>
                      <a:ea typeface="FangSong_GB2312" panose="02010609030101010101" pitchFamily="49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pic>
              <p:nvPicPr>
                <p:cNvPr id="646" name="图片 645" descr="电视游戏的萤幕截图&#10;&#10;AI 生成的内容可能不正确。">
                  <a:extLst>
                    <a:ext uri="{FF2B5EF4-FFF2-40B4-BE49-F238E27FC236}">
                      <a16:creationId xmlns:a16="http://schemas.microsoft.com/office/drawing/2014/main" id="{3FE58F8A-A09F-0737-5C2B-8D789673D87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671857" y="2377578"/>
                  <a:ext cx="2110680" cy="1462721"/>
                </a:xfrm>
                <a:prstGeom prst="rect">
                  <a:avLst/>
                </a:prstGeom>
              </p:spPr>
            </p:pic>
          </p:grpSp>
          <p:sp>
            <p:nvSpPr>
              <p:cNvPr id="670" name="Rectangle 109">
                <a:extLst>
                  <a:ext uri="{FF2B5EF4-FFF2-40B4-BE49-F238E27FC236}">
                    <a16:creationId xmlns:a16="http://schemas.microsoft.com/office/drawing/2014/main" id="{BE9FDC40-04DC-80E0-810D-17CE1A363CBF}"/>
                  </a:ext>
                </a:extLst>
              </p:cNvPr>
              <p:cNvSpPr/>
              <p:nvPr/>
            </p:nvSpPr>
            <p:spPr>
              <a:xfrm>
                <a:off x="6114758" y="1253954"/>
                <a:ext cx="3012847" cy="4731771"/>
              </a:xfrm>
              <a:prstGeom prst="roundRect">
                <a:avLst>
                  <a:gd name="adj" fmla="val 1489"/>
                </a:avLst>
              </a:prstGeom>
              <a:noFill/>
              <a:ln w="1905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1" name="流程图: 决策 670">
                <a:extLst>
                  <a:ext uri="{FF2B5EF4-FFF2-40B4-BE49-F238E27FC236}">
                    <a16:creationId xmlns:a16="http://schemas.microsoft.com/office/drawing/2014/main" id="{540AE6B3-CA31-E526-C969-3729CF5FBB26}"/>
                  </a:ext>
                </a:extLst>
              </p:cNvPr>
              <p:cNvSpPr/>
              <p:nvPr/>
            </p:nvSpPr>
            <p:spPr>
              <a:xfrm>
                <a:off x="6984546" y="2164844"/>
                <a:ext cx="1275416" cy="422108"/>
              </a:xfrm>
              <a:prstGeom prst="flowChartDecision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停止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</a:t>
                </a:r>
              </a:p>
            </p:txBody>
          </p:sp>
          <p:cxnSp>
            <p:nvCxnSpPr>
              <p:cNvPr id="672" name="Straight Arrow Connector 260">
                <a:extLst>
                  <a:ext uri="{FF2B5EF4-FFF2-40B4-BE49-F238E27FC236}">
                    <a16:creationId xmlns:a16="http://schemas.microsoft.com/office/drawing/2014/main" id="{2EA41997-86CA-5267-3F92-2527A98D08DF}"/>
                  </a:ext>
                </a:extLst>
              </p:cNvPr>
              <p:cNvCxnSpPr>
                <a:cxnSpLocks/>
                <a:stCxn id="498" idx="0"/>
                <a:endCxn id="671" idx="2"/>
              </p:cNvCxnSpPr>
              <p:nvPr/>
            </p:nvCxnSpPr>
            <p:spPr>
              <a:xfrm flipV="1">
                <a:off x="7621670" y="2586952"/>
                <a:ext cx="584" cy="19340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76" name="文本框 675">
                    <a:extLst>
                      <a:ext uri="{FF2B5EF4-FFF2-40B4-BE49-F238E27FC236}">
                        <a16:creationId xmlns:a16="http://schemas.microsoft.com/office/drawing/2014/main" id="{61BF5E28-FD65-0461-8532-EA57FC760AAE}"/>
                      </a:ext>
                    </a:extLst>
                  </p:cNvPr>
                  <p:cNvSpPr txBox="1"/>
                  <p:nvPr/>
                </p:nvSpPr>
                <p:spPr>
                  <a:xfrm>
                    <a:off x="7028637" y="1484382"/>
                    <a:ext cx="1185087" cy="335797"/>
                  </a:xfrm>
                  <a:prstGeom prst="roundRect">
                    <a:avLst/>
                  </a:prstGeom>
                  <a:ln w="28575">
                    <a:solidFill>
                      <a:srgbClr val="A3490F"/>
                    </a:solidFill>
                  </a:ln>
                </p:spPr>
                <p:style>
                  <a:lnRef idx="2">
                    <a:schemeClr val="accent2"/>
                  </a:lnRef>
                  <a:fillRef idx="1">
                    <a:schemeClr val="lt1"/>
                  </a:fillRef>
                  <a:effectRef idx="0">
                    <a:schemeClr val="accent2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algn="ctr">
                      <a:defRPr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FangSong_GB2312" panose="02010609030101010101" pitchFamily="49" charset="-122"/>
                        <a:cs typeface="Times New Roman" panose="02020603050405020304" pitchFamily="18" charset="0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</a:defRPr>
                    </a:lvl9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</m:d>
                        </m:oMath>
                      </m:oMathPara>
                    </a14:m>
                    <a:endParaRPr lang="en-US" altLang="zh-CN" i="1" dirty="0"/>
                  </a:p>
                </p:txBody>
              </p:sp>
            </mc:Choice>
            <mc:Fallback>
              <p:sp>
                <p:nvSpPr>
                  <p:cNvPr id="676" name="文本框 675">
                    <a:extLst>
                      <a:ext uri="{FF2B5EF4-FFF2-40B4-BE49-F238E27FC236}">
                        <a16:creationId xmlns:a16="http://schemas.microsoft.com/office/drawing/2014/main" id="{61BF5E28-FD65-0461-8532-EA57FC760A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8637" y="1484382"/>
                    <a:ext cx="1185087" cy="335797"/>
                  </a:xfrm>
                  <a:prstGeom prst="roundRect">
                    <a:avLst/>
                  </a:prstGeom>
                  <a:blipFill>
                    <a:blip r:embed="rId5"/>
                    <a:stretch>
                      <a:fillRect t="-10000"/>
                    </a:stretch>
                  </a:blipFill>
                  <a:ln w="28575">
                    <a:solidFill>
                      <a:srgbClr val="A3490F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78" name="Straight Arrow Connector 260">
                <a:extLst>
                  <a:ext uri="{FF2B5EF4-FFF2-40B4-BE49-F238E27FC236}">
                    <a16:creationId xmlns:a16="http://schemas.microsoft.com/office/drawing/2014/main" id="{CC00697D-E58A-C4FD-3F1C-A8A820485C6E}"/>
                  </a:ext>
                </a:extLst>
              </p:cNvPr>
              <p:cNvCxnSpPr>
                <a:cxnSpLocks/>
                <a:stCxn id="671" idx="0"/>
                <a:endCxn id="676" idx="2"/>
              </p:cNvCxnSpPr>
              <p:nvPr/>
            </p:nvCxnSpPr>
            <p:spPr>
              <a:xfrm flipH="1" flipV="1">
                <a:off x="7621181" y="1820179"/>
                <a:ext cx="1073" cy="344665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7" name="文本框 696">
                <a:extLst>
                  <a:ext uri="{FF2B5EF4-FFF2-40B4-BE49-F238E27FC236}">
                    <a16:creationId xmlns:a16="http://schemas.microsoft.com/office/drawing/2014/main" id="{214B9814-3DA6-3C0D-EFF6-01F1B68E8679}"/>
                  </a:ext>
                </a:extLst>
              </p:cNvPr>
              <p:cNvSpPr txBox="1"/>
              <p:nvPr/>
            </p:nvSpPr>
            <p:spPr>
              <a:xfrm>
                <a:off x="7682152" y="1845071"/>
                <a:ext cx="334650" cy="32807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140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/>
                <a:r>
                  <a:rPr lang="zh-CN" altLang="en-US" b="1" dirty="0">
                    <a:solidFill>
                      <a:schemeClr val="tx1"/>
                    </a:solidFill>
                    <a:ea typeface="FangSong_GB2312" panose="02010609030101010101" pitchFamily="49" charset="-122"/>
                  </a:rPr>
                  <a:t>是</a:t>
                </a:r>
                <a:endParaRPr lang="en-US" altLang="zh-CN" b="1" dirty="0">
                  <a:solidFill>
                    <a:schemeClr val="tx1"/>
                  </a:solidFill>
                  <a:ea typeface="FangSong_GB2312" panose="02010609030101010101" pitchFamily="49" charset="-122"/>
                </a:endParaRPr>
              </a:p>
            </p:txBody>
          </p:sp>
          <p:sp>
            <p:nvSpPr>
              <p:cNvPr id="698" name="文本框 697">
                <a:extLst>
                  <a:ext uri="{FF2B5EF4-FFF2-40B4-BE49-F238E27FC236}">
                    <a16:creationId xmlns:a16="http://schemas.microsoft.com/office/drawing/2014/main" id="{4CD38E33-4765-B8FE-CF20-4D9E6BF2EB67}"/>
                  </a:ext>
                </a:extLst>
              </p:cNvPr>
              <p:cNvSpPr txBox="1"/>
              <p:nvPr/>
            </p:nvSpPr>
            <p:spPr>
              <a:xfrm>
                <a:off x="6489584" y="2019434"/>
                <a:ext cx="334650" cy="328070"/>
              </a:xfrm>
              <a:prstGeom prst="round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sz="1400">
                    <a:solidFill>
                      <a:schemeClr val="dk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  <a:lvl2pPr>
                  <a:defRPr>
                    <a:solidFill>
                      <a:schemeClr val="dk1"/>
                    </a:solidFill>
                  </a:defRPr>
                </a:lvl2pPr>
                <a:lvl3pPr>
                  <a:defRPr>
                    <a:solidFill>
                      <a:schemeClr val="dk1"/>
                    </a:solidFill>
                  </a:defRPr>
                </a:lvl3pPr>
                <a:lvl4pPr>
                  <a:defRPr>
                    <a:solidFill>
                      <a:schemeClr val="dk1"/>
                    </a:solidFill>
                  </a:defRPr>
                </a:lvl4pPr>
                <a:lvl5pPr>
                  <a:defRPr>
                    <a:solidFill>
                      <a:schemeClr val="dk1"/>
                    </a:solidFill>
                  </a:defRPr>
                </a:lvl5pPr>
                <a:lvl6pPr>
                  <a:defRPr>
                    <a:solidFill>
                      <a:schemeClr val="dk1"/>
                    </a:solidFill>
                  </a:defRPr>
                </a:lvl6pPr>
                <a:lvl7pPr>
                  <a:defRPr>
                    <a:solidFill>
                      <a:schemeClr val="dk1"/>
                    </a:solidFill>
                  </a:defRPr>
                </a:lvl7pPr>
                <a:lvl8pPr>
                  <a:defRPr>
                    <a:solidFill>
                      <a:schemeClr val="dk1"/>
                    </a:solidFill>
                  </a:defRPr>
                </a:lvl8pPr>
                <a:lvl9pPr>
                  <a:defRPr>
                    <a:solidFill>
                      <a:schemeClr val="dk1"/>
                    </a:solidFill>
                  </a:defRPr>
                </a:lvl9pPr>
              </a:lstStyle>
              <a:p>
                <a:pPr/>
                <a:r>
                  <a:rPr lang="zh-CN" altLang="en-US" b="1" dirty="0">
                    <a:solidFill>
                      <a:schemeClr val="tx1"/>
                    </a:solidFill>
                    <a:ea typeface="FangSong_GB2312" panose="02010609030101010101" pitchFamily="49" charset="-122"/>
                  </a:rPr>
                  <a:t>否</a:t>
                </a:r>
                <a:endParaRPr lang="en-US" altLang="zh-CN" b="1" dirty="0">
                  <a:solidFill>
                    <a:schemeClr val="tx1"/>
                  </a:solidFill>
                  <a:ea typeface="FangSong_GB2312" panose="02010609030101010101" pitchFamily="49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7227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17F13-7A5C-0528-7021-97FE132E5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3938E7C-5A69-53B5-DCA8-7E636F9555BB}"/>
              </a:ext>
            </a:extLst>
          </p:cNvPr>
          <p:cNvGrpSpPr/>
          <p:nvPr/>
        </p:nvGrpSpPr>
        <p:grpSpPr>
          <a:xfrm>
            <a:off x="1132279" y="3136170"/>
            <a:ext cx="10223502" cy="2482755"/>
            <a:chOff x="1132279" y="3136170"/>
            <a:chExt cx="10223502" cy="2482755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98EE09ED-15D9-1A1A-D917-1B8B3B133038}"/>
                </a:ext>
              </a:extLst>
            </p:cNvPr>
            <p:cNvSpPr txBox="1"/>
            <p:nvPr/>
          </p:nvSpPr>
          <p:spPr>
            <a:xfrm>
              <a:off x="1132279" y="3558818"/>
              <a:ext cx="457498" cy="16237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latin typeface="FangSong_GB2312" panose="02010609030101010101" pitchFamily="49" charset="-122"/>
                  <a:ea typeface="FangSong_GB2312" panose="02010609030101010101" pitchFamily="49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辅助微分方程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7E692E2-B9BF-C567-463B-8E97D4FD8A33}"/>
                </a:ext>
              </a:extLst>
            </p:cNvPr>
            <p:cNvSpPr txBox="1"/>
            <p:nvPr/>
          </p:nvSpPr>
          <p:spPr>
            <a:xfrm>
              <a:off x="1920327" y="3558818"/>
              <a:ext cx="715725" cy="162375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ctr">
                <a:defRPr b="1">
                  <a:latin typeface="FangSong_GB2312" panose="02010609030101010101" pitchFamily="49" charset="-122"/>
                  <a:ea typeface="FangSong_GB2312" panose="02010609030101010101" pitchFamily="49" charset="-122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>
                  <a:solidFill>
                    <a:schemeClr val="tx1"/>
                  </a:solidFill>
                </a:rPr>
                <a:t>时域阻抗</a:t>
              </a:r>
              <a:endParaRPr lang="en-US" altLang="zh-CN" dirty="0">
                <a:solidFill>
                  <a:schemeClr val="tx1"/>
                </a:solidFill>
              </a:endParaRPr>
            </a:p>
            <a:p>
              <a:r>
                <a:rPr lang="zh-CN" altLang="en-US" dirty="0">
                  <a:solidFill>
                    <a:schemeClr val="tx1"/>
                  </a:solidFill>
                </a:rPr>
                <a:t>边界条件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0273A068-4FD9-776F-1BC5-771E30B2102A}"/>
                </a:ext>
              </a:extLst>
            </p:cNvPr>
            <p:cNvCxnSpPr>
              <a:cxnSpLocks/>
              <a:stCxn id="129" idx="3"/>
              <a:endCxn id="167" idx="1"/>
            </p:cNvCxnSpPr>
            <p:nvPr/>
          </p:nvCxnSpPr>
          <p:spPr>
            <a:xfrm>
              <a:off x="1589777" y="4370695"/>
              <a:ext cx="33055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Group 7">
              <a:extLst>
                <a:ext uri="{FF2B5EF4-FFF2-40B4-BE49-F238E27FC236}">
                  <a16:creationId xmlns:a16="http://schemas.microsoft.com/office/drawing/2014/main" id="{818961B8-6B40-A6E1-254D-90EA1ACD0A24}"/>
                </a:ext>
              </a:extLst>
            </p:cNvPr>
            <p:cNvGrpSpPr/>
            <p:nvPr/>
          </p:nvGrpSpPr>
          <p:grpSpPr>
            <a:xfrm>
              <a:off x="6400461" y="3136170"/>
              <a:ext cx="4955320" cy="2482755"/>
              <a:chOff x="2548252" y="3562938"/>
              <a:chExt cx="4955320" cy="2482755"/>
            </a:xfrm>
          </p:grpSpPr>
          <p:sp>
            <p:nvSpPr>
              <p:cNvPr id="3" name="Rounded Rectangle 10">
                <a:extLst>
                  <a:ext uri="{FF2B5EF4-FFF2-40B4-BE49-F238E27FC236}">
                    <a16:creationId xmlns:a16="http://schemas.microsoft.com/office/drawing/2014/main" id="{710AD63D-C212-7856-FF18-37AA727377D0}"/>
                  </a:ext>
                </a:extLst>
              </p:cNvPr>
              <p:cNvSpPr/>
              <p:nvPr/>
            </p:nvSpPr>
            <p:spPr>
              <a:xfrm>
                <a:off x="3127181" y="3730596"/>
                <a:ext cx="1990959" cy="349983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rPr>
                  <a:t>Helmholtz</a:t>
                </a:r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rPr>
                  <a:t> 分解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</a:endParaRPr>
              </a:p>
            </p:txBody>
          </p:sp>
          <p:sp>
            <p:nvSpPr>
              <p:cNvPr id="4" name="Rounded Rectangle 35">
                <a:extLst>
                  <a:ext uri="{FF2B5EF4-FFF2-40B4-BE49-F238E27FC236}">
                    <a16:creationId xmlns:a16="http://schemas.microsoft.com/office/drawing/2014/main" id="{88A167BD-E0C3-5E6B-8C03-5FA7F25432FE}"/>
                  </a:ext>
                </a:extLst>
              </p:cNvPr>
              <p:cNvSpPr/>
              <p:nvPr/>
            </p:nvSpPr>
            <p:spPr>
              <a:xfrm>
                <a:off x="5305862" y="3729881"/>
                <a:ext cx="1990959" cy="349983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rPr>
                  <a:t>模态分解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</a:endParaRPr>
              </a:p>
            </p:txBody>
          </p:sp>
          <p:cxnSp>
            <p:nvCxnSpPr>
              <p:cNvPr id="5" name="Straight Arrow Connector 51">
                <a:extLst>
                  <a:ext uri="{FF2B5EF4-FFF2-40B4-BE49-F238E27FC236}">
                    <a16:creationId xmlns:a16="http://schemas.microsoft.com/office/drawing/2014/main" id="{E6CF7BF4-96C3-8E97-FADF-7857B5513F4C}"/>
                  </a:ext>
                </a:extLst>
              </p:cNvPr>
              <p:cNvCxnSpPr>
                <a:cxnSpLocks/>
                <a:stCxn id="3" idx="2"/>
              </p:cNvCxnSpPr>
              <p:nvPr/>
            </p:nvCxnSpPr>
            <p:spPr>
              <a:xfrm>
                <a:off x="4122661" y="4080579"/>
                <a:ext cx="0" cy="1916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4">
                <a:extLst>
                  <a:ext uri="{FF2B5EF4-FFF2-40B4-BE49-F238E27FC236}">
                    <a16:creationId xmlns:a16="http://schemas.microsoft.com/office/drawing/2014/main" id="{BE0401FF-8FFB-065F-3472-36FE117A9B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01342" y="4071700"/>
                <a:ext cx="0" cy="19165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Rounded Rectangle 57">
                <a:extLst>
                  <a:ext uri="{FF2B5EF4-FFF2-40B4-BE49-F238E27FC236}">
                    <a16:creationId xmlns:a16="http://schemas.microsoft.com/office/drawing/2014/main" id="{22A63CC0-5C96-63FB-F293-E7128FFFB2DA}"/>
                  </a:ext>
                </a:extLst>
              </p:cNvPr>
              <p:cNvSpPr/>
              <p:nvPr/>
            </p:nvSpPr>
            <p:spPr>
              <a:xfrm>
                <a:off x="3265168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复杂波系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Rounded Rectangle 58">
                <a:extLst>
                  <a:ext uri="{FF2B5EF4-FFF2-40B4-BE49-F238E27FC236}">
                    <a16:creationId xmlns:a16="http://schemas.microsoft.com/office/drawing/2014/main" id="{ADC71314-D0B4-CBF2-9A37-0890993BC2E5}"/>
                  </a:ext>
                </a:extLst>
              </p:cNvPr>
              <p:cNvSpPr/>
              <p:nvPr/>
            </p:nvSpPr>
            <p:spPr>
              <a:xfrm>
                <a:off x="3699218" y="4871081"/>
                <a:ext cx="3176455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壁面压力</a:t>
                </a:r>
                <a:r>
                  <a:rPr lang="zh-CN" altLang="en-US" b="1" dirty="0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、剪切应力、</a:t>
                </a:r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热流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ounded Rectangle 61">
                <a:extLst>
                  <a:ext uri="{FF2B5EF4-FFF2-40B4-BE49-F238E27FC236}">
                    <a16:creationId xmlns:a16="http://schemas.microsoft.com/office/drawing/2014/main" id="{93E5DD3B-BA8E-B807-7003-BF833F3C01D8}"/>
                  </a:ext>
                </a:extLst>
              </p:cNvPr>
              <p:cNvSpPr/>
              <p:nvPr/>
            </p:nvSpPr>
            <p:spPr>
              <a:xfrm>
                <a:off x="4727215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流体胀缩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Rounded Rectangle 76">
                <a:extLst>
                  <a:ext uri="{FF2B5EF4-FFF2-40B4-BE49-F238E27FC236}">
                    <a16:creationId xmlns:a16="http://schemas.microsoft.com/office/drawing/2014/main" id="{AB9480A6-F982-1135-5279-6D5593B728B8}"/>
                  </a:ext>
                </a:extLst>
              </p:cNvPr>
              <p:cNvSpPr/>
              <p:nvPr/>
            </p:nvSpPr>
            <p:spPr>
              <a:xfrm>
                <a:off x="6082930" y="4331113"/>
                <a:ext cx="1157292" cy="40630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  <a:cs typeface="Times New Roman" panose="02020603050405020304" pitchFamily="18" charset="0"/>
                  </a:rPr>
                  <a:t>二次流动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ounded Rectangle 96">
                <a:extLst>
                  <a:ext uri="{FF2B5EF4-FFF2-40B4-BE49-F238E27FC236}">
                    <a16:creationId xmlns:a16="http://schemas.microsoft.com/office/drawing/2014/main" id="{4B4BFA9B-4408-F602-87FA-3BD60E78A42F}"/>
                  </a:ext>
                </a:extLst>
              </p:cNvPr>
              <p:cNvSpPr/>
              <p:nvPr/>
            </p:nvSpPr>
            <p:spPr>
              <a:xfrm>
                <a:off x="2548252" y="3562940"/>
                <a:ext cx="426551" cy="2482753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rPr>
                  <a:t>流动分析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</a:endParaRPr>
              </a:p>
            </p:txBody>
          </p:sp>
          <p:sp>
            <p:nvSpPr>
              <p:cNvPr id="12" name="Rounded Rectangle 124">
                <a:extLst>
                  <a:ext uri="{FF2B5EF4-FFF2-40B4-BE49-F238E27FC236}">
                    <a16:creationId xmlns:a16="http://schemas.microsoft.com/office/drawing/2014/main" id="{7A3ABD4A-D38C-6AD2-40AC-561BC31A3CC1}"/>
                  </a:ext>
                </a:extLst>
              </p:cNvPr>
              <p:cNvSpPr/>
              <p:nvPr/>
            </p:nvSpPr>
            <p:spPr>
              <a:xfrm>
                <a:off x="2974803" y="3562938"/>
                <a:ext cx="4528769" cy="2482755"/>
              </a:xfrm>
              <a:prstGeom prst="roundRect">
                <a:avLst>
                  <a:gd name="adj" fmla="val 0"/>
                </a:avLst>
              </a:prstGeom>
              <a:noFill/>
              <a:ln w="12700">
                <a:solidFill>
                  <a:schemeClr val="accent1">
                    <a:shade val="15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iti SC Medium" pitchFamily="2" charset="-128"/>
                  <a:ea typeface="Heiti SC Medium" pitchFamily="2" charset="-128"/>
                </a:endParaRPr>
              </a:p>
            </p:txBody>
          </p:sp>
          <p:sp>
            <p:nvSpPr>
              <p:cNvPr id="13" name="Rounded Rectangle 126">
                <a:extLst>
                  <a:ext uri="{FF2B5EF4-FFF2-40B4-BE49-F238E27FC236}">
                    <a16:creationId xmlns:a16="http://schemas.microsoft.com/office/drawing/2014/main" id="{51EDF639-4610-298F-9284-2C462E94A75B}"/>
                  </a:ext>
                </a:extLst>
              </p:cNvPr>
              <p:cNvSpPr/>
              <p:nvPr/>
            </p:nvSpPr>
            <p:spPr>
              <a:xfrm>
                <a:off x="3139480" y="4270762"/>
                <a:ext cx="4206242" cy="1126861"/>
              </a:xfrm>
              <a:prstGeom prst="roundRect">
                <a:avLst>
                  <a:gd name="adj" fmla="val 0"/>
                </a:avLst>
              </a:prstGeom>
              <a:noFill/>
              <a:ln w="19050">
                <a:solidFill>
                  <a:schemeClr val="accent1">
                    <a:shade val="1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dirty="0">
                  <a:solidFill>
                    <a:schemeClr val="tx1"/>
                  </a:solidFill>
                  <a:latin typeface="Heiti SC Medium" pitchFamily="2" charset="-128"/>
                  <a:ea typeface="Heiti SC Medium" pitchFamily="2" charset="-128"/>
                </a:endParaRPr>
              </a:p>
            </p:txBody>
          </p:sp>
          <p:sp>
            <p:nvSpPr>
              <p:cNvPr id="14" name="Rounded Rectangle 127">
                <a:extLst>
                  <a:ext uri="{FF2B5EF4-FFF2-40B4-BE49-F238E27FC236}">
                    <a16:creationId xmlns:a16="http://schemas.microsoft.com/office/drawing/2014/main" id="{B12D7740-986B-4A5A-59F5-9EA54010BF3D}"/>
                  </a:ext>
                </a:extLst>
              </p:cNvPr>
              <p:cNvSpPr/>
              <p:nvPr/>
            </p:nvSpPr>
            <p:spPr>
              <a:xfrm>
                <a:off x="3181897" y="5552733"/>
                <a:ext cx="4116548" cy="349983"/>
              </a:xfrm>
              <a:prstGeom prst="roundRect">
                <a:avLst>
                  <a:gd name="adj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 err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rPr>
                  <a:t>可压缩性对粗糙壁湍流的影响</a:t>
                </a:r>
                <a:endParaRPr 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</a:endParaRPr>
              </a:p>
            </p:txBody>
          </p:sp>
          <p:cxnSp>
            <p:nvCxnSpPr>
              <p:cNvPr id="15" name="Straight Arrow Connector 132">
                <a:extLst>
                  <a:ext uri="{FF2B5EF4-FFF2-40B4-BE49-F238E27FC236}">
                    <a16:creationId xmlns:a16="http://schemas.microsoft.com/office/drawing/2014/main" id="{E6E6EAD0-0106-CD07-F54C-5577F18CA3B7}"/>
                  </a:ext>
                </a:extLst>
              </p:cNvPr>
              <p:cNvCxnSpPr>
                <a:cxnSpLocks/>
                <a:stCxn id="13" idx="2"/>
                <a:endCxn id="14" idx="0"/>
              </p:cNvCxnSpPr>
              <p:nvPr/>
            </p:nvCxnSpPr>
            <p:spPr>
              <a:xfrm flipH="1">
                <a:off x="5240171" y="5397623"/>
                <a:ext cx="2430" cy="15511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A90DEB34-1387-58D6-7138-94D887322681}"/>
                </a:ext>
              </a:extLst>
            </p:cNvPr>
            <p:cNvGrpSpPr/>
            <p:nvPr/>
          </p:nvGrpSpPr>
          <p:grpSpPr>
            <a:xfrm>
              <a:off x="2960013" y="3558817"/>
              <a:ext cx="3023899" cy="1623754"/>
              <a:chOff x="3270012" y="3572297"/>
              <a:chExt cx="3023899" cy="1623754"/>
            </a:xfrm>
          </p:grpSpPr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173434E5-5F58-EA6D-27C9-F4E6491B42F7}"/>
                  </a:ext>
                </a:extLst>
              </p:cNvPr>
              <p:cNvGrpSpPr/>
              <p:nvPr/>
            </p:nvGrpSpPr>
            <p:grpSpPr>
              <a:xfrm>
                <a:off x="3276601" y="3572298"/>
                <a:ext cx="3017310" cy="1623753"/>
                <a:chOff x="8186268" y="3572298"/>
                <a:chExt cx="3017310" cy="1623753"/>
              </a:xfrm>
            </p:grpSpPr>
            <p:grpSp>
              <p:nvGrpSpPr>
                <p:cNvPr id="200" name="Group 199">
                  <a:extLst>
                    <a:ext uri="{FF2B5EF4-FFF2-40B4-BE49-F238E27FC236}">
                      <a16:creationId xmlns:a16="http://schemas.microsoft.com/office/drawing/2014/main" id="{60378ED1-453E-DE68-5D58-4EECD0536C98}"/>
                    </a:ext>
                  </a:extLst>
                </p:cNvPr>
                <p:cNvGrpSpPr/>
                <p:nvPr/>
              </p:nvGrpSpPr>
              <p:grpSpPr>
                <a:xfrm>
                  <a:off x="8563969" y="3698334"/>
                  <a:ext cx="2551313" cy="1441779"/>
                  <a:chOff x="6907966" y="629355"/>
                  <a:chExt cx="3483140" cy="1968366"/>
                </a:xfrm>
              </p:grpSpPr>
              <p:cxnSp>
                <p:nvCxnSpPr>
                  <p:cNvPr id="97" name="Straight Connector 96">
                    <a:extLst>
                      <a:ext uri="{FF2B5EF4-FFF2-40B4-BE49-F238E27FC236}">
                        <a16:creationId xmlns:a16="http://schemas.microsoft.com/office/drawing/2014/main" id="{47D80583-A751-F16A-1959-1EBA4A76701D}"/>
                      </a:ext>
                    </a:extLst>
                  </p:cNvPr>
                  <p:cNvCxnSpPr>
                    <a:cxnSpLocks/>
                    <a:stCxn id="96" idx="6"/>
                    <a:endCxn id="98" idx="2"/>
                  </p:cNvCxnSpPr>
                  <p:nvPr/>
                </p:nvCxnSpPr>
                <p:spPr>
                  <a:xfrm flipV="1">
                    <a:off x="8732197" y="1544568"/>
                    <a:ext cx="1118443" cy="24146"/>
                  </a:xfrm>
                  <a:prstGeom prst="line">
                    <a:avLst/>
                  </a:prstGeom>
                  <a:ln w="317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1D8D53C6-D394-57FF-D1FE-53CBF4D117C0}"/>
                      </a:ext>
                    </a:extLst>
                  </p:cNvPr>
                  <p:cNvCxnSpPr>
                    <a:cxnSpLocks/>
                    <a:stCxn id="101" idx="6"/>
                    <a:endCxn id="96" idx="2"/>
                  </p:cNvCxnSpPr>
                  <p:nvPr/>
                </p:nvCxnSpPr>
                <p:spPr>
                  <a:xfrm>
                    <a:off x="7344580" y="1565689"/>
                    <a:ext cx="952313" cy="3025"/>
                  </a:xfrm>
                  <a:prstGeom prst="line">
                    <a:avLst/>
                  </a:prstGeom>
                  <a:ln w="31750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1" name="Freeform 110">
                    <a:extLst>
                      <a:ext uri="{FF2B5EF4-FFF2-40B4-BE49-F238E27FC236}">
                        <a16:creationId xmlns:a16="http://schemas.microsoft.com/office/drawing/2014/main" id="{AAC045D6-6D09-EA90-7EF8-F06AD28B5A06}"/>
                      </a:ext>
                    </a:extLst>
                  </p:cNvPr>
                  <p:cNvSpPr/>
                  <p:nvPr/>
                </p:nvSpPr>
                <p:spPr>
                  <a:xfrm>
                    <a:off x="7143411" y="1277963"/>
                    <a:ext cx="2990973" cy="564220"/>
                  </a:xfrm>
                  <a:custGeom>
                    <a:avLst/>
                    <a:gdLst>
                      <a:gd name="connsiteX0" fmla="*/ 0 w 2990973"/>
                      <a:gd name="connsiteY0" fmla="*/ 553021 h 564220"/>
                      <a:gd name="connsiteX1" fmla="*/ 188780 w 2990973"/>
                      <a:gd name="connsiteY1" fmla="*/ 470430 h 564220"/>
                      <a:gd name="connsiteX2" fmla="*/ 353962 w 2990973"/>
                      <a:gd name="connsiteY2" fmla="*/ 252154 h 564220"/>
                      <a:gd name="connsiteX3" fmla="*/ 619433 w 2990973"/>
                      <a:gd name="connsiteY3" fmla="*/ 10281 h 564220"/>
                      <a:gd name="connsiteX4" fmla="*/ 884904 w 2990973"/>
                      <a:gd name="connsiteY4" fmla="*/ 92872 h 564220"/>
                      <a:gd name="connsiteX5" fmla="*/ 1044186 w 2990973"/>
                      <a:gd name="connsiteY5" fmla="*/ 446833 h 564220"/>
                      <a:gd name="connsiteX6" fmla="*/ 1227066 w 2990973"/>
                      <a:gd name="connsiteY6" fmla="*/ 558921 h 564220"/>
                      <a:gd name="connsiteX7" fmla="*/ 1451242 w 2990973"/>
                      <a:gd name="connsiteY7" fmla="*/ 535323 h 564220"/>
                      <a:gd name="connsiteX8" fmla="*/ 1699015 w 2990973"/>
                      <a:gd name="connsiteY8" fmla="*/ 440934 h 564220"/>
                      <a:gd name="connsiteX9" fmla="*/ 1875995 w 2990973"/>
                      <a:gd name="connsiteY9" fmla="*/ 163664 h 564220"/>
                      <a:gd name="connsiteX10" fmla="*/ 2170963 w 2990973"/>
                      <a:gd name="connsiteY10" fmla="*/ 27979 h 564220"/>
                      <a:gd name="connsiteX11" fmla="*/ 2383340 w 2990973"/>
                      <a:gd name="connsiteY11" fmla="*/ 10281 h 564220"/>
                      <a:gd name="connsiteX12" fmla="*/ 2507226 w 2990973"/>
                      <a:gd name="connsiteY12" fmla="*/ 151865 h 564220"/>
                      <a:gd name="connsiteX13" fmla="*/ 2631113 w 2990973"/>
                      <a:gd name="connsiteY13" fmla="*/ 476330 h 564220"/>
                      <a:gd name="connsiteX14" fmla="*/ 2849389 w 2990973"/>
                      <a:gd name="connsiteY14" fmla="*/ 547122 h 564220"/>
                      <a:gd name="connsiteX15" fmla="*/ 2990973 w 2990973"/>
                      <a:gd name="connsiteY15" fmla="*/ 558921 h 564220"/>
                      <a:gd name="connsiteX16" fmla="*/ 0 w 2990973"/>
                      <a:gd name="connsiteY16" fmla="*/ 553021 h 5642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2990973" h="564220">
                        <a:moveTo>
                          <a:pt x="0" y="553021"/>
                        </a:moveTo>
                        <a:cubicBezTo>
                          <a:pt x="64893" y="536797"/>
                          <a:pt x="129786" y="520574"/>
                          <a:pt x="188780" y="470430"/>
                        </a:cubicBezTo>
                        <a:cubicBezTo>
                          <a:pt x="247774" y="420285"/>
                          <a:pt x="282187" y="328845"/>
                          <a:pt x="353962" y="252154"/>
                        </a:cubicBezTo>
                        <a:cubicBezTo>
                          <a:pt x="425737" y="175463"/>
                          <a:pt x="530943" y="36828"/>
                          <a:pt x="619433" y="10281"/>
                        </a:cubicBezTo>
                        <a:cubicBezTo>
                          <a:pt x="707923" y="-16266"/>
                          <a:pt x="814112" y="20113"/>
                          <a:pt x="884904" y="92872"/>
                        </a:cubicBezTo>
                        <a:cubicBezTo>
                          <a:pt x="955696" y="165631"/>
                          <a:pt x="987159" y="369158"/>
                          <a:pt x="1044186" y="446833"/>
                        </a:cubicBezTo>
                        <a:cubicBezTo>
                          <a:pt x="1101213" y="524508"/>
                          <a:pt x="1159223" y="544173"/>
                          <a:pt x="1227066" y="558921"/>
                        </a:cubicBezTo>
                        <a:cubicBezTo>
                          <a:pt x="1294909" y="573669"/>
                          <a:pt x="1372584" y="554987"/>
                          <a:pt x="1451242" y="535323"/>
                        </a:cubicBezTo>
                        <a:cubicBezTo>
                          <a:pt x="1529900" y="515659"/>
                          <a:pt x="1628223" y="502877"/>
                          <a:pt x="1699015" y="440934"/>
                        </a:cubicBezTo>
                        <a:cubicBezTo>
                          <a:pt x="1769807" y="378991"/>
                          <a:pt x="1797337" y="232490"/>
                          <a:pt x="1875995" y="163664"/>
                        </a:cubicBezTo>
                        <a:cubicBezTo>
                          <a:pt x="1954653" y="94838"/>
                          <a:pt x="2086406" y="53543"/>
                          <a:pt x="2170963" y="27979"/>
                        </a:cubicBezTo>
                        <a:cubicBezTo>
                          <a:pt x="2255520" y="2415"/>
                          <a:pt x="2327296" y="-10367"/>
                          <a:pt x="2383340" y="10281"/>
                        </a:cubicBezTo>
                        <a:cubicBezTo>
                          <a:pt x="2439384" y="30929"/>
                          <a:pt x="2465931" y="74190"/>
                          <a:pt x="2507226" y="151865"/>
                        </a:cubicBezTo>
                        <a:cubicBezTo>
                          <a:pt x="2548521" y="229540"/>
                          <a:pt x="2574086" y="410454"/>
                          <a:pt x="2631113" y="476330"/>
                        </a:cubicBezTo>
                        <a:cubicBezTo>
                          <a:pt x="2688140" y="542206"/>
                          <a:pt x="2789412" y="533357"/>
                          <a:pt x="2849389" y="547122"/>
                        </a:cubicBezTo>
                        <a:cubicBezTo>
                          <a:pt x="2909366" y="560887"/>
                          <a:pt x="2990973" y="558921"/>
                          <a:pt x="2990973" y="558921"/>
                        </a:cubicBezTo>
                        <a:lnTo>
                          <a:pt x="0" y="553021"/>
                        </a:lnTo>
                        <a:close/>
                      </a:path>
                    </a:pathLst>
                  </a:custGeom>
                  <a:solidFill>
                    <a:schemeClr val="tx1">
                      <a:lumMod val="65000"/>
                      <a:lumOff val="35000"/>
                    </a:schemeClr>
                  </a:solidFill>
                  <a:ln w="2857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98" name="Oval 97">
                    <a:extLst>
                      <a:ext uri="{FF2B5EF4-FFF2-40B4-BE49-F238E27FC236}">
                        <a16:creationId xmlns:a16="http://schemas.microsoft.com/office/drawing/2014/main" id="{748854A2-E15E-571C-6C5A-370884DA9962}"/>
                      </a:ext>
                    </a:extLst>
                  </p:cNvPr>
                  <p:cNvSpPr/>
                  <p:nvPr/>
                </p:nvSpPr>
                <p:spPr>
                  <a:xfrm>
                    <a:off x="9850640" y="1386656"/>
                    <a:ext cx="315823" cy="31582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95AD69C7-7313-3741-9946-5806F3971B5A}"/>
                      </a:ext>
                    </a:extLst>
                  </p:cNvPr>
                  <p:cNvSpPr/>
                  <p:nvPr/>
                </p:nvSpPr>
                <p:spPr>
                  <a:xfrm>
                    <a:off x="7070977" y="1428887"/>
                    <a:ext cx="273603" cy="273603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9" name="Group 108">
                    <a:extLst>
                      <a:ext uri="{FF2B5EF4-FFF2-40B4-BE49-F238E27FC236}">
                        <a16:creationId xmlns:a16="http://schemas.microsoft.com/office/drawing/2014/main" id="{78E44E0F-5777-644E-F74D-4B2FEAB3F3FB}"/>
                      </a:ext>
                    </a:extLst>
                  </p:cNvPr>
                  <p:cNvGrpSpPr/>
                  <p:nvPr/>
                </p:nvGrpSpPr>
                <p:grpSpPr>
                  <a:xfrm>
                    <a:off x="7016122" y="1276382"/>
                    <a:ext cx="3150342" cy="561498"/>
                    <a:chOff x="4185138" y="3409768"/>
                    <a:chExt cx="1413588" cy="217050"/>
                  </a:xfrm>
                </p:grpSpPr>
                <p:cxnSp>
                  <p:nvCxnSpPr>
                    <p:cNvPr id="30" name="Straight Connector 29">
                      <a:extLst>
                        <a:ext uri="{FF2B5EF4-FFF2-40B4-BE49-F238E27FC236}">
                          <a16:creationId xmlns:a16="http://schemas.microsoft.com/office/drawing/2014/main" id="{0BAA27CF-5CC9-2B96-D195-8F7AF0EFDF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85138" y="3409768"/>
                      <a:ext cx="1413588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  <a:prstDash val="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8172E860-8B05-1EEF-0F2C-3E49F03628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85138" y="3626818"/>
                      <a:ext cx="1399194" cy="0"/>
                    </a:xfrm>
                    <a:prstGeom prst="line">
                      <a:avLst/>
                    </a:prstGeom>
                    <a:ln w="2540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28" name="Rounded Rectangle 127">
                        <a:extLst>
                          <a:ext uri="{FF2B5EF4-FFF2-40B4-BE49-F238E27FC236}">
                            <a16:creationId xmlns:a16="http://schemas.microsoft.com/office/drawing/2014/main" id="{F7F9B74E-3F92-7ED4-2A2A-1E125F2693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70735" y="2183139"/>
                        <a:ext cx="3263643" cy="414582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𝑝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SimHei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zh-CN" alt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</m:oMath>
                          </m:oMathPara>
                        </a14:m>
                        <a:endParaRPr lang="en-US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Hei" panose="02010609060101010101" pitchFamily="49" charset="-122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28" name="Rounded Rectangle 127">
                        <a:extLst>
                          <a:ext uri="{FF2B5EF4-FFF2-40B4-BE49-F238E27FC236}">
                            <a16:creationId xmlns:a16="http://schemas.microsoft.com/office/drawing/2014/main" id="{F7F9B74E-3F92-7ED4-2A2A-1E125F269306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970735" y="2183139"/>
                        <a:ext cx="3263643" cy="414582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blipFill>
                        <a:blip r:embed="rId3"/>
                        <a:stretch>
                          <a:fillRect b="-22000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46" name="Up Arrow 145">
                    <a:extLst>
                      <a:ext uri="{FF2B5EF4-FFF2-40B4-BE49-F238E27FC236}">
                        <a16:creationId xmlns:a16="http://schemas.microsoft.com/office/drawing/2014/main" id="{D95DE4CD-0428-552A-9F21-444967C5FC7E}"/>
                      </a:ext>
                    </a:extLst>
                  </p:cNvPr>
                  <p:cNvSpPr/>
                  <p:nvPr/>
                </p:nvSpPr>
                <p:spPr>
                  <a:xfrm>
                    <a:off x="8297472" y="1041291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47" name="Up Arrow 146">
                    <a:extLst>
                      <a:ext uri="{FF2B5EF4-FFF2-40B4-BE49-F238E27FC236}">
                        <a16:creationId xmlns:a16="http://schemas.microsoft.com/office/drawing/2014/main" id="{25D32E30-0E0D-398D-C5E1-45D03DDA16D9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8297472" y="1886688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5" name="Group 174">
                    <a:extLst>
                      <a:ext uri="{FF2B5EF4-FFF2-40B4-BE49-F238E27FC236}">
                        <a16:creationId xmlns:a16="http://schemas.microsoft.com/office/drawing/2014/main" id="{72A5DD16-F281-36BC-36C8-C2AF91F7C2F6}"/>
                      </a:ext>
                    </a:extLst>
                  </p:cNvPr>
                  <p:cNvGrpSpPr/>
                  <p:nvPr/>
                </p:nvGrpSpPr>
                <p:grpSpPr>
                  <a:xfrm>
                    <a:off x="8294074" y="1351062"/>
                    <a:ext cx="628698" cy="435304"/>
                    <a:chOff x="5492658" y="3442537"/>
                    <a:chExt cx="628698" cy="435304"/>
                  </a:xfrm>
                </p:grpSpPr>
                <p:sp>
                  <p:nvSpPr>
                    <p:cNvPr id="96" name="Oval 95">
                      <a:extLst>
                        <a:ext uri="{FF2B5EF4-FFF2-40B4-BE49-F238E27FC236}">
                          <a16:creationId xmlns:a16="http://schemas.microsoft.com/office/drawing/2014/main" id="{08C06C6D-6C34-383C-0791-36E9FAAB6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5477" y="3442537"/>
                      <a:ext cx="435304" cy="435304"/>
                    </a:xfrm>
                    <a:prstGeom prst="ellipse">
                      <a:avLst/>
                    </a:prstGeom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900" dirty="0"/>
                    </a:p>
                  </p:txBody>
                </p:sp>
                <p:sp>
                  <p:nvSpPr>
                    <p:cNvPr id="168" name="TextBox 167">
                      <a:extLst>
                        <a:ext uri="{FF2B5EF4-FFF2-40B4-BE49-F238E27FC236}">
                          <a16:creationId xmlns:a16="http://schemas.microsoft.com/office/drawing/2014/main" id="{33D1ED97-C245-55EB-AE87-7DB4246E354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92658" y="3518412"/>
                      <a:ext cx="628698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endParaRPr lang="en-US" sz="1400" b="1" dirty="0">
                        <a:solidFill>
                          <a:schemeClr val="bg1"/>
                        </a:solidFill>
                        <a:latin typeface="FangSong_GB2312" panose="02010609030101010101" pitchFamily="49" charset="-122"/>
                        <a:ea typeface="FangSong_GB2312" panose="02010609030101010101" pitchFamily="49" charset="-122"/>
                      </a:endParaRPr>
                    </a:p>
                  </p:txBody>
                </p:sp>
              </p:grpSp>
              <p:sp>
                <p:nvSpPr>
                  <p:cNvPr id="169" name="TextBox 168">
                    <a:extLst>
                      <a:ext uri="{FF2B5EF4-FFF2-40B4-BE49-F238E27FC236}">
                        <a16:creationId xmlns:a16="http://schemas.microsoft.com/office/drawing/2014/main" id="{8246C651-9B21-C963-139A-1D52B37BF60F}"/>
                      </a:ext>
                    </a:extLst>
                  </p:cNvPr>
                  <p:cNvSpPr txBox="1"/>
                  <p:nvPr/>
                </p:nvSpPr>
                <p:spPr>
                  <a:xfrm>
                    <a:off x="9791457" y="1428887"/>
                    <a:ext cx="59964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0" name="TextBox 169">
                    <a:extLst>
                      <a:ext uri="{FF2B5EF4-FFF2-40B4-BE49-F238E27FC236}">
                        <a16:creationId xmlns:a16="http://schemas.microsoft.com/office/drawing/2014/main" id="{5B1D17B7-998E-CEE8-C281-65073BBE6C83}"/>
                      </a:ext>
                    </a:extLst>
                  </p:cNvPr>
                  <p:cNvSpPr txBox="1"/>
                  <p:nvPr/>
                </p:nvSpPr>
                <p:spPr>
                  <a:xfrm>
                    <a:off x="6993267" y="1439155"/>
                    <a:ext cx="599649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endParaRPr lang="en-US" sz="10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88" name="Up Arrow 187">
                    <a:extLst>
                      <a:ext uri="{FF2B5EF4-FFF2-40B4-BE49-F238E27FC236}">
                        <a16:creationId xmlns:a16="http://schemas.microsoft.com/office/drawing/2014/main" id="{91DC4F7E-DCFF-676F-8E84-7127A27B3A33}"/>
                      </a:ext>
                    </a:extLst>
                  </p:cNvPr>
                  <p:cNvSpPr/>
                  <p:nvPr/>
                </p:nvSpPr>
                <p:spPr>
                  <a:xfrm>
                    <a:off x="6993267" y="1047135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89" name="Up Arrow 188">
                    <a:extLst>
                      <a:ext uri="{FF2B5EF4-FFF2-40B4-BE49-F238E27FC236}">
                        <a16:creationId xmlns:a16="http://schemas.microsoft.com/office/drawing/2014/main" id="{FA69B27A-6D8D-1628-9678-BC6479A90B17}"/>
                      </a:ext>
                    </a:extLst>
                  </p:cNvPr>
                  <p:cNvSpPr/>
                  <p:nvPr/>
                </p:nvSpPr>
                <p:spPr>
                  <a:xfrm>
                    <a:off x="9749749" y="1029928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0" name="Up Arrow 189">
                    <a:extLst>
                      <a:ext uri="{FF2B5EF4-FFF2-40B4-BE49-F238E27FC236}">
                        <a16:creationId xmlns:a16="http://schemas.microsoft.com/office/drawing/2014/main" id="{F03066E9-FADE-4BF6-6258-2A9DDF4DEDD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983918" y="1891795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Up Arrow 190">
                    <a:extLst>
                      <a:ext uri="{FF2B5EF4-FFF2-40B4-BE49-F238E27FC236}">
                        <a16:creationId xmlns:a16="http://schemas.microsoft.com/office/drawing/2014/main" id="{8B849A8D-C8E6-11F9-A809-B11B9BC4A2EB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9753220" y="1878345"/>
                    <a:ext cx="484632" cy="196842"/>
                  </a:xfrm>
                  <a:prstGeom prst="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99" name="Rounded Rectangle 127">
                        <a:extLst>
                          <a:ext uri="{FF2B5EF4-FFF2-40B4-BE49-F238E27FC236}">
                            <a16:creationId xmlns:a16="http://schemas.microsoft.com/office/drawing/2014/main" id="{0EBE8AC0-9C74-6CDD-4004-D35C2D63CCF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6907966" y="629355"/>
                        <a:ext cx="3263643" cy="367196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solidFill>
                        <a:schemeClr val="accent5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𝑢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SimHei" panose="02010609060101010101" pitchFamily="49" charset="-122"/>
                                  <a:cs typeface="Times New Roman" panose="02020603050405020304" pitchFamily="18" charset="0"/>
                                </a:rPr>
                                <m:t>⋯</m:t>
                              </m:r>
                            </m:oMath>
                          </m:oMathPara>
                        </a14:m>
                        <a:endPara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SimHei" panose="02010609060101010101" pitchFamily="49" charset="-122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199" name="Rounded Rectangle 127">
                        <a:extLst>
                          <a:ext uri="{FF2B5EF4-FFF2-40B4-BE49-F238E27FC236}">
                            <a16:creationId xmlns:a16="http://schemas.microsoft.com/office/drawing/2014/main" id="{0EBE8AC0-9C74-6CDD-4004-D35C2D63CCFE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907966" y="629355"/>
                        <a:ext cx="3263643" cy="367196"/>
                      </a:xfrm>
                      <a:prstGeom prst="roundRect">
                        <a:avLst>
                          <a:gd name="adj" fmla="val 50000"/>
                        </a:avLst>
                      </a:prstGeom>
                      <a:blipFill>
                        <a:blip r:embed="rId4"/>
                        <a:stretch>
                          <a:fillRect b="-28889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1F23F61D-A632-3DA7-0FE5-32EE9320D61E}"/>
                    </a:ext>
                  </a:extLst>
                </p:cNvPr>
                <p:cNvSpPr/>
                <p:nvPr/>
              </p:nvSpPr>
              <p:spPr>
                <a:xfrm>
                  <a:off x="8186268" y="3572298"/>
                  <a:ext cx="3017310" cy="1623753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16" name="TextBox 166">
                <a:extLst>
                  <a:ext uri="{FF2B5EF4-FFF2-40B4-BE49-F238E27FC236}">
                    <a16:creationId xmlns:a16="http://schemas.microsoft.com/office/drawing/2014/main" id="{2C526133-E39C-0608-A3E5-6C5D86C218A4}"/>
                  </a:ext>
                </a:extLst>
              </p:cNvPr>
              <p:cNvSpPr txBox="1"/>
              <p:nvPr/>
            </p:nvSpPr>
            <p:spPr>
              <a:xfrm>
                <a:off x="3270012" y="3572297"/>
                <a:ext cx="330550" cy="1623747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algn="ctr">
                  <a:defRPr b="1">
                    <a:solidFill>
                      <a:schemeClr val="tx1"/>
                    </a:solidFill>
                    <a:latin typeface="FangSong_GB2312" panose="02010609030101010101" pitchFamily="49" charset="-122"/>
                    <a:ea typeface="FangSong_GB2312" panose="02010609030101010101" pitchFamily="49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zh-CN" altLang="en-US"/>
                  <a:t>简化模拟</a:t>
                </a:r>
                <a:endParaRPr lang="en-US" dirty="0"/>
              </a:p>
            </p:txBody>
          </p:sp>
        </p:grpSp>
        <p:cxnSp>
          <p:nvCxnSpPr>
            <p:cNvPr id="18" name="Straight Arrow Connector 171">
              <a:extLst>
                <a:ext uri="{FF2B5EF4-FFF2-40B4-BE49-F238E27FC236}">
                  <a16:creationId xmlns:a16="http://schemas.microsoft.com/office/drawing/2014/main" id="{4F3F78D4-2A7B-FEAF-F73C-C59EDDAAC18D}"/>
                </a:ext>
              </a:extLst>
            </p:cNvPr>
            <p:cNvCxnSpPr>
              <a:cxnSpLocks/>
              <a:stCxn id="167" idx="3"/>
              <a:endCxn id="212" idx="1"/>
            </p:cNvCxnSpPr>
            <p:nvPr/>
          </p:nvCxnSpPr>
          <p:spPr>
            <a:xfrm>
              <a:off x="2636052" y="4370695"/>
              <a:ext cx="33055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171">
              <a:extLst>
                <a:ext uri="{FF2B5EF4-FFF2-40B4-BE49-F238E27FC236}">
                  <a16:creationId xmlns:a16="http://schemas.microsoft.com/office/drawing/2014/main" id="{C92B61D6-B4A2-B966-F703-A042CDF159DD}"/>
                </a:ext>
              </a:extLst>
            </p:cNvPr>
            <p:cNvCxnSpPr>
              <a:cxnSpLocks/>
              <a:stCxn id="212" idx="3"/>
              <a:endCxn id="11" idx="1"/>
            </p:cNvCxnSpPr>
            <p:nvPr/>
          </p:nvCxnSpPr>
          <p:spPr>
            <a:xfrm>
              <a:off x="5983912" y="4370695"/>
              <a:ext cx="416549" cy="6854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1591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59DFF-5524-9B3F-D1E1-8B06B97B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84EA8B3-F502-4383-863B-7F98D38C1461}"/>
              </a:ext>
            </a:extLst>
          </p:cNvPr>
          <p:cNvSpPr/>
          <p:nvPr/>
        </p:nvSpPr>
        <p:spPr>
          <a:xfrm>
            <a:off x="1182753" y="1652427"/>
            <a:ext cx="4528769" cy="2482755"/>
          </a:xfrm>
          <a:prstGeom prst="roundRect">
            <a:avLst>
              <a:gd name="adj" fmla="val 0"/>
            </a:avLst>
          </a:prstGeom>
          <a:noFill/>
          <a:ln w="19050"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>
              <a:solidFill>
                <a:schemeClr val="tx1"/>
              </a:solidFill>
              <a:latin typeface="Heiti SC Medium" pitchFamily="2" charset="-128"/>
              <a:ea typeface="Heiti SC Medium" pitchFamily="2" charset="-128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D4E5FBC-03E2-F473-356D-8BF33B84B2AA}"/>
              </a:ext>
            </a:extLst>
          </p:cNvPr>
          <p:cNvSpPr/>
          <p:nvPr/>
        </p:nvSpPr>
        <p:spPr>
          <a:xfrm>
            <a:off x="1437124" y="2408130"/>
            <a:ext cx="1193286" cy="40630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壁面温度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4A6141-185B-2DD9-0B49-044796F5A87B}"/>
              </a:ext>
            </a:extLst>
          </p:cNvPr>
          <p:cNvSpPr/>
          <p:nvPr/>
        </p:nvSpPr>
        <p:spPr>
          <a:xfrm>
            <a:off x="4369683" y="2408272"/>
            <a:ext cx="1183989" cy="40630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马赫数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C90259-0309-F122-BCF5-B100ED272C47}"/>
              </a:ext>
            </a:extLst>
          </p:cNvPr>
          <p:cNvSpPr/>
          <p:nvPr/>
        </p:nvSpPr>
        <p:spPr>
          <a:xfrm>
            <a:off x="2438182" y="3668306"/>
            <a:ext cx="2114429" cy="349983"/>
          </a:xfrm>
          <a:prstGeom prst="roundRect">
            <a:avLst>
              <a:gd name="adj" fmla="val 0"/>
            </a:avLst>
          </a:prstGeom>
          <a:solidFill>
            <a:srgbClr val="C8B9DB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数据库扩充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1E2D63-239D-1CEB-DF00-D506C7C59517}"/>
              </a:ext>
            </a:extLst>
          </p:cNvPr>
          <p:cNvSpPr/>
          <p:nvPr/>
        </p:nvSpPr>
        <p:spPr>
          <a:xfrm>
            <a:off x="2819270" y="2408130"/>
            <a:ext cx="1352255" cy="406306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粗糙元外形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6366F6-F5D1-AD31-40E5-8BC36C747DD3}"/>
              </a:ext>
            </a:extLst>
          </p:cNvPr>
          <p:cNvSpPr/>
          <p:nvPr/>
        </p:nvSpPr>
        <p:spPr>
          <a:xfrm>
            <a:off x="2438182" y="1819370"/>
            <a:ext cx="2114429" cy="349983"/>
          </a:xfrm>
          <a:prstGeom prst="roundRect">
            <a:avLst>
              <a:gd name="adj" fmla="val 0"/>
            </a:avLst>
          </a:prstGeom>
          <a:solidFill>
            <a:srgbClr val="C8B9DB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连续形粗糙元函数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A9CB90-E3B5-DFC0-7151-00CA8A795323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>
            <a:off x="3495397" y="2169353"/>
            <a:ext cx="1" cy="2387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51FD55B-301C-B968-1846-D89CB4F39C3D}"/>
              </a:ext>
            </a:extLst>
          </p:cNvPr>
          <p:cNvCxnSpPr>
            <a:cxnSpLocks/>
            <a:stCxn id="20" idx="2"/>
            <a:endCxn id="7" idx="0"/>
          </p:cNvCxnSpPr>
          <p:nvPr/>
        </p:nvCxnSpPr>
        <p:spPr>
          <a:xfrm flipH="1">
            <a:off x="3495397" y="2814436"/>
            <a:ext cx="1" cy="8538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>
            <a:extLst>
              <a:ext uri="{FF2B5EF4-FFF2-40B4-BE49-F238E27FC236}">
                <a16:creationId xmlns:a16="http://schemas.microsoft.com/office/drawing/2014/main" id="{CC045E13-5968-F4B4-56F5-9CBA9B6E10A7}"/>
              </a:ext>
            </a:extLst>
          </p:cNvPr>
          <p:cNvSpPr/>
          <p:nvPr/>
        </p:nvSpPr>
        <p:spPr>
          <a:xfrm>
            <a:off x="756202" y="1652426"/>
            <a:ext cx="426551" cy="248275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数据</a:t>
            </a:r>
            <a:r>
              <a:rPr lang="zh-CN" altLang="en-US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扩充</a:t>
            </a:r>
            <a:endParaRPr lang="en-US" altLang="zh-CN" b="1" dirty="0">
              <a:solidFill>
                <a:schemeClr val="bg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18" name="Elbow Connector 117">
            <a:extLst>
              <a:ext uri="{FF2B5EF4-FFF2-40B4-BE49-F238E27FC236}">
                <a16:creationId xmlns:a16="http://schemas.microsoft.com/office/drawing/2014/main" id="{23432F3E-F2B8-F662-E8E0-C34DDD905630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2337647" y="2510556"/>
            <a:ext cx="853870" cy="1461630"/>
          </a:xfrm>
          <a:prstGeom prst="bentConnector3">
            <a:avLst>
              <a:gd name="adj1" fmla="val 24503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Elbow Connector 120">
            <a:extLst>
              <a:ext uri="{FF2B5EF4-FFF2-40B4-BE49-F238E27FC236}">
                <a16:creationId xmlns:a16="http://schemas.microsoft.com/office/drawing/2014/main" id="{B55D791F-730A-6378-B3F3-863EB44D2E3E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3801674" y="2508302"/>
            <a:ext cx="853728" cy="1466281"/>
          </a:xfrm>
          <a:prstGeom prst="bentConnector3">
            <a:avLst>
              <a:gd name="adj1" fmla="val 24604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Down Arrow 130">
            <a:extLst>
              <a:ext uri="{FF2B5EF4-FFF2-40B4-BE49-F238E27FC236}">
                <a16:creationId xmlns:a16="http://schemas.microsoft.com/office/drawing/2014/main" id="{32FAAACB-0A77-79DE-123C-D5FB4ED75812}"/>
              </a:ext>
            </a:extLst>
          </p:cNvPr>
          <p:cNvSpPr/>
          <p:nvPr/>
        </p:nvSpPr>
        <p:spPr>
          <a:xfrm rot="16200000">
            <a:off x="5492904" y="2764073"/>
            <a:ext cx="766367" cy="329128"/>
          </a:xfrm>
          <a:prstGeom prst="downArrow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4114F0-1C9C-11F0-D7BA-D7508C7B0E4F}"/>
              </a:ext>
            </a:extLst>
          </p:cNvPr>
          <p:cNvGrpSpPr/>
          <p:nvPr/>
        </p:nvGrpSpPr>
        <p:grpSpPr>
          <a:xfrm>
            <a:off x="6043691" y="1652427"/>
            <a:ext cx="4955320" cy="2482755"/>
            <a:chOff x="2548252" y="3562938"/>
            <a:chExt cx="4955320" cy="248275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CE4F80C-04E2-9AA2-1FA4-DBF2D99517C2}"/>
                </a:ext>
              </a:extLst>
            </p:cNvPr>
            <p:cNvSpPr/>
            <p:nvPr/>
          </p:nvSpPr>
          <p:spPr>
            <a:xfrm>
              <a:off x="3127181" y="3730596"/>
              <a:ext cx="1990959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Helmholtz</a:t>
              </a:r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 分解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6A5E886F-6812-7FD3-7D49-29B0D9F8845C}"/>
                </a:ext>
              </a:extLst>
            </p:cNvPr>
            <p:cNvSpPr/>
            <p:nvPr/>
          </p:nvSpPr>
          <p:spPr>
            <a:xfrm>
              <a:off x="5305862" y="3729881"/>
              <a:ext cx="1990959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模态分解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232B96A5-2C38-1B6E-D96F-8A03CBF3A439}"/>
                </a:ext>
              </a:extLst>
            </p:cNvPr>
            <p:cNvCxnSpPr>
              <a:cxnSpLocks/>
              <a:stCxn id="11" idx="2"/>
            </p:cNvCxnSpPr>
            <p:nvPr/>
          </p:nvCxnSpPr>
          <p:spPr>
            <a:xfrm>
              <a:off x="4122661" y="4080579"/>
              <a:ext cx="0" cy="1916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7ABDD0C7-4D9E-D01F-612E-CBD4F2C02038}"/>
                </a:ext>
              </a:extLst>
            </p:cNvPr>
            <p:cNvCxnSpPr>
              <a:cxnSpLocks/>
            </p:cNvCxnSpPr>
            <p:nvPr/>
          </p:nvCxnSpPr>
          <p:spPr>
            <a:xfrm>
              <a:off x="6301342" y="4071700"/>
              <a:ext cx="0" cy="19165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C5B7726F-1AB2-0F08-F412-2A6E2A59583D}"/>
                </a:ext>
              </a:extLst>
            </p:cNvPr>
            <p:cNvSpPr/>
            <p:nvPr/>
          </p:nvSpPr>
          <p:spPr>
            <a:xfrm>
              <a:off x="3265168" y="4331113"/>
              <a:ext cx="1157292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复杂波系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2FF9B44B-C92E-C827-D053-11726C5C5A5A}"/>
                </a:ext>
              </a:extLst>
            </p:cNvPr>
            <p:cNvSpPr/>
            <p:nvPr/>
          </p:nvSpPr>
          <p:spPr>
            <a:xfrm>
              <a:off x="3699218" y="4871081"/>
              <a:ext cx="3176455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壁面压力</a:t>
              </a:r>
              <a:r>
                <a:rPr lang="zh-CN" altLang="en-US" b="1" dirty="0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、剪切应力、</a:t>
              </a:r>
              <a:r>
                <a:rPr lang="en-US" b="1" dirty="0" err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热流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60A07141-769C-F9E8-3EB0-84012DD1EBFA}"/>
                </a:ext>
              </a:extLst>
            </p:cNvPr>
            <p:cNvSpPr/>
            <p:nvPr/>
          </p:nvSpPr>
          <p:spPr>
            <a:xfrm>
              <a:off x="4727215" y="4331113"/>
              <a:ext cx="1157292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流体胀缩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7" name="Rounded Rectangle 76">
              <a:extLst>
                <a:ext uri="{FF2B5EF4-FFF2-40B4-BE49-F238E27FC236}">
                  <a16:creationId xmlns:a16="http://schemas.microsoft.com/office/drawing/2014/main" id="{8CA9DD7D-046C-5088-FE22-937C4209BB1E}"/>
                </a:ext>
              </a:extLst>
            </p:cNvPr>
            <p:cNvSpPr/>
            <p:nvPr/>
          </p:nvSpPr>
          <p:spPr>
            <a:xfrm>
              <a:off x="6082930" y="4331113"/>
              <a:ext cx="1157292" cy="406306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二次流动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97" name="Rounded Rectangle 96">
              <a:extLst>
                <a:ext uri="{FF2B5EF4-FFF2-40B4-BE49-F238E27FC236}">
                  <a16:creationId xmlns:a16="http://schemas.microsoft.com/office/drawing/2014/main" id="{DD9B5B56-8DBF-564D-E2A3-5672F753D13D}"/>
                </a:ext>
              </a:extLst>
            </p:cNvPr>
            <p:cNvSpPr/>
            <p:nvPr/>
          </p:nvSpPr>
          <p:spPr>
            <a:xfrm>
              <a:off x="2548252" y="3562940"/>
              <a:ext cx="426551" cy="2482753"/>
            </a:xfrm>
            <a:prstGeom prst="roundRect">
              <a:avLst>
                <a:gd name="adj" fmla="val 0"/>
              </a:avLst>
            </a:prstGeom>
            <a:solidFill>
              <a:srgbClr val="7030A0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bg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流动分析</a:t>
              </a:r>
              <a:endParaRPr lang="en-US" b="1" dirty="0">
                <a:solidFill>
                  <a:schemeClr val="bg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5" name="Rounded Rectangle 124">
              <a:extLst>
                <a:ext uri="{FF2B5EF4-FFF2-40B4-BE49-F238E27FC236}">
                  <a16:creationId xmlns:a16="http://schemas.microsoft.com/office/drawing/2014/main" id="{3FD49A85-F0CC-EC54-D87C-39525CC37DC2}"/>
                </a:ext>
              </a:extLst>
            </p:cNvPr>
            <p:cNvSpPr/>
            <p:nvPr/>
          </p:nvSpPr>
          <p:spPr>
            <a:xfrm>
              <a:off x="2974803" y="3562938"/>
              <a:ext cx="4528769" cy="2482755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  <p:sp>
          <p:nvSpPr>
            <p:cNvPr id="127" name="Rounded Rectangle 126">
              <a:extLst>
                <a:ext uri="{FF2B5EF4-FFF2-40B4-BE49-F238E27FC236}">
                  <a16:creationId xmlns:a16="http://schemas.microsoft.com/office/drawing/2014/main" id="{B52A9D8F-C2A9-04E3-1F7F-AFD623027D62}"/>
                </a:ext>
              </a:extLst>
            </p:cNvPr>
            <p:cNvSpPr/>
            <p:nvPr/>
          </p:nvSpPr>
          <p:spPr>
            <a:xfrm>
              <a:off x="3139480" y="4270762"/>
              <a:ext cx="4206242" cy="112686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accent1">
                  <a:shade val="1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dirty="0">
                <a:solidFill>
                  <a:schemeClr val="tx1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  <p:sp>
          <p:nvSpPr>
            <p:cNvPr id="128" name="Rounded Rectangle 127">
              <a:extLst>
                <a:ext uri="{FF2B5EF4-FFF2-40B4-BE49-F238E27FC236}">
                  <a16:creationId xmlns:a16="http://schemas.microsoft.com/office/drawing/2014/main" id="{1FEF5B66-ED7F-5E3A-0FCF-2AAA5AFD8FF4}"/>
                </a:ext>
              </a:extLst>
            </p:cNvPr>
            <p:cNvSpPr/>
            <p:nvPr/>
          </p:nvSpPr>
          <p:spPr>
            <a:xfrm>
              <a:off x="3181897" y="5552733"/>
              <a:ext cx="4116548" cy="349983"/>
            </a:xfrm>
            <a:prstGeom prst="roundRect">
              <a:avLst>
                <a:gd name="adj" fmla="val 0"/>
              </a:avLst>
            </a:prstGeom>
            <a:solidFill>
              <a:srgbClr val="C8B9DB"/>
            </a:solidFill>
            <a:ln w="254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err="1">
                  <a:solidFill>
                    <a:schemeClr val="tx1"/>
                  </a:solidFill>
                  <a:latin typeface="FangSong_GB2312" panose="02010609030101010101" pitchFamily="49" charset="-122"/>
                  <a:ea typeface="FangSong_GB2312" panose="02010609030101010101" pitchFamily="49" charset="-122"/>
                  <a:cs typeface="Times New Roman" panose="02020603050405020304" pitchFamily="18" charset="0"/>
                </a:rPr>
                <a:t>可压缩性对粗糙壁湍流的影响</a:t>
              </a:r>
              <a:endParaRPr 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9B11E096-BB55-D80A-B0CC-7CCDD797B12B}"/>
                </a:ext>
              </a:extLst>
            </p:cNvPr>
            <p:cNvCxnSpPr>
              <a:cxnSpLocks/>
              <a:stCxn id="127" idx="2"/>
              <a:endCxn id="128" idx="0"/>
            </p:cNvCxnSpPr>
            <p:nvPr/>
          </p:nvCxnSpPr>
          <p:spPr>
            <a:xfrm flipH="1">
              <a:off x="5240171" y="5397623"/>
              <a:ext cx="2430" cy="15511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4ECCD8F-3307-05CF-753E-FE24CC44D3D2}"/>
              </a:ext>
            </a:extLst>
          </p:cNvPr>
          <p:cNvSpPr/>
          <p:nvPr/>
        </p:nvSpPr>
        <p:spPr>
          <a:xfrm>
            <a:off x="1437124" y="3170774"/>
            <a:ext cx="1619006" cy="349983"/>
          </a:xfrm>
          <a:prstGeom prst="roundRect">
            <a:avLst>
              <a:gd name="adj" fmla="val 0"/>
            </a:avLst>
          </a:prstGeom>
          <a:solidFill>
            <a:srgbClr val="C8B9DB"/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FangSong_GB2312" panose="02010609030101010101" pitchFamily="49" charset="-122"/>
                <a:ea typeface="FangSong_GB2312" panose="02010609030101010101" pitchFamily="49" charset="-122"/>
                <a:cs typeface="Times New Roman" panose="02020603050405020304" pitchFamily="18" charset="0"/>
              </a:rPr>
              <a:t>简化模拟方法</a:t>
            </a:r>
            <a:endParaRPr lang="en-US" b="1" dirty="0">
              <a:solidFill>
                <a:schemeClr val="tx1"/>
              </a:solidFill>
              <a:latin typeface="FangSong_GB2312" panose="02010609030101010101" pitchFamily="49" charset="-122"/>
              <a:ea typeface="FangSong_GB2312" panose="0201060903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C457C3-7703-BFFC-1922-A3C0386953AA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056130" y="3345766"/>
            <a:ext cx="43926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08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3"/>
    </mc:Choice>
    <mc:Fallback xmlns="">
      <p:transition spd="slow" advTm="693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50548</TotalTime>
  <Words>454</Words>
  <Application>Microsoft Office PowerPoint</Application>
  <PresentationFormat>宽屏</PresentationFormat>
  <Paragraphs>166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Heiti SC Medium</vt:lpstr>
      <vt:lpstr>FangSong_GB2312</vt:lpstr>
      <vt:lpstr>SimHei</vt:lpstr>
      <vt:lpstr>Arial</vt:lpstr>
      <vt:lpstr>Calibri</vt:lpstr>
      <vt:lpstr>Calibri Light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Yongkai</dc:creator>
  <cp:lastModifiedBy>Yongkai Chen</cp:lastModifiedBy>
  <cp:revision>1242</cp:revision>
  <dcterms:created xsi:type="dcterms:W3CDTF">2023-02-28T10:44:12Z</dcterms:created>
  <dcterms:modified xsi:type="dcterms:W3CDTF">2026-02-26T08:31:16Z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2025-03-17T06:51:35Z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fcbd291e-635b-4bbf-a527-9412d4809c35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