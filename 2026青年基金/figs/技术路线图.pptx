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4" r:id="rId2"/>
    <p:sldId id="276" r:id="rId3"/>
    <p:sldId id="277" r:id="rId4"/>
    <p:sldId id="272" r:id="rId5"/>
    <p:sldId id="278" r:id="rId6"/>
    <p:sldId id="273" r:id="rId7"/>
    <p:sldId id="275" r:id="rId8"/>
    <p:sldId id="26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B9DB"/>
    <a:srgbClr val="843DBB"/>
    <a:srgbClr val="CA9916"/>
    <a:srgbClr val="D3A41D"/>
    <a:srgbClr val="7030A0"/>
    <a:srgbClr val="E2AD09"/>
    <a:srgbClr val="DF0004"/>
    <a:srgbClr val="C4ACEE"/>
    <a:srgbClr val="633D08"/>
    <a:srgbClr val="A349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5" autoAdjust="0"/>
    <p:restoredTop sz="96949"/>
  </p:normalViewPr>
  <p:slideViewPr>
    <p:cSldViewPr snapToGrid="0">
      <p:cViewPr>
        <p:scale>
          <a:sx n="110" d="100"/>
          <a:sy n="110" d="100"/>
        </p:scale>
        <p:origin x="-144" y="568"/>
      </p:cViewPr>
      <p:guideLst/>
    </p:cSldViewPr>
  </p:slideViewPr>
  <p:notesTextViewPr>
    <p:cViewPr>
      <p:scale>
        <a:sx n="120" d="100"/>
        <a:sy n="1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0EEB8-9624-4C4E-AC03-B1F3846BEC63}" type="datetimeFigureOut">
              <a:rPr lang="en-US" smtClean="0"/>
              <a:t>3/17/25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B99D15-6DE8-E043-85B9-375D2B651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325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EAC82-95E4-A2C4-2284-6CBBF4DCD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A2973-B225-5646-0D37-0B507302D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60D26-825F-004A-9D9B-C75E68936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61BD-6606-02C9-3181-08309A788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310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A2636-71D2-664A-9514-C9B403B7F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57CC1-5188-EF7B-814C-5D20BA711E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98E-8AE3-83C8-9A92-6BE4DFE165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CE801-DCBF-B3E7-D7F6-6FAF525F4D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20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A35-3393-F662-CB01-6F1D938B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657A5-8F68-419F-7BD0-1D9810CEC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5F06F-D6A7-7D99-5688-FAEE4B88B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487E7F-864D-50FB-732D-0F1D64961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19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5172D-E651-37BD-C99A-13184553F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7CFBF-4BBB-8E4E-EA10-1792E1149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5C19C-31A0-1F87-73ED-F4CF4E96C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C769-3960-4AC3-159A-391C4214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9490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54FEA-BCD1-5B01-46D8-CC08361D9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72D99-15E7-9D16-C451-C6EBEAADAB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D315A-3B53-361B-0D90-2E46F476C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8259F-A9C2-48DE-CAF6-25C120B4C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9293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9AC4F-43BB-0FA6-35F9-4414B4642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082C5-517F-5883-BDEB-EA7AE0DB7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67CA4F-C24C-EF16-38C8-21D92800A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ACA43-C0D0-E5E5-745A-7752613C7F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067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01B4B-6F93-DC6D-3444-8930DB7FB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2B834-50A7-C793-52BA-01CF2A35B2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7D4012-D5E1-A083-083E-49C92116D6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76DCF-0A72-829B-44A9-F641300183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7764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45D4D-15CE-B625-BD6B-C931AB0DF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C2559-C7D5-3759-31BB-22D43399A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2FE0F-B2DD-084A-837E-6AFB54A5B0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7B5CC-9CB0-DC60-0BA3-C05B4F48F5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B99D15-6DE8-E043-85B9-375D2B6510D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2262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26742-F5B6-7166-9CDB-AB007DF50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306E6-EB43-6281-3F87-E8F8EACE5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24B99-2F25-5584-3500-FA94050D1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8FAC3-23B3-4D50-402B-78C5BB468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E591A-5319-880B-7A87-581D1D1F5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728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AB0A1-CBD2-F9E4-9298-E4C6054C8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4C01E-79BE-1319-527F-F954374B6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89948-A6CD-33F5-569E-9304B1629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B8606-C203-0997-39AE-586CBFCB2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6E00A6-64A9-E2FD-06EB-59F16EA5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752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A0E6-8BC2-EA0B-1821-90FFD5517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AE38-A21E-F9FB-7607-471B16236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8C0D3-1C53-E1D1-1777-7EE6B2125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11BA26-98D5-3162-F0E4-9601F2CF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0232E-63C8-6695-920A-9D43EA26A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733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CC359-B198-4A3F-7A35-221506A9A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9E1CA-A090-1C60-7E25-06000E3546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A3CB49-89C3-EB93-A032-A79136987B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C6D4F-087C-29CD-7245-6602947A6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5901F7-6D53-5678-EF7A-89944E676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AA5530-EA9A-1C5E-CB98-042B0CAED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0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61C9C-AF3B-6070-C608-3C6F63695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2AF36-8810-0F16-3FF2-BEA66E4D0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E5EB3-FFD1-74DC-97EC-0D633EE6B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07A843-AC2C-63F0-53E4-22BE75768D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110C03-7197-D81B-68AB-9E19287FFD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19E60B-AF4F-6C9C-89EF-A6F3E725E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49F91A-0F5C-788F-F402-9A2DBA94F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2B69C-2B03-3ABF-004E-9D1278042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64D6F-B2FE-1BAA-6A2A-9956F6F52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CAE22-3D68-657D-65E6-45240745A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91D1E0-19FC-4315-AC74-5DBD64A47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5948F-AB0A-F2B0-7265-AB8656DFC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190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03EDB6-816E-60D5-623A-F53AEC90F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CA54EC-CB61-28BE-EE9D-922D4E297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D9B57-8E97-4713-F6C0-D4E0A18E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084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8EB23-5642-862F-D444-3F41DC8D0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580ED-9386-2C35-AE1A-B6F1A9229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48CBA-4326-F3EB-2EDF-CDE7E3E9A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B3A1-C3CD-77CA-6C6A-65E955905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9F652-3F67-AD83-0C5A-9FEA61DEB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53F92F-0CC4-1DAE-D592-8E8B09A2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34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63D49-38A5-5F9F-8F5C-0DF3801B3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E19382-191A-6F52-6DDA-E6E0A58239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8478D-6E19-C26D-B4CF-B40AFCE66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82BF40-01BA-C3BE-098D-C30435DB6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084432-4630-01D3-1493-88059A559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39DA9C-CC56-27D4-EF15-F685834D9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542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5ABB5-066C-D6C9-8728-7A745DC6D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86F17B-0793-61B4-DB6C-19A3BE1CA4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9D3486-0826-9B8F-B82A-37A9DC5DE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B7BF8-2329-3E45-1DDA-D26CB4D6B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EF102-7119-4853-2F24-B8C0FE935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67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C65108-4608-3570-B8C1-DD48EE59A1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6B9670-DD92-4A71-A545-CB52513CC5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704FA-6BF1-34EA-11CC-230312C64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229551-1669-C8CE-5274-CF6573B87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FA376E-39D9-EEE1-AE1E-A6686ABB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1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F17343-20C7-21D9-B739-5254F1587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5B9618-0A0F-F666-113D-81CAB170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433C-1CBA-DB9D-E8A5-6976EB4EF9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AF3379-F8B5-C245-9050-DD47E4D52610}" type="datetimeFigureOut">
              <a:rPr lang="en-US" smtClean="0"/>
              <a:t>3/17/25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D3873-AD44-6F90-FAD1-33F813044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AD465-BE83-EF6C-619A-D7A20F263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9B36B9-BF8B-2244-AC7F-4E6050D03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215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FD1DC-8C93-CD3D-03D1-EE2A93BDE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Group 164">
            <a:extLst>
              <a:ext uri="{FF2B5EF4-FFF2-40B4-BE49-F238E27FC236}">
                <a16:creationId xmlns:a16="http://schemas.microsoft.com/office/drawing/2014/main" id="{E67A2C97-5813-A46E-0332-C748685AA0AD}"/>
              </a:ext>
            </a:extLst>
          </p:cNvPr>
          <p:cNvGrpSpPr/>
          <p:nvPr/>
        </p:nvGrpSpPr>
        <p:grpSpPr>
          <a:xfrm>
            <a:off x="1085664" y="1437039"/>
            <a:ext cx="8589047" cy="4538895"/>
            <a:chOff x="1085664" y="1437039"/>
            <a:chExt cx="8589047" cy="4538895"/>
          </a:xfrm>
        </p:grpSpPr>
        <p:sp>
          <p:nvSpPr>
            <p:cNvPr id="137" name="Rounded Rectangle 136">
              <a:extLst>
                <a:ext uri="{FF2B5EF4-FFF2-40B4-BE49-F238E27FC236}">
                  <a16:creationId xmlns:a16="http://schemas.microsoft.com/office/drawing/2014/main" id="{59B6F3C1-DB0F-7C4A-876F-656EE2C58683}"/>
                </a:ext>
              </a:extLst>
            </p:cNvPr>
            <p:cNvSpPr/>
            <p:nvPr/>
          </p:nvSpPr>
          <p:spPr>
            <a:xfrm>
              <a:off x="3757557" y="5069227"/>
              <a:ext cx="1712177" cy="744632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流动参数选取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" name="Rounded Rectangle 137">
              <a:extLst>
                <a:ext uri="{FF2B5EF4-FFF2-40B4-BE49-F238E27FC236}">
                  <a16:creationId xmlns:a16="http://schemas.microsoft.com/office/drawing/2014/main" id="{85E8ACCB-C1CB-F2F5-6437-C0B07BBEFA9A}"/>
                </a:ext>
              </a:extLst>
            </p:cNvPr>
            <p:cNvSpPr/>
            <p:nvPr/>
          </p:nvSpPr>
          <p:spPr>
            <a:xfrm>
              <a:off x="5760383" y="5069227"/>
              <a:ext cx="1834617" cy="744632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高超声速粗糙壁湍流简化模拟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39" name="Rounded Rectangle 138">
              <a:extLst>
                <a:ext uri="{FF2B5EF4-FFF2-40B4-BE49-F238E27FC236}">
                  <a16:creationId xmlns:a16="http://schemas.microsoft.com/office/drawing/2014/main" id="{22E02BB3-6941-B703-773E-8EF0FE5DEA7B}"/>
                </a:ext>
              </a:extLst>
            </p:cNvPr>
            <p:cNvSpPr/>
            <p:nvPr/>
          </p:nvSpPr>
          <p:spPr>
            <a:xfrm>
              <a:off x="1786014" y="5069227"/>
              <a:ext cx="1712177" cy="754586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生成粗糙壁几何外形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" name="Rounded Rectangle 139">
              <a:extLst>
                <a:ext uri="{FF2B5EF4-FFF2-40B4-BE49-F238E27FC236}">
                  <a16:creationId xmlns:a16="http://schemas.microsoft.com/office/drawing/2014/main" id="{26453E77-3F3A-3218-3BC7-EAF084A34656}"/>
                </a:ext>
              </a:extLst>
            </p:cNvPr>
            <p:cNvSpPr/>
            <p:nvPr/>
          </p:nvSpPr>
          <p:spPr>
            <a:xfrm>
              <a:off x="7783930" y="5069227"/>
              <a:ext cx="1712177" cy="744632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聚焦可压缩性流动机理分析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40EB7C09-278C-BE76-FB73-40E91A185373}"/>
                </a:ext>
              </a:extLst>
            </p:cNvPr>
            <p:cNvCxnSpPr>
              <a:cxnSpLocks/>
              <a:stCxn id="139" idx="3"/>
              <a:endCxn id="137" idx="1"/>
            </p:cNvCxnSpPr>
            <p:nvPr/>
          </p:nvCxnSpPr>
          <p:spPr>
            <a:xfrm flipV="1">
              <a:off x="3498191" y="5441543"/>
              <a:ext cx="259366" cy="4977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27E04E03-9D30-C9F0-99BA-283E5C7DFB56}"/>
                </a:ext>
              </a:extLst>
            </p:cNvPr>
            <p:cNvCxnSpPr>
              <a:cxnSpLocks/>
              <a:stCxn id="137" idx="3"/>
              <a:endCxn id="138" idx="1"/>
            </p:cNvCxnSpPr>
            <p:nvPr/>
          </p:nvCxnSpPr>
          <p:spPr>
            <a:xfrm>
              <a:off x="5469734" y="5441543"/>
              <a:ext cx="29064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509F9F3C-90D3-05DA-1800-20623DA89000}"/>
                </a:ext>
              </a:extLst>
            </p:cNvPr>
            <p:cNvCxnSpPr>
              <a:cxnSpLocks/>
              <a:stCxn id="138" idx="3"/>
              <a:endCxn id="140" idx="1"/>
            </p:cNvCxnSpPr>
            <p:nvPr/>
          </p:nvCxnSpPr>
          <p:spPr>
            <a:xfrm>
              <a:off x="7595000" y="5441543"/>
              <a:ext cx="18893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2" name="Rounded Rectangle 201">
              <a:extLst>
                <a:ext uri="{FF2B5EF4-FFF2-40B4-BE49-F238E27FC236}">
                  <a16:creationId xmlns:a16="http://schemas.microsoft.com/office/drawing/2014/main" id="{16DD5EB8-07C2-C817-3E48-75C29E278892}"/>
                </a:ext>
              </a:extLst>
            </p:cNvPr>
            <p:cNvSpPr/>
            <p:nvPr/>
          </p:nvSpPr>
          <p:spPr>
            <a:xfrm>
              <a:off x="3774109" y="2667569"/>
              <a:ext cx="1712177" cy="628028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构建图神经网络</a:t>
              </a:r>
              <a:r>
                <a:rPr lang="en-US" altLang="zh-CN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(GNN</a:t>
              </a:r>
              <a:r>
                <a:rPr lang="zh-CN" alt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）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04" name="Rounded Rectangle 203">
              <a:extLst>
                <a:ext uri="{FF2B5EF4-FFF2-40B4-BE49-F238E27FC236}">
                  <a16:creationId xmlns:a16="http://schemas.microsoft.com/office/drawing/2014/main" id="{1C1B39FB-C304-3D33-DBB0-0670060B62BF}"/>
                </a:ext>
              </a:extLst>
            </p:cNvPr>
            <p:cNvSpPr/>
            <p:nvPr/>
          </p:nvSpPr>
          <p:spPr>
            <a:xfrm>
              <a:off x="1792472" y="1683620"/>
              <a:ext cx="1712177" cy="634349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构建流动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数据库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05" name="Rounded Rectangle 204">
              <a:extLst>
                <a:ext uri="{FF2B5EF4-FFF2-40B4-BE49-F238E27FC236}">
                  <a16:creationId xmlns:a16="http://schemas.microsoft.com/office/drawing/2014/main" id="{265F6D22-A3FD-51B3-F949-088581E4FBE3}"/>
                </a:ext>
              </a:extLst>
            </p:cNvPr>
            <p:cNvSpPr/>
            <p:nvPr/>
          </p:nvSpPr>
          <p:spPr>
            <a:xfrm>
              <a:off x="1846767" y="2667569"/>
              <a:ext cx="1712177" cy="628028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获取节点阻抗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08" name="Straight Arrow Connector 207">
              <a:extLst>
                <a:ext uri="{FF2B5EF4-FFF2-40B4-BE49-F238E27FC236}">
                  <a16:creationId xmlns:a16="http://schemas.microsoft.com/office/drawing/2014/main" id="{E1F7B49A-D5C8-F87E-DDE2-66424818A7F7}"/>
                </a:ext>
              </a:extLst>
            </p:cNvPr>
            <p:cNvCxnSpPr>
              <a:cxnSpLocks/>
              <a:stCxn id="202" idx="1"/>
              <a:endCxn id="205" idx="3"/>
            </p:cNvCxnSpPr>
            <p:nvPr/>
          </p:nvCxnSpPr>
          <p:spPr>
            <a:xfrm flipH="1">
              <a:off x="3558944" y="2981583"/>
              <a:ext cx="215165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4BA04FE7-AE69-DBF0-3804-8DE179523A1F}"/>
                </a:ext>
              </a:extLst>
            </p:cNvPr>
            <p:cNvSpPr/>
            <p:nvPr/>
          </p:nvSpPr>
          <p:spPr>
            <a:xfrm>
              <a:off x="3044537" y="3636189"/>
              <a:ext cx="1205346" cy="744632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时域阻抗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边界条件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2639991-31B4-923E-1F5B-DF7C3534BAEA}"/>
                </a:ext>
              </a:extLst>
            </p:cNvPr>
            <p:cNvSpPr txBox="1"/>
            <p:nvPr/>
          </p:nvSpPr>
          <p:spPr>
            <a:xfrm>
              <a:off x="1085664" y="4932549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74FF08B2-A021-39FF-4724-C814111CD9B1}"/>
                </a:ext>
              </a:extLst>
            </p:cNvPr>
            <p:cNvSpPr/>
            <p:nvPr/>
          </p:nvSpPr>
          <p:spPr>
            <a:xfrm>
              <a:off x="1173713" y="4784424"/>
              <a:ext cx="426551" cy="119151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机理分析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83909DC4-A349-F429-6DD5-8C2A8E16E32A}"/>
                </a:ext>
              </a:extLst>
            </p:cNvPr>
            <p:cNvSpPr/>
            <p:nvPr/>
          </p:nvSpPr>
          <p:spPr>
            <a:xfrm>
              <a:off x="1600264" y="4784424"/>
              <a:ext cx="8064817" cy="11915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>
                <a:solidFill>
                  <a:schemeClr val="tx1"/>
                </a:solidFill>
                <a:latin typeface="Heiti SC Medium" pitchFamily="2" charset="-128"/>
                <a:ea typeface="Heiti SC Medium" pitchFamily="2" charset="-128"/>
              </a:endParaRPr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695D2526-3EE6-4C28-9BE3-FCB644171716}"/>
                </a:ext>
              </a:extLst>
            </p:cNvPr>
            <p:cNvSpPr/>
            <p:nvPr/>
          </p:nvSpPr>
          <p:spPr>
            <a:xfrm>
              <a:off x="1180055" y="1437039"/>
              <a:ext cx="426551" cy="3159091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瞬时边界条件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381A55F9-E641-B107-B577-DD4C65A6B7BD}"/>
                </a:ext>
              </a:extLst>
            </p:cNvPr>
            <p:cNvSpPr/>
            <p:nvPr/>
          </p:nvSpPr>
          <p:spPr>
            <a:xfrm>
              <a:off x="1606722" y="1437039"/>
              <a:ext cx="4025951" cy="3159091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>
                <a:solidFill>
                  <a:schemeClr val="tx1"/>
                </a:solidFill>
                <a:latin typeface="Heiti SC Medium" pitchFamily="2" charset="-128"/>
                <a:ea typeface="Heiti SC Medium" pitchFamily="2" charset="-128"/>
              </a:endParaRPr>
            </a:p>
          </p:txBody>
        </p:sp>
        <p:sp>
          <p:nvSpPr>
            <p:cNvPr id="154" name="Rounded Rectangle 153">
              <a:extLst>
                <a:ext uri="{FF2B5EF4-FFF2-40B4-BE49-F238E27FC236}">
                  <a16:creationId xmlns:a16="http://schemas.microsoft.com/office/drawing/2014/main" id="{65E238AC-E170-B0FF-200D-F3485EB50DAE}"/>
                </a:ext>
              </a:extLst>
            </p:cNvPr>
            <p:cNvSpPr/>
            <p:nvPr/>
          </p:nvSpPr>
          <p:spPr>
            <a:xfrm>
              <a:off x="6464348" y="1878283"/>
              <a:ext cx="2316864" cy="744632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节点处</a:t>
              </a:r>
              <a:r>
                <a:rPr lang="zh-CN" alt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（壁面相关）</a:t>
              </a:r>
              <a:endParaRPr lang="en-US" altLang="zh-CN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流场数据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57" name="Rounded Rectangle 156">
              <a:extLst>
                <a:ext uri="{FF2B5EF4-FFF2-40B4-BE49-F238E27FC236}">
                  <a16:creationId xmlns:a16="http://schemas.microsoft.com/office/drawing/2014/main" id="{EE3457B2-1A26-EC19-EC65-46E329D1289D}"/>
                </a:ext>
              </a:extLst>
            </p:cNvPr>
            <p:cNvSpPr/>
            <p:nvPr/>
          </p:nvSpPr>
          <p:spPr>
            <a:xfrm>
              <a:off x="6615520" y="3249728"/>
              <a:ext cx="2014520" cy="1078257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壁面瞬时</a:t>
              </a:r>
              <a:r>
                <a:rPr lang="zh-CN" alt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与</a:t>
              </a:r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平均压力</a:t>
              </a:r>
              <a:r>
                <a:rPr lang="zh-CN" altLang="en-US" dirty="0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、剪切应力、热流分布预测方法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62" name="Rounded Rectangle 161">
              <a:extLst>
                <a:ext uri="{FF2B5EF4-FFF2-40B4-BE49-F238E27FC236}">
                  <a16:creationId xmlns:a16="http://schemas.microsoft.com/office/drawing/2014/main" id="{B59C67D9-56E8-3F12-676C-AA380A594D00}"/>
                </a:ext>
              </a:extLst>
            </p:cNvPr>
            <p:cNvSpPr/>
            <p:nvPr/>
          </p:nvSpPr>
          <p:spPr>
            <a:xfrm>
              <a:off x="9248160" y="1442523"/>
              <a:ext cx="426551" cy="31536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壁面数据预测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63" name="Rounded Rectangle 162">
              <a:extLst>
                <a:ext uri="{FF2B5EF4-FFF2-40B4-BE49-F238E27FC236}">
                  <a16:creationId xmlns:a16="http://schemas.microsoft.com/office/drawing/2014/main" id="{DEBD730A-2F3C-D061-026B-A709EDD571CD}"/>
                </a:ext>
              </a:extLst>
            </p:cNvPr>
            <p:cNvSpPr/>
            <p:nvPr/>
          </p:nvSpPr>
          <p:spPr>
            <a:xfrm>
              <a:off x="6096000" y="1437039"/>
              <a:ext cx="3575539" cy="315909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>
                <a:solidFill>
                  <a:schemeClr val="tx1"/>
                </a:solidFill>
                <a:latin typeface="Heiti SC Medium" pitchFamily="2" charset="-128"/>
                <a:ea typeface="Heiti SC Medium" pitchFamily="2" charset="-128"/>
              </a:endParaRPr>
            </a:p>
          </p:txBody>
        </p: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78BEFDF3-AAA2-9F34-FDCC-E3C9255C7944}"/>
                </a:ext>
              </a:extLst>
            </p:cNvPr>
            <p:cNvCxnSpPr>
              <a:cxnSpLocks/>
              <a:stCxn id="204" idx="3"/>
              <a:endCxn id="21" idx="1"/>
            </p:cNvCxnSpPr>
            <p:nvPr/>
          </p:nvCxnSpPr>
          <p:spPr>
            <a:xfrm flipV="1">
              <a:off x="3504649" y="2000794"/>
              <a:ext cx="269460" cy="1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8F0A8662-68A1-6A26-BA72-E4AC2A0083ED}"/>
                </a:ext>
              </a:extLst>
            </p:cNvPr>
            <p:cNvCxnSpPr>
              <a:cxnSpLocks/>
              <a:stCxn id="154" idx="2"/>
              <a:endCxn id="157" idx="0"/>
            </p:cNvCxnSpPr>
            <p:nvPr/>
          </p:nvCxnSpPr>
          <p:spPr>
            <a:xfrm>
              <a:off x="7622780" y="2622915"/>
              <a:ext cx="0" cy="62681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14EBC024-74AB-C185-AC55-AC715EF24D1C}"/>
                </a:ext>
              </a:extLst>
            </p:cNvPr>
            <p:cNvSpPr/>
            <p:nvPr/>
          </p:nvSpPr>
          <p:spPr>
            <a:xfrm rot="7835447" flipV="1">
              <a:off x="6523319" y="4536602"/>
              <a:ext cx="1240308" cy="329488"/>
            </a:xfrm>
            <a:custGeom>
              <a:avLst/>
              <a:gdLst>
                <a:gd name="connsiteX0" fmla="*/ 0 w 1801905"/>
                <a:gd name="connsiteY0" fmla="*/ 423473 h 423473"/>
                <a:gd name="connsiteX1" fmla="*/ 815788 w 1801905"/>
                <a:gd name="connsiteY1" fmla="*/ 11097 h 423473"/>
                <a:gd name="connsiteX2" fmla="*/ 1801905 w 1801905"/>
                <a:gd name="connsiteY2" fmla="*/ 109708 h 42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01905" h="423473">
                  <a:moveTo>
                    <a:pt x="0" y="423473"/>
                  </a:moveTo>
                  <a:cubicBezTo>
                    <a:pt x="257735" y="243432"/>
                    <a:pt x="515471" y="63391"/>
                    <a:pt x="815788" y="11097"/>
                  </a:cubicBezTo>
                  <a:cubicBezTo>
                    <a:pt x="1116106" y="-41197"/>
                    <a:pt x="1601693" y="108214"/>
                    <a:pt x="1801905" y="109708"/>
                  </a:cubicBezTo>
                </a:path>
              </a:pathLst>
            </a:cu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DF7B620A-0206-6A0E-347B-A2C69072D8FE}"/>
                </a:ext>
              </a:extLst>
            </p:cNvPr>
            <p:cNvSpPr/>
            <p:nvPr/>
          </p:nvSpPr>
          <p:spPr>
            <a:xfrm rot="3163520" flipH="1" flipV="1">
              <a:off x="5972704" y="1979576"/>
              <a:ext cx="45719" cy="1250299"/>
            </a:xfrm>
            <a:custGeom>
              <a:avLst/>
              <a:gdLst>
                <a:gd name="connsiteX0" fmla="*/ 698448 w 698448"/>
                <a:gd name="connsiteY0" fmla="*/ 0 h 926276"/>
                <a:gd name="connsiteX1" fmla="*/ 69056 w 698448"/>
                <a:gd name="connsiteY1" fmla="*/ 415637 h 926276"/>
                <a:gd name="connsiteX2" fmla="*/ 9679 w 698448"/>
                <a:gd name="connsiteY2" fmla="*/ 926276 h 92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8448" h="926276">
                  <a:moveTo>
                    <a:pt x="698448" y="0"/>
                  </a:moveTo>
                  <a:cubicBezTo>
                    <a:pt x="441149" y="130629"/>
                    <a:pt x="183851" y="261258"/>
                    <a:pt x="69056" y="415637"/>
                  </a:cubicBezTo>
                  <a:cubicBezTo>
                    <a:pt x="-45739" y="570016"/>
                    <a:pt x="19575" y="841170"/>
                    <a:pt x="9679" y="926276"/>
                  </a:cubicBezTo>
                </a:path>
              </a:pathLst>
            </a:cu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2AB9E6EF-766C-A974-47DC-54EBA05EE038}"/>
                </a:ext>
              </a:extLst>
            </p:cNvPr>
            <p:cNvSpPr/>
            <p:nvPr/>
          </p:nvSpPr>
          <p:spPr>
            <a:xfrm>
              <a:off x="3774109" y="1686780"/>
              <a:ext cx="1712177" cy="628028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Times New Roman" panose="02020603050405020304" pitchFamily="18" charset="0"/>
                </a:rPr>
                <a:t>获取粗糙壁几何外形</a:t>
              </a:r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660E9DD-9878-46CD-8957-32D26D2FB0B4}"/>
                </a:ext>
              </a:extLst>
            </p:cNvPr>
            <p:cNvCxnSpPr>
              <a:cxnSpLocks/>
              <a:stCxn id="21" idx="2"/>
              <a:endCxn id="202" idx="0"/>
            </p:cNvCxnSpPr>
            <p:nvPr/>
          </p:nvCxnSpPr>
          <p:spPr>
            <a:xfrm>
              <a:off x="4630198" y="2314808"/>
              <a:ext cx="0" cy="352761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Elbow Connector 61">
              <a:extLst>
                <a:ext uri="{FF2B5EF4-FFF2-40B4-BE49-F238E27FC236}">
                  <a16:creationId xmlns:a16="http://schemas.microsoft.com/office/drawing/2014/main" id="{0197FD42-6185-86A5-5627-07BD2B4AE348}"/>
                </a:ext>
              </a:extLst>
            </p:cNvPr>
            <p:cNvCxnSpPr>
              <a:cxnSpLocks/>
              <a:stCxn id="205" idx="2"/>
              <a:endCxn id="2" idx="1"/>
            </p:cNvCxnSpPr>
            <p:nvPr/>
          </p:nvCxnSpPr>
          <p:spPr>
            <a:xfrm rot="16200000" flipH="1">
              <a:off x="2517242" y="3481210"/>
              <a:ext cx="712908" cy="341681"/>
            </a:xfrm>
            <a:prstGeom prst="bent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CA1632D9-9B8B-5AA8-B9F2-68623481FD69}"/>
                </a:ext>
              </a:extLst>
            </p:cNvPr>
            <p:cNvSpPr/>
            <p:nvPr/>
          </p:nvSpPr>
          <p:spPr>
            <a:xfrm rot="6146992" flipH="1" flipV="1">
              <a:off x="5229513" y="3205193"/>
              <a:ext cx="541726" cy="2650211"/>
            </a:xfrm>
            <a:custGeom>
              <a:avLst/>
              <a:gdLst>
                <a:gd name="connsiteX0" fmla="*/ 698448 w 698448"/>
                <a:gd name="connsiteY0" fmla="*/ 0 h 926276"/>
                <a:gd name="connsiteX1" fmla="*/ 69056 w 698448"/>
                <a:gd name="connsiteY1" fmla="*/ 415637 h 926276"/>
                <a:gd name="connsiteX2" fmla="*/ 9679 w 698448"/>
                <a:gd name="connsiteY2" fmla="*/ 926276 h 92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8448" h="926276">
                  <a:moveTo>
                    <a:pt x="698448" y="0"/>
                  </a:moveTo>
                  <a:cubicBezTo>
                    <a:pt x="441149" y="130629"/>
                    <a:pt x="183851" y="261258"/>
                    <a:pt x="69056" y="415637"/>
                  </a:cubicBezTo>
                  <a:cubicBezTo>
                    <a:pt x="-45739" y="570016"/>
                    <a:pt x="19575" y="841170"/>
                    <a:pt x="9679" y="926276"/>
                  </a:cubicBezTo>
                </a:path>
              </a:pathLst>
            </a:cu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7BD7E0F-946E-B37A-66BA-0F797CECA94A}"/>
              </a:ext>
            </a:extLst>
          </p:cNvPr>
          <p:cNvSpPr/>
          <p:nvPr/>
        </p:nvSpPr>
        <p:spPr>
          <a:xfrm>
            <a:off x="2873696" y="288837"/>
            <a:ext cx="2193687" cy="1023332"/>
          </a:xfrm>
          <a:prstGeom prst="roundRect">
            <a:avLst>
              <a:gd name="adj" fmla="val 0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rPr>
              <a:t>构建</a:t>
            </a:r>
            <a:r>
              <a:rPr lang="en-US" altLang="zh-CN" dirty="0" err="1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rPr>
              <a:t>GNN</a:t>
            </a:r>
            <a:endParaRPr lang="en-US" dirty="0">
              <a:solidFill>
                <a:schemeClr val="tx1"/>
              </a:solidFill>
              <a:latin typeface="SimHei" panose="02010609060101010101" pitchFamily="49" charset="-122"/>
              <a:ea typeface="SimHei" panose="02010609060101010101" pitchFamily="49" charset="-122"/>
              <a:cs typeface="Times New Roman" panose="02020603050405020304" pitchFamily="18" charset="0"/>
            </a:endParaRPr>
          </a:p>
          <a:p>
            <a:pPr algn="ctr"/>
            <a:endParaRPr lang="en-US" dirty="0">
              <a:solidFill>
                <a:schemeClr val="tx1"/>
              </a:solidFill>
              <a:latin typeface="SimHei" panose="02010609060101010101" pitchFamily="49" charset="-122"/>
              <a:ea typeface="SimHei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253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98628-7E81-C8F9-2FBB-536B0082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BC25C38-0994-6431-0A91-3866D04689C6}"/>
              </a:ext>
            </a:extLst>
          </p:cNvPr>
          <p:cNvGrpSpPr/>
          <p:nvPr/>
        </p:nvGrpSpPr>
        <p:grpSpPr>
          <a:xfrm>
            <a:off x="1746804" y="2508185"/>
            <a:ext cx="8331987" cy="1527035"/>
            <a:chOff x="802126" y="4670044"/>
            <a:chExt cx="8331987" cy="1527035"/>
          </a:xfrm>
        </p:grpSpPr>
        <p:sp>
          <p:nvSpPr>
            <p:cNvPr id="128" name="Rounded Rectangle 127">
              <a:extLst>
                <a:ext uri="{FF2B5EF4-FFF2-40B4-BE49-F238E27FC236}">
                  <a16:creationId xmlns:a16="http://schemas.microsoft.com/office/drawing/2014/main" id="{B5A3EA76-6CA2-929D-7903-D16E38019D9B}"/>
                </a:ext>
              </a:extLst>
            </p:cNvPr>
            <p:cNvSpPr/>
            <p:nvPr/>
          </p:nvSpPr>
          <p:spPr>
            <a:xfrm>
              <a:off x="2235095" y="5831778"/>
              <a:ext cx="3969040" cy="365301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75000"/>
              </a:schemeClr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高超声速粗糙壁湍流简化模拟方法</a:t>
              </a:r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EB7DA0D-D0A9-7D3C-4334-347C736837E6}"/>
                </a:ext>
              </a:extLst>
            </p:cNvPr>
            <p:cNvSpPr/>
            <p:nvPr/>
          </p:nvSpPr>
          <p:spPr>
            <a:xfrm>
              <a:off x="2235095" y="4890504"/>
              <a:ext cx="1855109" cy="569892"/>
            </a:xfrm>
            <a:prstGeom prst="roundRect">
              <a:avLst>
                <a:gd name="adj" fmla="val 0"/>
              </a:avLst>
            </a:prstGeom>
            <a:solidFill>
              <a:srgbClr val="CA9916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基于</a:t>
              </a:r>
              <a:r>
                <a:rPr lang="en-US" altLang="zh-CN" b="1" dirty="0" err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GNN</a:t>
              </a:r>
              <a:r>
                <a:rPr lang="zh-CN" alt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的</a:t>
              </a:r>
              <a:r>
                <a:rPr lang="en-US" b="1" dirty="0" err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时域阻抗边界条件</a:t>
              </a:r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6FAA847-C5AE-5421-43EE-279CE4056D32}"/>
                </a:ext>
              </a:extLst>
            </p:cNvPr>
            <p:cNvSpPr/>
            <p:nvPr/>
          </p:nvSpPr>
          <p:spPr>
            <a:xfrm>
              <a:off x="4345760" y="4890504"/>
              <a:ext cx="1855111" cy="5698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瞬时粗糙壁面物理量预测方法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2DD9E02F-794A-C06A-13D9-CADF63458869}"/>
                </a:ext>
              </a:extLst>
            </p:cNvPr>
            <p:cNvSpPr/>
            <p:nvPr/>
          </p:nvSpPr>
          <p:spPr>
            <a:xfrm>
              <a:off x="7789535" y="4670044"/>
              <a:ext cx="1344578" cy="1527035"/>
            </a:xfrm>
            <a:prstGeom prst="roundRect">
              <a:avLst>
                <a:gd name="adj" fmla="val 0"/>
              </a:avLst>
            </a:prstGeom>
            <a:solidFill>
              <a:srgbClr val="7030A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粗糙壁湍流受可压缩性影响机理探究</a:t>
              </a:r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7" name="Down Arrow 66">
              <a:extLst>
                <a:ext uri="{FF2B5EF4-FFF2-40B4-BE49-F238E27FC236}">
                  <a16:creationId xmlns:a16="http://schemas.microsoft.com/office/drawing/2014/main" id="{158052FE-DFD0-4C0C-3567-5850F8D5F8B2}"/>
                </a:ext>
              </a:extLst>
            </p:cNvPr>
            <p:cNvSpPr/>
            <p:nvPr/>
          </p:nvSpPr>
          <p:spPr>
            <a:xfrm>
              <a:off x="2915513" y="5490576"/>
              <a:ext cx="439333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9" name="Down Arrow 68">
              <a:extLst>
                <a:ext uri="{FF2B5EF4-FFF2-40B4-BE49-F238E27FC236}">
                  <a16:creationId xmlns:a16="http://schemas.microsoft.com/office/drawing/2014/main" id="{02C0C97D-8D41-8315-DDB4-F3BFB9936F78}"/>
                </a:ext>
              </a:extLst>
            </p:cNvPr>
            <p:cNvSpPr/>
            <p:nvPr/>
          </p:nvSpPr>
          <p:spPr>
            <a:xfrm rot="16200000">
              <a:off x="7346925" y="5379226"/>
              <a:ext cx="439333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A44894F3-79F1-AD52-CF38-027A41CCFC59}"/>
                </a:ext>
              </a:extLst>
            </p:cNvPr>
            <p:cNvCxnSpPr>
              <a:cxnSpLocks/>
              <a:stCxn id="128" idx="3"/>
              <a:endCxn id="99" idx="2"/>
            </p:cNvCxnSpPr>
            <p:nvPr/>
          </p:nvCxnSpPr>
          <p:spPr>
            <a:xfrm flipV="1">
              <a:off x="6204135" y="5831778"/>
              <a:ext cx="621117" cy="182651"/>
            </a:xfrm>
            <a:prstGeom prst="bent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Elbow Connector 73">
              <a:extLst>
                <a:ext uri="{FF2B5EF4-FFF2-40B4-BE49-F238E27FC236}">
                  <a16:creationId xmlns:a16="http://schemas.microsoft.com/office/drawing/2014/main" id="{CFEB07B7-FAE1-4FC6-FB6D-E39C18BF027C}"/>
                </a:ext>
              </a:extLst>
            </p:cNvPr>
            <p:cNvCxnSpPr>
              <a:cxnSpLocks/>
              <a:stCxn id="75" idx="0"/>
              <a:endCxn id="2" idx="0"/>
            </p:cNvCxnSpPr>
            <p:nvPr/>
          </p:nvCxnSpPr>
          <p:spPr>
            <a:xfrm rot="5400000" flipH="1" flipV="1">
              <a:off x="2236068" y="3963922"/>
              <a:ext cx="12700" cy="1853164"/>
            </a:xfrm>
            <a:prstGeom prst="bentConnector3">
              <a:avLst>
                <a:gd name="adj1" fmla="val 1800000"/>
              </a:avLst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0B1B3529-25EF-EE98-6D17-2DD5CCB5346E}"/>
                </a:ext>
              </a:extLst>
            </p:cNvPr>
            <p:cNvSpPr/>
            <p:nvPr/>
          </p:nvSpPr>
          <p:spPr>
            <a:xfrm>
              <a:off x="802126" y="4890504"/>
              <a:ext cx="1014720" cy="5698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高精度数据库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82" name="Elbow Connector 81">
              <a:extLst>
                <a:ext uri="{FF2B5EF4-FFF2-40B4-BE49-F238E27FC236}">
                  <a16:creationId xmlns:a16="http://schemas.microsoft.com/office/drawing/2014/main" id="{BC186D2A-5E22-2A40-C3DF-99F3E7992221}"/>
                </a:ext>
              </a:extLst>
            </p:cNvPr>
            <p:cNvCxnSpPr>
              <a:cxnSpLocks/>
              <a:stCxn id="75" idx="0"/>
              <a:endCxn id="9" idx="0"/>
            </p:cNvCxnSpPr>
            <p:nvPr/>
          </p:nvCxnSpPr>
          <p:spPr>
            <a:xfrm rot="5400000" flipH="1" flipV="1">
              <a:off x="3291401" y="2908589"/>
              <a:ext cx="12700" cy="3963830"/>
            </a:xfrm>
            <a:prstGeom prst="bentConnector3">
              <a:avLst>
                <a:gd name="adj1" fmla="val 1800000"/>
              </a:avLst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F0C2DC14-6B78-38CA-258C-4F23B583E45C}"/>
                </a:ext>
              </a:extLst>
            </p:cNvPr>
            <p:cNvCxnSpPr>
              <a:cxnSpLocks/>
              <a:stCxn id="75" idx="2"/>
              <a:endCxn id="128" idx="1"/>
            </p:cNvCxnSpPr>
            <p:nvPr/>
          </p:nvCxnSpPr>
          <p:spPr>
            <a:xfrm rot="16200000" flipH="1">
              <a:off x="1495274" y="5274607"/>
              <a:ext cx="554033" cy="925609"/>
            </a:xfrm>
            <a:prstGeom prst="bent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C2831D4-9069-5878-E82D-CDD3D26C5A8C}"/>
                </a:ext>
              </a:extLst>
            </p:cNvPr>
            <p:cNvSpPr txBox="1"/>
            <p:nvPr/>
          </p:nvSpPr>
          <p:spPr>
            <a:xfrm>
              <a:off x="1465389" y="5578791"/>
              <a:ext cx="65594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 err="1"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验证</a:t>
              </a:r>
              <a:endParaRPr lang="en-US" b="1" dirty="0"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99" name="Rounded Rectangle 98">
              <a:extLst>
                <a:ext uri="{FF2B5EF4-FFF2-40B4-BE49-F238E27FC236}">
                  <a16:creationId xmlns:a16="http://schemas.microsoft.com/office/drawing/2014/main" id="{4AA8B9BA-D374-BC94-F706-5E4743939425}"/>
                </a:ext>
              </a:extLst>
            </p:cNvPr>
            <p:cNvSpPr/>
            <p:nvPr/>
          </p:nvSpPr>
          <p:spPr>
            <a:xfrm>
              <a:off x="6317892" y="5261886"/>
              <a:ext cx="1014720" cy="5698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扩展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b="1" dirty="0" err="1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数据库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108" name="Down Arrow 107">
              <a:extLst>
                <a:ext uri="{FF2B5EF4-FFF2-40B4-BE49-F238E27FC236}">
                  <a16:creationId xmlns:a16="http://schemas.microsoft.com/office/drawing/2014/main" id="{4DBACF0C-83D2-76C2-2C49-7E6F998741B2}"/>
                </a:ext>
              </a:extLst>
            </p:cNvPr>
            <p:cNvSpPr/>
            <p:nvPr/>
          </p:nvSpPr>
          <p:spPr>
            <a:xfrm>
              <a:off x="5206048" y="5489070"/>
              <a:ext cx="439333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1" name="Elbow Connector 140">
              <a:extLst>
                <a:ext uri="{FF2B5EF4-FFF2-40B4-BE49-F238E27FC236}">
                  <a16:creationId xmlns:a16="http://schemas.microsoft.com/office/drawing/2014/main" id="{9918D84B-2967-1BB1-F82D-3523FB2386BE}"/>
                </a:ext>
              </a:extLst>
            </p:cNvPr>
            <p:cNvCxnSpPr>
              <a:cxnSpLocks/>
              <a:stCxn id="75" idx="0"/>
              <a:endCxn id="99" idx="0"/>
            </p:cNvCxnSpPr>
            <p:nvPr/>
          </p:nvCxnSpPr>
          <p:spPr>
            <a:xfrm rot="16200000" flipH="1">
              <a:off x="3881678" y="2318312"/>
              <a:ext cx="371382" cy="5515766"/>
            </a:xfrm>
            <a:prstGeom prst="bentConnector3">
              <a:avLst>
                <a:gd name="adj1" fmla="val -59116"/>
              </a:avLst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16335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6207F-8945-AFC2-DC12-D560CB176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51D5E0B-44F9-4390-1DA3-53105D381B1D}"/>
              </a:ext>
            </a:extLst>
          </p:cNvPr>
          <p:cNvGrpSpPr/>
          <p:nvPr/>
        </p:nvGrpSpPr>
        <p:grpSpPr>
          <a:xfrm>
            <a:off x="1232576" y="1754941"/>
            <a:ext cx="8733190" cy="2109566"/>
            <a:chOff x="1232576" y="1754941"/>
            <a:chExt cx="8733190" cy="210956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29635C68-DEAE-7D08-DF1F-5BC540ED5AC3}"/>
                </a:ext>
              </a:extLst>
            </p:cNvPr>
            <p:cNvSpPr/>
            <p:nvPr/>
          </p:nvSpPr>
          <p:spPr>
            <a:xfrm>
              <a:off x="1232576" y="1754941"/>
              <a:ext cx="2523650" cy="329128"/>
            </a:xfrm>
            <a:prstGeom prst="roundRect">
              <a:avLst>
                <a:gd name="adj" fmla="val 0"/>
              </a:avLst>
            </a:prstGeom>
            <a:solidFill>
              <a:srgbClr val="CA9916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图神经网络构建</a:t>
              </a:r>
              <a:endParaRPr lang="en-US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7" name="Rounded Rectangle 74">
              <a:extLst>
                <a:ext uri="{FF2B5EF4-FFF2-40B4-BE49-F238E27FC236}">
                  <a16:creationId xmlns:a16="http://schemas.microsoft.com/office/drawing/2014/main" id="{DCD78A1F-CB7A-434F-C4AC-172A90BC48DC}"/>
                </a:ext>
              </a:extLst>
            </p:cNvPr>
            <p:cNvSpPr/>
            <p:nvPr/>
          </p:nvSpPr>
          <p:spPr>
            <a:xfrm>
              <a:off x="1232576" y="2084068"/>
              <a:ext cx="2523650" cy="1780439"/>
            </a:xfrm>
            <a:prstGeom prst="roundRect">
              <a:avLst>
                <a:gd name="adj" fmla="val 0"/>
              </a:avLst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2" name="Rounded Rectangle 74">
              <a:extLst>
                <a:ext uri="{FF2B5EF4-FFF2-40B4-BE49-F238E27FC236}">
                  <a16:creationId xmlns:a16="http://schemas.microsoft.com/office/drawing/2014/main" id="{1D45E8F6-0C8A-690E-E58C-272E8307EE1F}"/>
                </a:ext>
              </a:extLst>
            </p:cNvPr>
            <p:cNvSpPr/>
            <p:nvPr/>
          </p:nvSpPr>
          <p:spPr>
            <a:xfrm>
              <a:off x="1471254" y="2246782"/>
              <a:ext cx="1902857" cy="3760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各向异性粗糙元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3" name="Rounded Rectangle 74">
              <a:extLst>
                <a:ext uri="{FF2B5EF4-FFF2-40B4-BE49-F238E27FC236}">
                  <a16:creationId xmlns:a16="http://schemas.microsoft.com/office/drawing/2014/main" id="{6C9C31E0-16D0-6266-C837-9A6030540CD7}"/>
                </a:ext>
              </a:extLst>
            </p:cNvPr>
            <p:cNvSpPr/>
            <p:nvPr/>
          </p:nvSpPr>
          <p:spPr>
            <a:xfrm>
              <a:off x="1471253" y="2817838"/>
              <a:ext cx="1902857" cy="3760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图网络映射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5" name="Rounded Rectangle 74">
              <a:extLst>
                <a:ext uri="{FF2B5EF4-FFF2-40B4-BE49-F238E27FC236}">
                  <a16:creationId xmlns:a16="http://schemas.microsoft.com/office/drawing/2014/main" id="{CF837A5B-88B9-B75B-0F3F-ED5FECBA7910}"/>
                </a:ext>
              </a:extLst>
            </p:cNvPr>
            <p:cNvSpPr/>
            <p:nvPr/>
          </p:nvSpPr>
          <p:spPr>
            <a:xfrm>
              <a:off x="1471253" y="3397728"/>
              <a:ext cx="1902857" cy="3760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图网络优化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A40510E5-FD8B-2D8E-2DFE-8870F24E0339}"/>
                </a:ext>
              </a:extLst>
            </p:cNvPr>
            <p:cNvGrpSpPr/>
            <p:nvPr/>
          </p:nvGrpSpPr>
          <p:grpSpPr>
            <a:xfrm>
              <a:off x="4332190" y="1754942"/>
              <a:ext cx="2523650" cy="2109565"/>
              <a:chOff x="4340355" y="1754942"/>
              <a:chExt cx="2523650" cy="2109565"/>
            </a:xfrm>
          </p:grpSpPr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035C0D28-4D72-1266-327C-C55299A086B3}"/>
                  </a:ext>
                </a:extLst>
              </p:cNvPr>
              <p:cNvSpPr/>
              <p:nvPr/>
            </p:nvSpPr>
            <p:spPr>
              <a:xfrm>
                <a:off x="4340355" y="1754942"/>
                <a:ext cx="2523650" cy="329128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lumMod val="75000"/>
                </a:schemeClr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空间可变泛化阻抗</a:t>
                </a:r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47" name="Rounded Rectangle 74">
                <a:extLst>
                  <a:ext uri="{FF2B5EF4-FFF2-40B4-BE49-F238E27FC236}">
                    <a16:creationId xmlns:a16="http://schemas.microsoft.com/office/drawing/2014/main" id="{0F5D8629-0578-8DBF-CC55-FBAD21A09214}"/>
                  </a:ext>
                </a:extLst>
              </p:cNvPr>
              <p:cNvSpPr/>
              <p:nvPr/>
            </p:nvSpPr>
            <p:spPr>
              <a:xfrm>
                <a:off x="4340355" y="2084068"/>
                <a:ext cx="2523650" cy="1780439"/>
              </a:xfrm>
              <a:prstGeom prst="roundRect">
                <a:avLst>
                  <a:gd name="adj" fmla="val 0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0" name="Rounded Rectangle 74">
                <a:extLst>
                  <a:ext uri="{FF2B5EF4-FFF2-40B4-BE49-F238E27FC236}">
                    <a16:creationId xmlns:a16="http://schemas.microsoft.com/office/drawing/2014/main" id="{69C430C4-DCF1-0505-8AA5-537502F426FD}"/>
                  </a:ext>
                </a:extLst>
              </p:cNvPr>
              <p:cNvSpPr/>
              <p:nvPr/>
            </p:nvSpPr>
            <p:spPr>
              <a:xfrm>
                <a:off x="4668421" y="2833528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生成式</a:t>
                </a:r>
                <a:r>
                  <a:rPr lang="en-US" altLang="zh-CN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AI</a:t>
                </a:r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框架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1" name="Rounded Rectangle 74">
                <a:extLst>
                  <a:ext uri="{FF2B5EF4-FFF2-40B4-BE49-F238E27FC236}">
                    <a16:creationId xmlns:a16="http://schemas.microsoft.com/office/drawing/2014/main" id="{7A5EE6A7-7D17-6642-775D-EA969C6A48E0}"/>
                  </a:ext>
                </a:extLst>
              </p:cNvPr>
              <p:cNvSpPr/>
              <p:nvPr/>
            </p:nvSpPr>
            <p:spPr>
              <a:xfrm>
                <a:off x="4668421" y="3397729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阻抗模型构建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ED387B1A-8EB5-5380-5066-8F41166FA6DA}"/>
                </a:ext>
              </a:extLst>
            </p:cNvPr>
            <p:cNvGrpSpPr/>
            <p:nvPr/>
          </p:nvGrpSpPr>
          <p:grpSpPr>
            <a:xfrm>
              <a:off x="7442116" y="1768289"/>
              <a:ext cx="2523650" cy="2096030"/>
              <a:chOff x="7450281" y="1768289"/>
              <a:chExt cx="2523650" cy="2096030"/>
            </a:xfrm>
          </p:grpSpPr>
          <p:sp>
            <p:nvSpPr>
              <p:cNvPr id="40" name="Rounded Rectangle 8">
                <a:extLst>
                  <a:ext uri="{FF2B5EF4-FFF2-40B4-BE49-F238E27FC236}">
                    <a16:creationId xmlns:a16="http://schemas.microsoft.com/office/drawing/2014/main" id="{F821D0E4-AD8D-CE49-9868-B146EB1FF5EC}"/>
                  </a:ext>
                </a:extLst>
              </p:cNvPr>
              <p:cNvSpPr/>
              <p:nvPr/>
            </p:nvSpPr>
            <p:spPr>
              <a:xfrm>
                <a:off x="7450281" y="1768289"/>
                <a:ext cx="2523650" cy="315779"/>
              </a:xfrm>
              <a:prstGeom prst="roundRect">
                <a:avLst>
                  <a:gd name="adj" fmla="val 0"/>
                </a:avLst>
              </a:prstGeom>
              <a:solidFill>
                <a:srgbClr val="7030A0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高超粗糙壁湍流机理</a:t>
                </a:r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ounded Rectangle 74">
                <a:extLst>
                  <a:ext uri="{FF2B5EF4-FFF2-40B4-BE49-F238E27FC236}">
                    <a16:creationId xmlns:a16="http://schemas.microsoft.com/office/drawing/2014/main" id="{DFD0B717-0849-81D2-938E-D76154E43B11}"/>
                  </a:ext>
                </a:extLst>
              </p:cNvPr>
              <p:cNvSpPr/>
              <p:nvPr/>
            </p:nvSpPr>
            <p:spPr>
              <a:xfrm>
                <a:off x="7450281" y="2083880"/>
                <a:ext cx="2523650" cy="1780439"/>
              </a:xfrm>
              <a:prstGeom prst="roundRect">
                <a:avLst>
                  <a:gd name="adj" fmla="val 0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3" name="Rounded Rectangle 74">
                <a:extLst>
                  <a:ext uri="{FF2B5EF4-FFF2-40B4-BE49-F238E27FC236}">
                    <a16:creationId xmlns:a16="http://schemas.microsoft.com/office/drawing/2014/main" id="{9F99C956-DBD6-9D9C-7A94-807A577DB37D}"/>
                  </a:ext>
                </a:extLst>
              </p:cNvPr>
              <p:cNvSpPr/>
              <p:nvPr/>
            </p:nvSpPr>
            <p:spPr>
              <a:xfrm>
                <a:off x="7770230" y="2260130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数据库扩充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4" name="Rounded Rectangle 74">
                <a:extLst>
                  <a:ext uri="{FF2B5EF4-FFF2-40B4-BE49-F238E27FC236}">
                    <a16:creationId xmlns:a16="http://schemas.microsoft.com/office/drawing/2014/main" id="{9F2BDEAE-AC2F-FBB4-5E76-80AB4319638A}"/>
                  </a:ext>
                </a:extLst>
              </p:cNvPr>
              <p:cNvSpPr/>
              <p:nvPr/>
            </p:nvSpPr>
            <p:spPr>
              <a:xfrm>
                <a:off x="7787900" y="2846875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模态分解与分析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5" name="Rounded Rectangle 74">
                <a:extLst>
                  <a:ext uri="{FF2B5EF4-FFF2-40B4-BE49-F238E27FC236}">
                    <a16:creationId xmlns:a16="http://schemas.microsoft.com/office/drawing/2014/main" id="{A6A70EF8-A463-B5F6-B439-70320B3F5308}"/>
                  </a:ext>
                </a:extLst>
              </p:cNvPr>
              <p:cNvSpPr/>
              <p:nvPr/>
            </p:nvSpPr>
            <p:spPr>
              <a:xfrm>
                <a:off x="7787900" y="3411076"/>
                <a:ext cx="1902857" cy="37609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可压缩效应探究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Down Arrow 66">
              <a:extLst>
                <a:ext uri="{FF2B5EF4-FFF2-40B4-BE49-F238E27FC236}">
                  <a16:creationId xmlns:a16="http://schemas.microsoft.com/office/drawing/2014/main" id="{6F42D148-09E9-AAFE-B03D-F50DB70A012B}"/>
                </a:ext>
              </a:extLst>
            </p:cNvPr>
            <p:cNvSpPr/>
            <p:nvPr/>
          </p:nvSpPr>
          <p:spPr>
            <a:xfrm rot="16200000">
              <a:off x="6939276" y="2841132"/>
              <a:ext cx="439333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0" name="Down Arrow 66">
              <a:extLst>
                <a:ext uri="{FF2B5EF4-FFF2-40B4-BE49-F238E27FC236}">
                  <a16:creationId xmlns:a16="http://schemas.microsoft.com/office/drawing/2014/main" id="{EBE936DE-DDAE-7E65-B42E-BC1FB533BFBE}"/>
                </a:ext>
              </a:extLst>
            </p:cNvPr>
            <p:cNvSpPr/>
            <p:nvPr/>
          </p:nvSpPr>
          <p:spPr>
            <a:xfrm rot="16200000">
              <a:off x="3864626" y="2841319"/>
              <a:ext cx="439333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Rounded Rectangle 74">
              <a:extLst>
                <a:ext uri="{FF2B5EF4-FFF2-40B4-BE49-F238E27FC236}">
                  <a16:creationId xmlns:a16="http://schemas.microsoft.com/office/drawing/2014/main" id="{44264EA5-6AA0-AA32-F929-3E50806FA646}"/>
                </a:ext>
              </a:extLst>
            </p:cNvPr>
            <p:cNvSpPr/>
            <p:nvPr/>
          </p:nvSpPr>
          <p:spPr>
            <a:xfrm>
              <a:off x="4660256" y="2257085"/>
              <a:ext cx="1902857" cy="37609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数据库建立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1112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62022-C8F5-A553-3140-25642883C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" name="Group 389">
            <a:extLst>
              <a:ext uri="{FF2B5EF4-FFF2-40B4-BE49-F238E27FC236}">
                <a16:creationId xmlns:a16="http://schemas.microsoft.com/office/drawing/2014/main" id="{6E1BCE3D-82DC-B093-2F90-71057AA756F2}"/>
              </a:ext>
            </a:extLst>
          </p:cNvPr>
          <p:cNvGrpSpPr/>
          <p:nvPr/>
        </p:nvGrpSpPr>
        <p:grpSpPr>
          <a:xfrm>
            <a:off x="1343339" y="689089"/>
            <a:ext cx="8494656" cy="4615460"/>
            <a:chOff x="1343339" y="689089"/>
            <a:chExt cx="8494656" cy="4615460"/>
          </a:xfrm>
        </p:grpSpPr>
        <p:grpSp>
          <p:nvGrpSpPr>
            <p:cNvPr id="340" name="Group 339">
              <a:extLst>
                <a:ext uri="{FF2B5EF4-FFF2-40B4-BE49-F238E27FC236}">
                  <a16:creationId xmlns:a16="http://schemas.microsoft.com/office/drawing/2014/main" id="{2E874E31-E7D7-847D-9C00-CC11A711DC74}"/>
                </a:ext>
              </a:extLst>
            </p:cNvPr>
            <p:cNvGrpSpPr/>
            <p:nvPr/>
          </p:nvGrpSpPr>
          <p:grpSpPr>
            <a:xfrm>
              <a:off x="1343339" y="689089"/>
              <a:ext cx="8494656" cy="4615460"/>
              <a:chOff x="1229040" y="596560"/>
              <a:chExt cx="8494656" cy="4615460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84619B21-7972-4250-1C1B-2F7031BB88EF}"/>
                  </a:ext>
                </a:extLst>
              </p:cNvPr>
              <p:cNvGrpSpPr/>
              <p:nvPr/>
            </p:nvGrpSpPr>
            <p:grpSpPr>
              <a:xfrm>
                <a:off x="1229156" y="4020510"/>
                <a:ext cx="8491368" cy="1191510"/>
                <a:chOff x="1173713" y="4784424"/>
                <a:chExt cx="8491368" cy="1191510"/>
              </a:xfrm>
            </p:grpSpPr>
            <p:sp>
              <p:nvSpPr>
                <p:cNvPr id="137" name="Rounded Rectangle 136">
                  <a:extLst>
                    <a:ext uri="{FF2B5EF4-FFF2-40B4-BE49-F238E27FC236}">
                      <a16:creationId xmlns:a16="http://schemas.microsoft.com/office/drawing/2014/main" id="{582F748B-AA37-E08E-77EC-BAA0333B50F7}"/>
                    </a:ext>
                  </a:extLst>
                </p:cNvPr>
                <p:cNvSpPr/>
                <p:nvPr/>
              </p:nvSpPr>
              <p:spPr>
                <a:xfrm>
                  <a:off x="4246183" y="5069227"/>
                  <a:ext cx="1413373" cy="744632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8B9DB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流动数据库扩充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" name="Rounded Rectangle 137">
                  <a:extLst>
                    <a:ext uri="{FF2B5EF4-FFF2-40B4-BE49-F238E27FC236}">
                      <a16:creationId xmlns:a16="http://schemas.microsoft.com/office/drawing/2014/main" id="{B29DC603-9961-A589-B2FF-08D09928C6B3}"/>
                    </a:ext>
                  </a:extLst>
                </p:cNvPr>
                <p:cNvSpPr/>
                <p:nvPr/>
              </p:nvSpPr>
              <p:spPr>
                <a:xfrm>
                  <a:off x="5921278" y="5069227"/>
                  <a:ext cx="1673722" cy="744632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8B9DB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模态分解与分析方法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" name="Rounded Rectangle 138">
                  <a:extLst>
                    <a:ext uri="{FF2B5EF4-FFF2-40B4-BE49-F238E27FC236}">
                      <a16:creationId xmlns:a16="http://schemas.microsoft.com/office/drawing/2014/main" id="{D05A0470-DE09-1608-19BA-D84E03036081}"/>
                    </a:ext>
                  </a:extLst>
                </p:cNvPr>
                <p:cNvSpPr/>
                <p:nvPr/>
              </p:nvSpPr>
              <p:spPr>
                <a:xfrm>
                  <a:off x="1786014" y="5069227"/>
                  <a:ext cx="2130299" cy="754586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8B9DB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 err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高超声速粗糙壁湍流简化模拟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" name="Rounded Rectangle 139">
                  <a:extLst>
                    <a:ext uri="{FF2B5EF4-FFF2-40B4-BE49-F238E27FC236}">
                      <a16:creationId xmlns:a16="http://schemas.microsoft.com/office/drawing/2014/main" id="{8BDC3A74-E29C-23D3-3E4A-B64A190B343E}"/>
                    </a:ext>
                  </a:extLst>
                </p:cNvPr>
                <p:cNvSpPr/>
                <p:nvPr/>
              </p:nvSpPr>
              <p:spPr>
                <a:xfrm>
                  <a:off x="7783930" y="5069227"/>
                  <a:ext cx="1712177" cy="744632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8B9DB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 err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可压缩</a:t>
                  </a:r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效应与</a:t>
                  </a:r>
                  <a:r>
                    <a:rPr lang="en-US" b="1" dirty="0" err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流动机理分析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148" name="Straight Arrow Connector 147">
                  <a:extLst>
                    <a:ext uri="{FF2B5EF4-FFF2-40B4-BE49-F238E27FC236}">
                      <a16:creationId xmlns:a16="http://schemas.microsoft.com/office/drawing/2014/main" id="{F2CA68F3-0655-9BEB-3D4A-096E9989AF83}"/>
                    </a:ext>
                  </a:extLst>
                </p:cNvPr>
                <p:cNvCxnSpPr>
                  <a:cxnSpLocks/>
                  <a:stCxn id="139" idx="3"/>
                  <a:endCxn id="137" idx="1"/>
                </p:cNvCxnSpPr>
                <p:nvPr/>
              </p:nvCxnSpPr>
              <p:spPr>
                <a:xfrm flipV="1">
                  <a:off x="3916313" y="5441543"/>
                  <a:ext cx="329870" cy="4977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Arrow Connector 151">
                  <a:extLst>
                    <a:ext uri="{FF2B5EF4-FFF2-40B4-BE49-F238E27FC236}">
                      <a16:creationId xmlns:a16="http://schemas.microsoft.com/office/drawing/2014/main" id="{22509A3D-4597-97DC-D2E8-BDFC21FE70A0}"/>
                    </a:ext>
                  </a:extLst>
                </p:cNvPr>
                <p:cNvCxnSpPr>
                  <a:cxnSpLocks/>
                  <a:stCxn id="137" idx="3"/>
                  <a:endCxn id="138" idx="1"/>
                </p:cNvCxnSpPr>
                <p:nvPr/>
              </p:nvCxnSpPr>
              <p:spPr>
                <a:xfrm>
                  <a:off x="5659556" y="5441543"/>
                  <a:ext cx="261722" cy="0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Arrow Connector 159">
                  <a:extLst>
                    <a:ext uri="{FF2B5EF4-FFF2-40B4-BE49-F238E27FC236}">
                      <a16:creationId xmlns:a16="http://schemas.microsoft.com/office/drawing/2014/main" id="{9A6EA608-6C38-35E7-9A4A-1E29B60E5418}"/>
                    </a:ext>
                  </a:extLst>
                </p:cNvPr>
                <p:cNvCxnSpPr>
                  <a:cxnSpLocks/>
                  <a:stCxn id="138" idx="3"/>
                  <a:endCxn id="140" idx="1"/>
                </p:cNvCxnSpPr>
                <p:nvPr/>
              </p:nvCxnSpPr>
              <p:spPr>
                <a:xfrm>
                  <a:off x="7595000" y="5441543"/>
                  <a:ext cx="188930" cy="0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Rounded Rectangle 30">
                  <a:extLst>
                    <a:ext uri="{FF2B5EF4-FFF2-40B4-BE49-F238E27FC236}">
                      <a16:creationId xmlns:a16="http://schemas.microsoft.com/office/drawing/2014/main" id="{9209084E-0BAD-9634-17EE-6F8FFA1943AC}"/>
                    </a:ext>
                  </a:extLst>
                </p:cNvPr>
                <p:cNvSpPr/>
                <p:nvPr/>
              </p:nvSpPr>
              <p:spPr>
                <a:xfrm>
                  <a:off x="1173713" y="4784424"/>
                  <a:ext cx="426551" cy="119151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030A0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 err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机理探究</a:t>
                  </a:r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Rounded Rectangle 31">
                  <a:extLst>
                    <a:ext uri="{FF2B5EF4-FFF2-40B4-BE49-F238E27FC236}">
                      <a16:creationId xmlns:a16="http://schemas.microsoft.com/office/drawing/2014/main" id="{BA48385C-18A1-B699-90ED-00DF13DD14EE}"/>
                    </a:ext>
                  </a:extLst>
                </p:cNvPr>
                <p:cNvSpPr/>
                <p:nvPr/>
              </p:nvSpPr>
              <p:spPr>
                <a:xfrm>
                  <a:off x="1600264" y="4784424"/>
                  <a:ext cx="8064817" cy="1191510"/>
                </a:xfrm>
                <a:prstGeom prst="roundRect">
                  <a:avLst>
                    <a:gd name="adj" fmla="val 0"/>
                  </a:avLst>
                </a:prstGeom>
                <a:noFill/>
                <a:ln w="19050">
                  <a:solidFill>
                    <a:schemeClr val="accent1">
                      <a:shade val="1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Heiti SC Medium" pitchFamily="2" charset="-128"/>
                    <a:ea typeface="Heiti SC Medium" pitchFamily="2" charset="-128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2D73ED9F-AB38-73FB-FA06-87F3DB37092B}"/>
                  </a:ext>
                </a:extLst>
              </p:cNvPr>
              <p:cNvGrpSpPr/>
              <p:nvPr/>
            </p:nvGrpSpPr>
            <p:grpSpPr>
              <a:xfrm>
                <a:off x="5432925" y="596560"/>
                <a:ext cx="4290771" cy="3159090"/>
                <a:chOff x="5432925" y="596560"/>
                <a:chExt cx="4290771" cy="3159090"/>
              </a:xfrm>
            </p:grpSpPr>
            <p:sp>
              <p:nvSpPr>
                <p:cNvPr id="154" name="Rounded Rectangle 153">
                  <a:extLst>
                    <a:ext uri="{FF2B5EF4-FFF2-40B4-BE49-F238E27FC236}">
                      <a16:creationId xmlns:a16="http://schemas.microsoft.com/office/drawing/2014/main" id="{A5BC122C-0DC2-0CF1-14D0-D682037F31F9}"/>
                    </a:ext>
                  </a:extLst>
                </p:cNvPr>
                <p:cNvSpPr/>
                <p:nvPr/>
              </p:nvSpPr>
              <p:spPr>
                <a:xfrm>
                  <a:off x="6449517" y="823830"/>
                  <a:ext cx="2569342" cy="39943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定义节点空间可变阻抗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" name="Rounded Rectangle 156">
                  <a:extLst>
                    <a:ext uri="{FF2B5EF4-FFF2-40B4-BE49-F238E27FC236}">
                      <a16:creationId xmlns:a16="http://schemas.microsoft.com/office/drawing/2014/main" id="{2D458E38-6336-7273-6402-2D649D837A59}"/>
                    </a:ext>
                  </a:extLst>
                </p:cNvPr>
                <p:cNvSpPr/>
                <p:nvPr/>
              </p:nvSpPr>
              <p:spPr>
                <a:xfrm>
                  <a:off x="6449517" y="1596963"/>
                  <a:ext cx="2569341" cy="39943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生成式</a:t>
                  </a:r>
                  <a:r>
                    <a:rPr lang="en-US" altLang="zh-CN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AI</a:t>
                  </a:r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泛化阻抗模型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" name="Rounded Rectangle 161">
                  <a:extLst>
                    <a:ext uri="{FF2B5EF4-FFF2-40B4-BE49-F238E27FC236}">
                      <a16:creationId xmlns:a16="http://schemas.microsoft.com/office/drawing/2014/main" id="{7FDD684C-3B6B-8A8D-E7A8-995E965EC519}"/>
                    </a:ext>
                  </a:extLst>
                </p:cNvPr>
                <p:cNvSpPr/>
                <p:nvPr/>
              </p:nvSpPr>
              <p:spPr>
                <a:xfrm>
                  <a:off x="9297145" y="602044"/>
                  <a:ext cx="426551" cy="3153606"/>
                </a:xfrm>
                <a:prstGeom prst="roundRect">
                  <a:avLst>
                    <a:gd name="adj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 err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粗糙壁湍流简化模拟方法</a:t>
                  </a:r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" name="Rounded Rectangle 162">
                  <a:extLst>
                    <a:ext uri="{FF2B5EF4-FFF2-40B4-BE49-F238E27FC236}">
                      <a16:creationId xmlns:a16="http://schemas.microsoft.com/office/drawing/2014/main" id="{3A20380C-5359-483E-32C5-B5F458D26719}"/>
                    </a:ext>
                  </a:extLst>
                </p:cNvPr>
                <p:cNvSpPr/>
                <p:nvPr/>
              </p:nvSpPr>
              <p:spPr>
                <a:xfrm>
                  <a:off x="5432925" y="596560"/>
                  <a:ext cx="4287600" cy="3159090"/>
                </a:xfrm>
                <a:prstGeom prst="roundRect">
                  <a:avLst>
                    <a:gd name="adj" fmla="val 0"/>
                  </a:avLst>
                </a:prstGeom>
                <a:noFill/>
                <a:ln w="19050">
                  <a:solidFill>
                    <a:schemeClr val="accent1">
                      <a:shade val="1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Heiti SC Medium" pitchFamily="2" charset="-128"/>
                    <a:ea typeface="Heiti SC Medium" pitchFamily="2" charset="-128"/>
                  </a:endParaRPr>
                </a:p>
              </p:txBody>
            </p:sp>
            <p:cxnSp>
              <p:nvCxnSpPr>
                <p:cNvPr id="282" name="Straight Arrow Connector 281">
                  <a:extLst>
                    <a:ext uri="{FF2B5EF4-FFF2-40B4-BE49-F238E27FC236}">
                      <a16:creationId xmlns:a16="http://schemas.microsoft.com/office/drawing/2014/main" id="{F46B2479-62F9-FBD4-782B-7D3E8151CAEC}"/>
                    </a:ext>
                  </a:extLst>
                </p:cNvPr>
                <p:cNvCxnSpPr>
                  <a:cxnSpLocks/>
                  <a:stCxn id="154" idx="2"/>
                  <a:endCxn id="157" idx="0"/>
                </p:cNvCxnSpPr>
                <p:nvPr/>
              </p:nvCxnSpPr>
              <p:spPr>
                <a:xfrm>
                  <a:off x="7734188" y="1223264"/>
                  <a:ext cx="0" cy="373699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18B18077-D540-3B72-E708-B0BA8AAC3BB7}"/>
                    </a:ext>
                  </a:extLst>
                </p:cNvPr>
                <p:cNvSpPr/>
                <p:nvPr/>
              </p:nvSpPr>
              <p:spPr>
                <a:xfrm>
                  <a:off x="6449517" y="2395792"/>
                  <a:ext cx="2569341" cy="399433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验证</a:t>
                  </a:r>
                  <a:r>
                    <a:rPr lang="en-US" altLang="zh-CN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/</a:t>
                  </a:r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优化模型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B359D585-F339-4E41-343C-B34FC3E8A801}"/>
                    </a:ext>
                  </a:extLst>
                </p:cNvPr>
                <p:cNvCxnSpPr>
                  <a:cxnSpLocks/>
                  <a:stCxn id="157" idx="2"/>
                  <a:endCxn id="4" idx="0"/>
                </p:cNvCxnSpPr>
                <p:nvPr/>
              </p:nvCxnSpPr>
              <p:spPr>
                <a:xfrm>
                  <a:off x="7734188" y="1996397"/>
                  <a:ext cx="0" cy="399395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Rounded Rectangle 156">
                  <a:extLst>
                    <a:ext uri="{FF2B5EF4-FFF2-40B4-BE49-F238E27FC236}">
                      <a16:creationId xmlns:a16="http://schemas.microsoft.com/office/drawing/2014/main" id="{ED9BF349-1183-649D-A3DB-4327A5E2116F}"/>
                    </a:ext>
                  </a:extLst>
                </p:cNvPr>
                <p:cNvSpPr/>
                <p:nvPr/>
              </p:nvSpPr>
              <p:spPr>
                <a:xfrm>
                  <a:off x="6449516" y="3145105"/>
                  <a:ext cx="2569341" cy="39943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时域阻抗边界条件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54" name="Straight Arrow Connector 53">
                  <a:extLst>
                    <a:ext uri="{FF2B5EF4-FFF2-40B4-BE49-F238E27FC236}">
                      <a16:creationId xmlns:a16="http://schemas.microsoft.com/office/drawing/2014/main" id="{F84B5E8E-EC97-BF4C-170B-37333EDDE15F}"/>
                    </a:ext>
                  </a:extLst>
                </p:cNvPr>
                <p:cNvCxnSpPr>
                  <a:cxnSpLocks/>
                  <a:stCxn id="4" idx="2"/>
                  <a:endCxn id="51" idx="0"/>
                </p:cNvCxnSpPr>
                <p:nvPr/>
              </p:nvCxnSpPr>
              <p:spPr>
                <a:xfrm flipH="1">
                  <a:off x="7734187" y="2795225"/>
                  <a:ext cx="1" cy="349880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4" name="Group 333">
                <a:extLst>
                  <a:ext uri="{FF2B5EF4-FFF2-40B4-BE49-F238E27FC236}">
                    <a16:creationId xmlns:a16="http://schemas.microsoft.com/office/drawing/2014/main" id="{DB3F659C-CD03-C02E-9E84-318ACFECBE59}"/>
                  </a:ext>
                </a:extLst>
              </p:cNvPr>
              <p:cNvGrpSpPr/>
              <p:nvPr/>
            </p:nvGrpSpPr>
            <p:grpSpPr>
              <a:xfrm>
                <a:off x="1229040" y="596560"/>
                <a:ext cx="3685434" cy="3159091"/>
                <a:chOff x="1229040" y="596560"/>
                <a:chExt cx="3685434" cy="3159091"/>
              </a:xfrm>
            </p:grpSpPr>
            <p:sp>
              <p:nvSpPr>
                <p:cNvPr id="202" name="Rounded Rectangle 201">
                  <a:extLst>
                    <a:ext uri="{FF2B5EF4-FFF2-40B4-BE49-F238E27FC236}">
                      <a16:creationId xmlns:a16="http://schemas.microsoft.com/office/drawing/2014/main" id="{5386E6CA-B97E-3E58-DCF2-04AFF6101CBB}"/>
                    </a:ext>
                  </a:extLst>
                </p:cNvPr>
                <p:cNvSpPr/>
                <p:nvPr/>
              </p:nvSpPr>
              <p:spPr>
                <a:xfrm>
                  <a:off x="2174159" y="2257061"/>
                  <a:ext cx="2296667" cy="440166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4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构建</a:t>
                  </a:r>
                  <a:r>
                    <a:rPr lang="en-US" b="1" dirty="0" err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图神经网络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" name="Rounded Rectangle 144">
                  <a:extLst>
                    <a:ext uri="{FF2B5EF4-FFF2-40B4-BE49-F238E27FC236}">
                      <a16:creationId xmlns:a16="http://schemas.microsoft.com/office/drawing/2014/main" id="{6E8832D9-0E12-EC83-9ED3-C6FEAE507B3B}"/>
                    </a:ext>
                  </a:extLst>
                </p:cNvPr>
                <p:cNvSpPr/>
                <p:nvPr/>
              </p:nvSpPr>
              <p:spPr>
                <a:xfrm>
                  <a:off x="1229040" y="596560"/>
                  <a:ext cx="426551" cy="3159091"/>
                </a:xfrm>
                <a:prstGeom prst="roundRect">
                  <a:avLst>
                    <a:gd name="adj" fmla="val 0"/>
                  </a:avLst>
                </a:prstGeom>
                <a:solidFill>
                  <a:srgbClr val="CA9916"/>
                </a:solidFill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各向异性粗糙元图网络</a:t>
                  </a:r>
                  <a:endParaRPr 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" name="Rounded Rectangle 145">
                  <a:extLst>
                    <a:ext uri="{FF2B5EF4-FFF2-40B4-BE49-F238E27FC236}">
                      <a16:creationId xmlns:a16="http://schemas.microsoft.com/office/drawing/2014/main" id="{B0573CB0-95F2-5A69-67C7-1EB71A43FCBE}"/>
                    </a:ext>
                  </a:extLst>
                </p:cNvPr>
                <p:cNvSpPr/>
                <p:nvPr/>
              </p:nvSpPr>
              <p:spPr>
                <a:xfrm>
                  <a:off x="1655708" y="596560"/>
                  <a:ext cx="3258766" cy="3159091"/>
                </a:xfrm>
                <a:prstGeom prst="roundRect">
                  <a:avLst>
                    <a:gd name="adj" fmla="val 0"/>
                  </a:avLst>
                </a:prstGeom>
                <a:noFill/>
                <a:ln w="19050">
                  <a:solidFill>
                    <a:schemeClr val="accent1">
                      <a:shade val="1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Heiti SC Medium" pitchFamily="2" charset="-128"/>
                    <a:ea typeface="Heiti SC Medium" pitchFamily="2" charset="-128"/>
                  </a:endParaRPr>
                </a:p>
              </p:txBody>
            </p:sp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5F2AD1A4-BA67-652D-65A1-19712EC987BC}"/>
                    </a:ext>
                  </a:extLst>
                </p:cNvPr>
                <p:cNvSpPr/>
                <p:nvPr/>
              </p:nvSpPr>
              <p:spPr>
                <a:xfrm>
                  <a:off x="2188158" y="3026722"/>
                  <a:ext cx="2282668" cy="399434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4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验证并优化网络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0" name="Rounded Rectangle 201">
                  <a:extLst>
                    <a:ext uri="{FF2B5EF4-FFF2-40B4-BE49-F238E27FC236}">
                      <a16:creationId xmlns:a16="http://schemas.microsoft.com/office/drawing/2014/main" id="{F9821FD1-79C3-05B2-0756-7FC696B84703}"/>
                    </a:ext>
                  </a:extLst>
                </p:cNvPr>
                <p:cNvSpPr/>
                <p:nvPr/>
              </p:nvSpPr>
              <p:spPr>
                <a:xfrm>
                  <a:off x="2176986" y="1555136"/>
                  <a:ext cx="2296667" cy="4198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4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rPr>
                    <a:t>孔隙网络建模</a:t>
                  </a:r>
                  <a:endParaRPr 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253" name="Straight Arrow Connector 252">
                  <a:extLst>
                    <a:ext uri="{FF2B5EF4-FFF2-40B4-BE49-F238E27FC236}">
                      <a16:creationId xmlns:a16="http://schemas.microsoft.com/office/drawing/2014/main" id="{EEA7EE2E-4B60-72F6-6501-3FA3FB004257}"/>
                    </a:ext>
                  </a:extLst>
                </p:cNvPr>
                <p:cNvCxnSpPr>
                  <a:cxnSpLocks/>
                  <a:stCxn id="354" idx="2"/>
                  <a:endCxn id="250" idx="0"/>
                </p:cNvCxnSpPr>
                <p:nvPr/>
              </p:nvCxnSpPr>
              <p:spPr>
                <a:xfrm>
                  <a:off x="3325319" y="1237992"/>
                  <a:ext cx="1" cy="317144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5" name="Arrow: Down 334">
                <a:extLst>
                  <a:ext uri="{FF2B5EF4-FFF2-40B4-BE49-F238E27FC236}">
                    <a16:creationId xmlns:a16="http://schemas.microsoft.com/office/drawing/2014/main" id="{C7C078BA-EE65-4A7A-8148-BEB2062D6F9F}"/>
                  </a:ext>
                </a:extLst>
              </p:cNvPr>
              <p:cNvSpPr/>
              <p:nvPr/>
            </p:nvSpPr>
            <p:spPr>
              <a:xfrm rot="16200000">
                <a:off x="4939685" y="1994182"/>
                <a:ext cx="484632" cy="358427"/>
              </a:xfrm>
              <a:prstGeom prst="downArrow">
                <a:avLst>
                  <a:gd name="adj1" fmla="val 50000"/>
                  <a:gd name="adj2" fmla="val 53070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  <a:ln w="25400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6" name="Arrow: Down 335">
                <a:extLst>
                  <a:ext uri="{FF2B5EF4-FFF2-40B4-BE49-F238E27FC236}">
                    <a16:creationId xmlns:a16="http://schemas.microsoft.com/office/drawing/2014/main" id="{52E3C8A0-EEE3-37CA-1768-A283619BEB1A}"/>
                  </a:ext>
                </a:extLst>
              </p:cNvPr>
              <p:cNvSpPr/>
              <p:nvPr/>
            </p:nvSpPr>
            <p:spPr>
              <a:xfrm>
                <a:off x="7502592" y="3544538"/>
                <a:ext cx="484632" cy="481414"/>
              </a:xfrm>
              <a:prstGeom prst="downArrow">
                <a:avLst>
                  <a:gd name="adj1" fmla="val 50000"/>
                  <a:gd name="adj2" fmla="val 53071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  <a:ln w="25400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54" name="Rounded Rectangle 201">
              <a:extLst>
                <a:ext uri="{FF2B5EF4-FFF2-40B4-BE49-F238E27FC236}">
                  <a16:creationId xmlns:a16="http://schemas.microsoft.com/office/drawing/2014/main" id="{BD85B615-B5B5-5ADB-AA31-297C1A845DF5}"/>
                </a:ext>
              </a:extLst>
            </p:cNvPr>
            <p:cNvSpPr/>
            <p:nvPr/>
          </p:nvSpPr>
          <p:spPr>
            <a:xfrm>
              <a:off x="2264070" y="890355"/>
              <a:ext cx="2296667" cy="440166"/>
            </a:xfrm>
            <a:prstGeom prst="roundRect">
              <a:avLst>
                <a:gd name="adj" fmla="val 0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生成各向异性粗糙壁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1" name="Straight Arrow Connector 370">
              <a:extLst>
                <a:ext uri="{FF2B5EF4-FFF2-40B4-BE49-F238E27FC236}">
                  <a16:creationId xmlns:a16="http://schemas.microsoft.com/office/drawing/2014/main" id="{523312BA-6252-9AC1-50EC-BD7EB048A3F8}"/>
                </a:ext>
              </a:extLst>
            </p:cNvPr>
            <p:cNvCxnSpPr>
              <a:cxnSpLocks/>
              <a:stCxn id="250" idx="2"/>
              <a:endCxn id="202" idx="0"/>
            </p:cNvCxnSpPr>
            <p:nvPr/>
          </p:nvCxnSpPr>
          <p:spPr>
            <a:xfrm flipH="1">
              <a:off x="3436792" y="2067465"/>
              <a:ext cx="2827" cy="28212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Arrow Connector 374">
              <a:extLst>
                <a:ext uri="{FF2B5EF4-FFF2-40B4-BE49-F238E27FC236}">
                  <a16:creationId xmlns:a16="http://schemas.microsoft.com/office/drawing/2014/main" id="{F8F3CAB3-E8BB-919B-3EBB-AF5AED5F3893}"/>
                </a:ext>
              </a:extLst>
            </p:cNvPr>
            <p:cNvCxnSpPr>
              <a:cxnSpLocks/>
              <a:stCxn id="202" idx="2"/>
              <a:endCxn id="21" idx="0"/>
            </p:cNvCxnSpPr>
            <p:nvPr/>
          </p:nvCxnSpPr>
          <p:spPr>
            <a:xfrm>
              <a:off x="3436792" y="2789756"/>
              <a:ext cx="6999" cy="32949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ounded Rectangle 156">
              <a:extLst>
                <a:ext uri="{FF2B5EF4-FFF2-40B4-BE49-F238E27FC236}">
                  <a16:creationId xmlns:a16="http://schemas.microsoft.com/office/drawing/2014/main" id="{B9B549C4-1B2D-DC67-AB71-0BA88832DB6C}"/>
                </a:ext>
              </a:extLst>
            </p:cNvPr>
            <p:cNvSpPr/>
            <p:nvPr/>
          </p:nvSpPr>
          <p:spPr>
            <a:xfrm>
              <a:off x="5667538" y="1164988"/>
              <a:ext cx="468356" cy="2361284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建立高精度数据库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82" name="Elbow Connector 117">
              <a:extLst>
                <a:ext uri="{FF2B5EF4-FFF2-40B4-BE49-F238E27FC236}">
                  <a16:creationId xmlns:a16="http://schemas.microsoft.com/office/drawing/2014/main" id="{281B4271-025B-D4BF-9B35-0CF6FB329FB8}"/>
                </a:ext>
              </a:extLst>
            </p:cNvPr>
            <p:cNvCxnSpPr>
              <a:cxnSpLocks/>
              <a:stCxn id="379" idx="3"/>
              <a:endCxn id="51" idx="1"/>
            </p:cNvCxnSpPr>
            <p:nvPr/>
          </p:nvCxnSpPr>
          <p:spPr>
            <a:xfrm>
              <a:off x="6135894" y="2345630"/>
              <a:ext cx="427921" cy="1091721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Elbow Connector 117">
              <a:extLst>
                <a:ext uri="{FF2B5EF4-FFF2-40B4-BE49-F238E27FC236}">
                  <a16:creationId xmlns:a16="http://schemas.microsoft.com/office/drawing/2014/main" id="{2F706DC1-958F-CDC0-C8C7-3EBD6A30AA76}"/>
                </a:ext>
              </a:extLst>
            </p:cNvPr>
            <p:cNvCxnSpPr>
              <a:cxnSpLocks/>
              <a:stCxn id="379" idx="3"/>
              <a:endCxn id="157" idx="1"/>
            </p:cNvCxnSpPr>
            <p:nvPr/>
          </p:nvCxnSpPr>
          <p:spPr>
            <a:xfrm flipV="1">
              <a:off x="6135894" y="1889209"/>
              <a:ext cx="427922" cy="456421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127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5768E-623E-114D-1E4B-BE61519AB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B29BFAD-007A-2A40-FCBC-23FBC4EC996C}"/>
              </a:ext>
            </a:extLst>
          </p:cNvPr>
          <p:cNvGrpSpPr/>
          <p:nvPr/>
        </p:nvGrpSpPr>
        <p:grpSpPr>
          <a:xfrm>
            <a:off x="425014" y="1041460"/>
            <a:ext cx="9174288" cy="2503943"/>
            <a:chOff x="425014" y="1041460"/>
            <a:chExt cx="9174288" cy="2503943"/>
          </a:xfrm>
        </p:grpSpPr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932068B-0CB2-7D27-6956-085C6E386AA8}"/>
                </a:ext>
              </a:extLst>
            </p:cNvPr>
            <p:cNvSpPr txBox="1"/>
            <p:nvPr/>
          </p:nvSpPr>
          <p:spPr>
            <a:xfrm>
              <a:off x="3777098" y="2318956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dirty="0">
                <a:latin typeface="FangSong_GB2312" panose="02010609030101010101" pitchFamily="49" charset="-122"/>
                <a:ea typeface="FangSong_GB2312" panose="02010609030101010101" pitchFamily="49" charset="-122"/>
              </a:endParaRPr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AC66835-6C30-3A9F-8C53-C565B4BDE230}"/>
                </a:ext>
              </a:extLst>
            </p:cNvPr>
            <p:cNvGrpSpPr/>
            <p:nvPr/>
          </p:nvGrpSpPr>
          <p:grpSpPr>
            <a:xfrm>
              <a:off x="425014" y="1041460"/>
              <a:ext cx="2578926" cy="2503691"/>
              <a:chOff x="764647" y="1041460"/>
              <a:chExt cx="3217651" cy="3123782"/>
            </a:xfrm>
          </p:grpSpPr>
          <p:grpSp>
            <p:nvGrpSpPr>
              <p:cNvPr id="194" name="Group 193">
                <a:extLst>
                  <a:ext uri="{FF2B5EF4-FFF2-40B4-BE49-F238E27FC236}">
                    <a16:creationId xmlns:a16="http://schemas.microsoft.com/office/drawing/2014/main" id="{B33B6BF7-8CDE-4957-D0FB-1DC7FA1355EB}"/>
                  </a:ext>
                </a:extLst>
              </p:cNvPr>
              <p:cNvGrpSpPr/>
              <p:nvPr/>
            </p:nvGrpSpPr>
            <p:grpSpPr>
              <a:xfrm>
                <a:off x="764647" y="1378369"/>
                <a:ext cx="3217651" cy="2786873"/>
                <a:chOff x="1669015" y="3435770"/>
                <a:chExt cx="3217651" cy="2786873"/>
              </a:xfrm>
            </p:grpSpPr>
            <p:pic>
              <p:nvPicPr>
                <p:cNvPr id="172" name="Picture 171">
                  <a:extLst>
                    <a:ext uri="{FF2B5EF4-FFF2-40B4-BE49-F238E27FC236}">
                      <a16:creationId xmlns:a16="http://schemas.microsoft.com/office/drawing/2014/main" id="{B1CBEBD8-4511-3502-8777-C96B1661AF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69015" y="3435770"/>
                  <a:ext cx="3217651" cy="2786873"/>
                </a:xfrm>
                <a:prstGeom prst="rect">
                  <a:avLst/>
                </a:prstGeom>
              </p:spPr>
            </p:pic>
            <p:sp>
              <p:nvSpPr>
                <p:cNvPr id="171" name="Rectangle 170">
                  <a:extLst>
                    <a:ext uri="{FF2B5EF4-FFF2-40B4-BE49-F238E27FC236}">
                      <a16:creationId xmlns:a16="http://schemas.microsoft.com/office/drawing/2014/main" id="{DD586259-B13F-8AAA-CF89-56DD3489DC6A}"/>
                    </a:ext>
                  </a:extLst>
                </p:cNvPr>
                <p:cNvSpPr/>
                <p:nvPr/>
              </p:nvSpPr>
              <p:spPr>
                <a:xfrm>
                  <a:off x="1736001" y="3472484"/>
                  <a:ext cx="2727002" cy="24971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F9289A19-4462-CE85-3705-821174C09BB9}"/>
                  </a:ext>
                </a:extLst>
              </p:cNvPr>
              <p:cNvSpPr txBox="1"/>
              <p:nvPr/>
            </p:nvSpPr>
            <p:spPr>
              <a:xfrm>
                <a:off x="831633" y="1041460"/>
                <a:ext cx="2727002" cy="369332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dirty="0" err="1"/>
                  <a:t>粗糙元</a:t>
                </a:r>
                <a:r>
                  <a:rPr lang="zh-CN" altLang="en-US" dirty="0"/>
                  <a:t>生成（</a:t>
                </a:r>
                <a:r>
                  <a:rPr lang="en-US" dirty="0" err="1"/>
                  <a:t>俯视</a:t>
                </a:r>
                <a:r>
                  <a:rPr lang="zh-CN" altLang="en-US" dirty="0"/>
                  <a:t>）</a:t>
                </a:r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DF58D59-831F-CDD6-C7AE-31155CD15A88}"/>
                </a:ext>
              </a:extLst>
            </p:cNvPr>
            <p:cNvGrpSpPr/>
            <p:nvPr/>
          </p:nvGrpSpPr>
          <p:grpSpPr>
            <a:xfrm>
              <a:off x="3865037" y="1041712"/>
              <a:ext cx="2783910" cy="2503691"/>
              <a:chOff x="4288659" y="1041460"/>
              <a:chExt cx="3473403" cy="3123782"/>
            </a:xfrm>
          </p:grpSpPr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73D65226-B2F1-BECC-4659-98D11B1D3507}"/>
                  </a:ext>
                </a:extLst>
              </p:cNvPr>
              <p:cNvGrpSpPr/>
              <p:nvPr/>
            </p:nvGrpSpPr>
            <p:grpSpPr>
              <a:xfrm>
                <a:off x="4288659" y="1378368"/>
                <a:ext cx="3473403" cy="2786874"/>
                <a:chOff x="1179093" y="3428999"/>
                <a:chExt cx="3473403" cy="2786874"/>
              </a:xfrm>
            </p:grpSpPr>
            <p:grpSp>
              <p:nvGrpSpPr>
                <p:cNvPr id="109" name="Group 108">
                  <a:extLst>
                    <a:ext uri="{FF2B5EF4-FFF2-40B4-BE49-F238E27FC236}">
                      <a16:creationId xmlns:a16="http://schemas.microsoft.com/office/drawing/2014/main" id="{8A3FE4D7-52E9-7544-53F6-84A467BDA295}"/>
                    </a:ext>
                  </a:extLst>
                </p:cNvPr>
                <p:cNvGrpSpPr/>
                <p:nvPr/>
              </p:nvGrpSpPr>
              <p:grpSpPr>
                <a:xfrm>
                  <a:off x="1233751" y="3428999"/>
                  <a:ext cx="3418745" cy="2786874"/>
                  <a:chOff x="5167598" y="2218263"/>
                  <a:chExt cx="4938699" cy="4025901"/>
                </a:xfrm>
              </p:grpSpPr>
              <p:pic>
                <p:nvPicPr>
                  <p:cNvPr id="111" name="Picture 110">
                    <a:extLst>
                      <a:ext uri="{FF2B5EF4-FFF2-40B4-BE49-F238E27FC236}">
                        <a16:creationId xmlns:a16="http://schemas.microsoft.com/office/drawing/2014/main" id="{D2CE7C5B-F872-0AFB-3B1B-A6FC42089E4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458096" y="2218263"/>
                    <a:ext cx="4648201" cy="4025901"/>
                  </a:xfrm>
                  <a:prstGeom prst="rect">
                    <a:avLst/>
                  </a:prstGeom>
                </p:spPr>
              </p:pic>
              <p:sp>
                <p:nvSpPr>
                  <p:cNvPr id="112" name="Oval 111">
                    <a:extLst>
                      <a:ext uri="{FF2B5EF4-FFF2-40B4-BE49-F238E27FC236}">
                        <a16:creationId xmlns:a16="http://schemas.microsoft.com/office/drawing/2014/main" id="{9D508375-FB0B-9568-57CC-69ACC334B34C}"/>
                      </a:ext>
                    </a:extLst>
                  </p:cNvPr>
                  <p:cNvSpPr/>
                  <p:nvPr/>
                </p:nvSpPr>
                <p:spPr>
                  <a:xfrm>
                    <a:off x="6473821" y="4040317"/>
                    <a:ext cx="381794" cy="381794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3" name="Oval 112">
                    <a:extLst>
                      <a:ext uri="{FF2B5EF4-FFF2-40B4-BE49-F238E27FC236}">
                        <a16:creationId xmlns:a16="http://schemas.microsoft.com/office/drawing/2014/main" id="{16584404-D703-42B1-CE6E-2DF10FC8BCB8}"/>
                      </a:ext>
                    </a:extLst>
                  </p:cNvPr>
                  <p:cNvSpPr/>
                  <p:nvPr/>
                </p:nvSpPr>
                <p:spPr>
                  <a:xfrm>
                    <a:off x="7410050" y="4231214"/>
                    <a:ext cx="280628" cy="280628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4" name="Oval 113">
                    <a:extLst>
                      <a:ext uri="{FF2B5EF4-FFF2-40B4-BE49-F238E27FC236}">
                        <a16:creationId xmlns:a16="http://schemas.microsoft.com/office/drawing/2014/main" id="{656FD4C2-0C53-B5EB-46E6-F81CAFB7899B}"/>
                      </a:ext>
                    </a:extLst>
                  </p:cNvPr>
                  <p:cNvSpPr/>
                  <p:nvPr/>
                </p:nvSpPr>
                <p:spPr>
                  <a:xfrm>
                    <a:off x="8221049" y="3789260"/>
                    <a:ext cx="381794" cy="381794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5" name="Oval 114">
                    <a:extLst>
                      <a:ext uri="{FF2B5EF4-FFF2-40B4-BE49-F238E27FC236}">
                        <a16:creationId xmlns:a16="http://schemas.microsoft.com/office/drawing/2014/main" id="{C9D58FC0-D77C-4123-E804-F8144DF38EAB}"/>
                      </a:ext>
                    </a:extLst>
                  </p:cNvPr>
                  <p:cNvSpPr/>
                  <p:nvPr/>
                </p:nvSpPr>
                <p:spPr>
                  <a:xfrm>
                    <a:off x="6590532" y="3046863"/>
                    <a:ext cx="530166" cy="530166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6" name="Oval 115">
                    <a:extLst>
                      <a:ext uri="{FF2B5EF4-FFF2-40B4-BE49-F238E27FC236}">
                        <a16:creationId xmlns:a16="http://schemas.microsoft.com/office/drawing/2014/main" id="{05167652-E5E6-EAD6-F1AA-1CAE96CDD5B9}"/>
                      </a:ext>
                    </a:extLst>
                  </p:cNvPr>
                  <p:cNvSpPr/>
                  <p:nvPr/>
                </p:nvSpPr>
                <p:spPr>
                  <a:xfrm>
                    <a:off x="6938525" y="5349761"/>
                    <a:ext cx="471526" cy="471526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B755C740-CD29-0F5E-E071-B8F95A3452B2}"/>
                      </a:ext>
                    </a:extLst>
                  </p:cNvPr>
                  <p:cNvSpPr/>
                  <p:nvPr/>
                </p:nvSpPr>
                <p:spPr>
                  <a:xfrm>
                    <a:off x="8438997" y="2707105"/>
                    <a:ext cx="381794" cy="381794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CA6C529A-3961-5E34-CCDF-6C7E760CF790}"/>
                      </a:ext>
                    </a:extLst>
                  </p:cNvPr>
                  <p:cNvSpPr/>
                  <p:nvPr/>
                </p:nvSpPr>
                <p:spPr>
                  <a:xfrm>
                    <a:off x="7588069" y="3420232"/>
                    <a:ext cx="172301" cy="172301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20" name="Oval 119">
                    <a:extLst>
                      <a:ext uri="{FF2B5EF4-FFF2-40B4-BE49-F238E27FC236}">
                        <a16:creationId xmlns:a16="http://schemas.microsoft.com/office/drawing/2014/main" id="{CEA06587-D51D-9EBC-C33E-E236E050E17D}"/>
                      </a:ext>
                    </a:extLst>
                  </p:cNvPr>
                  <p:cNvSpPr/>
                  <p:nvPr/>
                </p:nvSpPr>
                <p:spPr>
                  <a:xfrm>
                    <a:off x="7677452" y="2360087"/>
                    <a:ext cx="172301" cy="172301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D3B227F7-E162-0E24-0634-CE3892001021}"/>
                      </a:ext>
                    </a:extLst>
                  </p:cNvPr>
                  <p:cNvCxnSpPr>
                    <a:cxnSpLocks/>
                    <a:stCxn id="115" idx="4"/>
                    <a:endCxn id="112" idx="0"/>
                  </p:cNvCxnSpPr>
                  <p:nvPr/>
                </p:nvCxnSpPr>
                <p:spPr>
                  <a:xfrm flipH="1">
                    <a:off x="6664718" y="3577029"/>
                    <a:ext cx="190897" cy="463288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D8983184-6A75-7139-9DBB-54D230FC998E}"/>
                      </a:ext>
                    </a:extLst>
                  </p:cNvPr>
                  <p:cNvCxnSpPr>
                    <a:cxnSpLocks/>
                    <a:stCxn id="115" idx="5"/>
                    <a:endCxn id="119" idx="2"/>
                  </p:cNvCxnSpPr>
                  <p:nvPr/>
                </p:nvCxnSpPr>
                <p:spPr>
                  <a:xfrm>
                    <a:off x="7043057" y="3499388"/>
                    <a:ext cx="545012" cy="6995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42AD9569-FC0B-C073-CDB4-F85173E77B4B}"/>
                      </a:ext>
                    </a:extLst>
                  </p:cNvPr>
                  <p:cNvCxnSpPr>
                    <a:cxnSpLocks/>
                    <a:stCxn id="120" idx="4"/>
                    <a:endCxn id="119" idx="0"/>
                  </p:cNvCxnSpPr>
                  <p:nvPr/>
                </p:nvCxnSpPr>
                <p:spPr>
                  <a:xfrm flipH="1">
                    <a:off x="7674220" y="2532388"/>
                    <a:ext cx="89383" cy="887845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C8F0E266-F88C-25B6-1ED2-5C5D8CA57E2C}"/>
                      </a:ext>
                    </a:extLst>
                  </p:cNvPr>
                  <p:cNvCxnSpPr>
                    <a:cxnSpLocks/>
                    <a:stCxn id="117" idx="4"/>
                    <a:endCxn id="114" idx="0"/>
                  </p:cNvCxnSpPr>
                  <p:nvPr/>
                </p:nvCxnSpPr>
                <p:spPr>
                  <a:xfrm flipH="1">
                    <a:off x="8411946" y="3088899"/>
                    <a:ext cx="217948" cy="700361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9" name="Straight Connector 128">
                    <a:extLst>
                      <a:ext uri="{FF2B5EF4-FFF2-40B4-BE49-F238E27FC236}">
                        <a16:creationId xmlns:a16="http://schemas.microsoft.com/office/drawing/2014/main" id="{E01020D3-C266-A5B8-E69D-F3316274D478}"/>
                      </a:ext>
                    </a:extLst>
                  </p:cNvPr>
                  <p:cNvCxnSpPr>
                    <a:cxnSpLocks/>
                    <a:stCxn id="113" idx="7"/>
                    <a:endCxn id="114" idx="2"/>
                  </p:cNvCxnSpPr>
                  <p:nvPr/>
                </p:nvCxnSpPr>
                <p:spPr>
                  <a:xfrm flipV="1">
                    <a:off x="7649581" y="3980157"/>
                    <a:ext cx="571468" cy="292154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Straight Connector 129">
                    <a:extLst>
                      <a:ext uri="{FF2B5EF4-FFF2-40B4-BE49-F238E27FC236}">
                        <a16:creationId xmlns:a16="http://schemas.microsoft.com/office/drawing/2014/main" id="{B4C0963B-2651-0C66-ADDB-BECC3801E035}"/>
                      </a:ext>
                    </a:extLst>
                  </p:cNvPr>
                  <p:cNvCxnSpPr>
                    <a:cxnSpLocks/>
                    <a:stCxn id="112" idx="6"/>
                    <a:endCxn id="113" idx="2"/>
                  </p:cNvCxnSpPr>
                  <p:nvPr/>
                </p:nvCxnSpPr>
                <p:spPr>
                  <a:xfrm>
                    <a:off x="6855615" y="4231214"/>
                    <a:ext cx="554435" cy="140314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4843CB7E-A60D-39CA-8EA7-EC7BA874CE7A}"/>
                      </a:ext>
                    </a:extLst>
                  </p:cNvPr>
                  <p:cNvCxnSpPr>
                    <a:cxnSpLocks/>
                    <a:stCxn id="116" idx="0"/>
                    <a:endCxn id="113" idx="4"/>
                  </p:cNvCxnSpPr>
                  <p:nvPr/>
                </p:nvCxnSpPr>
                <p:spPr>
                  <a:xfrm flipV="1">
                    <a:off x="7174288" y="4511843"/>
                    <a:ext cx="376077" cy="837918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4" name="Oval 133">
                    <a:extLst>
                      <a:ext uri="{FF2B5EF4-FFF2-40B4-BE49-F238E27FC236}">
                        <a16:creationId xmlns:a16="http://schemas.microsoft.com/office/drawing/2014/main" id="{4F29AC73-6DFC-1982-90A0-E0D5FE041F79}"/>
                      </a:ext>
                    </a:extLst>
                  </p:cNvPr>
                  <p:cNvSpPr/>
                  <p:nvPr/>
                </p:nvSpPr>
                <p:spPr>
                  <a:xfrm>
                    <a:off x="8942288" y="4272311"/>
                    <a:ext cx="566973" cy="566973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0C28DEAC-CF28-A0DB-0C35-238922B1D410}"/>
                      </a:ext>
                    </a:extLst>
                  </p:cNvPr>
                  <p:cNvSpPr/>
                  <p:nvPr/>
                </p:nvSpPr>
                <p:spPr>
                  <a:xfrm>
                    <a:off x="5437296" y="4122667"/>
                    <a:ext cx="566973" cy="566973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6D3548D1-95B3-389D-5CD5-208DB202631E}"/>
                      </a:ext>
                    </a:extLst>
                  </p:cNvPr>
                  <p:cNvSpPr/>
                  <p:nvPr/>
                </p:nvSpPr>
                <p:spPr>
                  <a:xfrm>
                    <a:off x="5167598" y="3136745"/>
                    <a:ext cx="566973" cy="566973"/>
                  </a:xfrm>
                  <a:prstGeom prst="ellipse">
                    <a:avLst/>
                  </a:prstGeom>
                  <a:solidFill>
                    <a:srgbClr val="CA9916"/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38" name="Straight Connector 137">
                    <a:extLst>
                      <a:ext uri="{FF2B5EF4-FFF2-40B4-BE49-F238E27FC236}">
                        <a16:creationId xmlns:a16="http://schemas.microsoft.com/office/drawing/2014/main" id="{FF34F482-5C18-E9F9-8AB8-0F4913F6E3D9}"/>
                      </a:ext>
                    </a:extLst>
                  </p:cNvPr>
                  <p:cNvCxnSpPr>
                    <a:cxnSpLocks/>
                    <a:stCxn id="137" idx="6"/>
                    <a:endCxn id="115" idx="2"/>
                  </p:cNvCxnSpPr>
                  <p:nvPr/>
                </p:nvCxnSpPr>
                <p:spPr>
                  <a:xfrm flipV="1">
                    <a:off x="5734571" y="3311946"/>
                    <a:ext cx="855961" cy="108286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A6093A7D-48C0-2557-47F8-9FBF504F6C35}"/>
                      </a:ext>
                    </a:extLst>
                  </p:cNvPr>
                  <p:cNvCxnSpPr>
                    <a:cxnSpLocks/>
                    <a:stCxn id="135" idx="6"/>
                    <a:endCxn id="112" idx="3"/>
                  </p:cNvCxnSpPr>
                  <p:nvPr/>
                </p:nvCxnSpPr>
                <p:spPr>
                  <a:xfrm flipV="1">
                    <a:off x="6004269" y="4366199"/>
                    <a:ext cx="525464" cy="39955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5EFEC0BD-848A-AF7D-A0BB-719701064223}"/>
                      </a:ext>
                    </a:extLst>
                  </p:cNvPr>
                  <p:cNvCxnSpPr>
                    <a:cxnSpLocks/>
                    <a:stCxn id="114" idx="5"/>
                    <a:endCxn id="134" idx="1"/>
                  </p:cNvCxnSpPr>
                  <p:nvPr/>
                </p:nvCxnSpPr>
                <p:spPr>
                  <a:xfrm>
                    <a:off x="8546931" y="4115142"/>
                    <a:ext cx="478388" cy="240200"/>
                  </a:xfrm>
                  <a:prstGeom prst="line">
                    <a:avLst/>
                  </a:prstGeom>
                  <a:ln w="317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7A0426DF-C3FE-E947-05E7-B91F7420C52E}"/>
                    </a:ext>
                  </a:extLst>
                </p:cNvPr>
                <p:cNvSpPr/>
                <p:nvPr/>
              </p:nvSpPr>
              <p:spPr>
                <a:xfrm>
                  <a:off x="1179093" y="3465712"/>
                  <a:ext cx="3136426" cy="2497185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D8594FB-1D08-5EE9-F545-F4CCB0E605DB}"/>
                  </a:ext>
                </a:extLst>
              </p:cNvPr>
              <p:cNvSpPr txBox="1"/>
              <p:nvPr/>
            </p:nvSpPr>
            <p:spPr>
              <a:xfrm>
                <a:off x="4288659" y="1041460"/>
                <a:ext cx="3136426" cy="369332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CN" altLang="en-US" dirty="0">
                    <a:solidFill>
                      <a:schemeClr val="tx1"/>
                    </a:solidFill>
                  </a:rPr>
                  <a:t>构建孔隙与网络映射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" name="Down Arrow 66">
              <a:extLst>
                <a:ext uri="{FF2B5EF4-FFF2-40B4-BE49-F238E27FC236}">
                  <a16:creationId xmlns:a16="http://schemas.microsoft.com/office/drawing/2014/main" id="{9AF7F3B4-356B-2126-09FD-33C1A9CC3DAE}"/>
                </a:ext>
              </a:extLst>
            </p:cNvPr>
            <p:cNvSpPr/>
            <p:nvPr/>
          </p:nvSpPr>
          <p:spPr>
            <a:xfrm rot="16200000">
              <a:off x="6582763" y="2045301"/>
              <a:ext cx="305867" cy="538526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05F069C-E772-0E7B-E954-C7B7ADBCD74F}"/>
                </a:ext>
              </a:extLst>
            </p:cNvPr>
            <p:cNvGrpSpPr/>
            <p:nvPr/>
          </p:nvGrpSpPr>
          <p:grpSpPr>
            <a:xfrm>
              <a:off x="2806455" y="1065539"/>
              <a:ext cx="1008975" cy="1420565"/>
              <a:chOff x="2768123" y="3300618"/>
              <a:chExt cx="1008975" cy="1420565"/>
            </a:xfrm>
          </p:grpSpPr>
          <p:sp>
            <p:nvSpPr>
              <p:cNvPr id="70" name="Rounded Rectangle 214">
                <a:extLst>
                  <a:ext uri="{FF2B5EF4-FFF2-40B4-BE49-F238E27FC236}">
                    <a16:creationId xmlns:a16="http://schemas.microsoft.com/office/drawing/2014/main" id="{4B1A3685-B8E2-5FFA-05C4-FC038C51122B}"/>
                  </a:ext>
                </a:extLst>
              </p:cNvPr>
              <p:cNvSpPr/>
              <p:nvPr/>
            </p:nvSpPr>
            <p:spPr>
              <a:xfrm>
                <a:off x="2848166" y="3300618"/>
                <a:ext cx="633897" cy="780041"/>
              </a:xfrm>
              <a:prstGeom prst="roundRect">
                <a:avLst>
                  <a:gd name="adj" fmla="val 0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孔隙网络建模</a:t>
                </a:r>
                <a:endParaRPr lang="en-US" sz="1400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B4BB252B-B56D-3FBE-8172-663E7707CB9B}"/>
                  </a:ext>
                </a:extLst>
              </p:cNvPr>
              <p:cNvGrpSpPr/>
              <p:nvPr/>
            </p:nvGrpSpPr>
            <p:grpSpPr>
              <a:xfrm>
                <a:off x="2768123" y="4080659"/>
                <a:ext cx="1008975" cy="640524"/>
                <a:chOff x="3071241" y="4080659"/>
                <a:chExt cx="1272420" cy="807766"/>
              </a:xfrm>
            </p:grpSpPr>
            <p:sp>
              <p:nvSpPr>
                <p:cNvPr id="3" name="Down Arrow 66">
                  <a:extLst>
                    <a:ext uri="{FF2B5EF4-FFF2-40B4-BE49-F238E27FC236}">
                      <a16:creationId xmlns:a16="http://schemas.microsoft.com/office/drawing/2014/main" id="{67F4C225-7E1F-D216-45C2-78F5CEECD7CC}"/>
                    </a:ext>
                  </a:extLst>
                </p:cNvPr>
                <p:cNvSpPr/>
                <p:nvPr/>
              </p:nvSpPr>
              <p:spPr>
                <a:xfrm rot="16200000">
                  <a:off x="3505509" y="4050273"/>
                  <a:ext cx="403883" cy="1272420"/>
                </a:xfrm>
                <a:prstGeom prst="downArrow">
                  <a:avLst/>
                </a:prstGeom>
                <a:solidFill>
                  <a:schemeClr val="bg1">
                    <a:lumMod val="85000"/>
                  </a:schemeClr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Arrow: Bent 73">
                  <a:extLst>
                    <a:ext uri="{FF2B5EF4-FFF2-40B4-BE49-F238E27FC236}">
                      <a16:creationId xmlns:a16="http://schemas.microsoft.com/office/drawing/2014/main" id="{6692E174-FAE9-1E29-BCE8-CD125F04170E}"/>
                    </a:ext>
                  </a:extLst>
                </p:cNvPr>
                <p:cNvSpPr/>
                <p:nvPr/>
              </p:nvSpPr>
              <p:spPr>
                <a:xfrm flipV="1">
                  <a:off x="3497582" y="4080659"/>
                  <a:ext cx="844610" cy="807766"/>
                </a:xfrm>
                <a:prstGeom prst="bentArrow">
                  <a:avLst/>
                </a:prstGeom>
                <a:solidFill>
                  <a:schemeClr val="bg1">
                    <a:lumMod val="85000"/>
                  </a:schemeClr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</p:grp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F9890-1F31-096B-1CA0-97CA3A19E7EA}"/>
                </a:ext>
              </a:extLst>
            </p:cNvPr>
            <p:cNvGrpSpPr/>
            <p:nvPr/>
          </p:nvGrpSpPr>
          <p:grpSpPr>
            <a:xfrm>
              <a:off x="7085477" y="1041460"/>
              <a:ext cx="2513825" cy="2300934"/>
              <a:chOff x="6780679" y="1041460"/>
              <a:chExt cx="2513825" cy="2300934"/>
            </a:xfrm>
          </p:grpSpPr>
          <p:sp>
            <p:nvSpPr>
              <p:cNvPr id="215" name="Rounded Rectangle 214">
                <a:extLst>
                  <a:ext uri="{FF2B5EF4-FFF2-40B4-BE49-F238E27FC236}">
                    <a16:creationId xmlns:a16="http://schemas.microsoft.com/office/drawing/2014/main" id="{E7DFE20B-02E7-748D-289F-A48B219E4D00}"/>
                  </a:ext>
                </a:extLst>
              </p:cNvPr>
              <p:cNvSpPr/>
              <p:nvPr/>
            </p:nvSpPr>
            <p:spPr>
              <a:xfrm>
                <a:off x="7021404" y="2223704"/>
                <a:ext cx="2052233" cy="290845"/>
              </a:xfrm>
              <a:prstGeom prst="roundRect">
                <a:avLst>
                  <a:gd name="adj" fmla="val 0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网络冗余度优化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7" name="Rounded Rectangle 216">
                <a:extLst>
                  <a:ext uri="{FF2B5EF4-FFF2-40B4-BE49-F238E27FC236}">
                    <a16:creationId xmlns:a16="http://schemas.microsoft.com/office/drawing/2014/main" id="{B9B99598-0B9E-0B85-3B64-E6C61195801C}"/>
                  </a:ext>
                </a:extLst>
              </p:cNvPr>
              <p:cNvSpPr/>
              <p:nvPr/>
            </p:nvSpPr>
            <p:spPr>
              <a:xfrm>
                <a:off x="7014795" y="1626045"/>
                <a:ext cx="2065453" cy="290845"/>
              </a:xfrm>
              <a:prstGeom prst="roundRect">
                <a:avLst>
                  <a:gd name="adj" fmla="val 0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节点</a:t>
                </a:r>
                <a:r>
                  <a:rPr lang="en-US" altLang="zh-CN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/</a:t>
                </a:r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边参数选取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2A7F12E9-6CC4-FA26-FCAF-7D6E020625E0}"/>
                  </a:ext>
                </a:extLst>
              </p:cNvPr>
              <p:cNvSpPr/>
              <p:nvPr/>
            </p:nvSpPr>
            <p:spPr>
              <a:xfrm>
                <a:off x="6780679" y="1337478"/>
                <a:ext cx="2513825" cy="2004916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DFEB13B1-6520-AD05-9623-F861EE0D9FE9}"/>
                  </a:ext>
                </a:extLst>
              </p:cNvPr>
              <p:cNvSpPr txBox="1"/>
              <p:nvPr/>
            </p:nvSpPr>
            <p:spPr>
              <a:xfrm>
                <a:off x="6780679" y="1041460"/>
                <a:ext cx="2513825" cy="296017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CN" altLang="en-US" dirty="0">
                    <a:solidFill>
                      <a:schemeClr val="tx1"/>
                    </a:solidFill>
                  </a:rPr>
                  <a:t>构建图神经网络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1" name="Rounded Rectangle 214">
                <a:extLst>
                  <a:ext uri="{FF2B5EF4-FFF2-40B4-BE49-F238E27FC236}">
                    <a16:creationId xmlns:a16="http://schemas.microsoft.com/office/drawing/2014/main" id="{B268F8B4-AB87-78EF-DBE6-F5054F9FEDD2}"/>
                  </a:ext>
                </a:extLst>
              </p:cNvPr>
              <p:cNvSpPr/>
              <p:nvPr/>
            </p:nvSpPr>
            <p:spPr>
              <a:xfrm>
                <a:off x="7028015" y="2827195"/>
                <a:ext cx="2052233" cy="290845"/>
              </a:xfrm>
              <a:prstGeom prst="roundRect">
                <a:avLst>
                  <a:gd name="adj" fmla="val 0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网络拓扑验证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1408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7F13-7A5C-0528-7021-97FE132E5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roup 309">
            <a:extLst>
              <a:ext uri="{FF2B5EF4-FFF2-40B4-BE49-F238E27FC236}">
                <a16:creationId xmlns:a16="http://schemas.microsoft.com/office/drawing/2014/main" id="{42DA7EBA-9ED2-312B-732F-42993DD21B62}"/>
              </a:ext>
            </a:extLst>
          </p:cNvPr>
          <p:cNvGrpSpPr/>
          <p:nvPr/>
        </p:nvGrpSpPr>
        <p:grpSpPr>
          <a:xfrm>
            <a:off x="741034" y="2852357"/>
            <a:ext cx="10357600" cy="2652464"/>
            <a:chOff x="741034" y="2852357"/>
            <a:chExt cx="10357600" cy="2652464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5966E045-6CFB-0E60-A91B-8AFEBFFF254A}"/>
                </a:ext>
              </a:extLst>
            </p:cNvPr>
            <p:cNvGrpSpPr/>
            <p:nvPr/>
          </p:nvGrpSpPr>
          <p:grpSpPr>
            <a:xfrm>
              <a:off x="6133990" y="2856576"/>
              <a:ext cx="4964644" cy="2648245"/>
              <a:chOff x="2465275" y="3031978"/>
              <a:chExt cx="3100625" cy="264824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2A58D7CF-8FC6-72F2-C012-99FD391A4FD1}"/>
                  </a:ext>
                </a:extLst>
              </p:cNvPr>
              <p:cNvSpPr/>
              <p:nvPr/>
            </p:nvSpPr>
            <p:spPr>
              <a:xfrm>
                <a:off x="2465276" y="3392996"/>
                <a:ext cx="3100624" cy="228722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8" name="Rounded Rectangle 214">
                <a:extLst>
                  <a:ext uri="{FF2B5EF4-FFF2-40B4-BE49-F238E27FC236}">
                    <a16:creationId xmlns:a16="http://schemas.microsoft.com/office/drawing/2014/main" id="{624DED6D-6E8A-BD8A-A7C5-6904FA00C68C}"/>
                  </a:ext>
                </a:extLst>
              </p:cNvPr>
              <p:cNvSpPr/>
              <p:nvPr/>
            </p:nvSpPr>
            <p:spPr>
              <a:xfrm>
                <a:off x="2465275" y="3031978"/>
                <a:ext cx="3100624" cy="349983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lumMod val="75000"/>
                </a:schemeClr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</a:rPr>
                  <a:t>粗糙壁简化模拟方法</a:t>
                </a:r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</a:endParaRPr>
              </a:p>
            </p:txBody>
          </p: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8EE09ED-15D9-1A1A-D917-1B8B3B133038}"/>
                </a:ext>
              </a:extLst>
            </p:cNvPr>
            <p:cNvSpPr txBox="1"/>
            <p:nvPr/>
          </p:nvSpPr>
          <p:spPr>
            <a:xfrm>
              <a:off x="6313913" y="3572298"/>
              <a:ext cx="457498" cy="16237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latin typeface="FangSong_GB2312" panose="02010609030101010101" pitchFamily="49" charset="-122"/>
                  <a:ea typeface="FangSong_GB2312" panose="02010609030101010101" pitchFamily="49" charset="-122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zh-CN" altLang="en-US" dirty="0">
                  <a:solidFill>
                    <a:schemeClr val="tx1"/>
                  </a:solidFill>
                </a:rPr>
                <a:t>辅助微分方程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97E692E2-B9BF-C567-463B-8E97D4FD8A33}"/>
                </a:ext>
              </a:extLst>
            </p:cNvPr>
            <p:cNvSpPr txBox="1"/>
            <p:nvPr/>
          </p:nvSpPr>
          <p:spPr>
            <a:xfrm>
              <a:off x="7101961" y="3572298"/>
              <a:ext cx="715725" cy="162375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latin typeface="FangSong_GB2312" panose="02010609030101010101" pitchFamily="49" charset="-122"/>
                  <a:ea typeface="FangSong_GB2312" panose="02010609030101010101" pitchFamily="49" charset="-122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zh-CN" altLang="en-US" dirty="0">
                  <a:solidFill>
                    <a:schemeClr val="tx1"/>
                  </a:solidFill>
                </a:rPr>
                <a:t>时域阻抗</a:t>
              </a:r>
              <a:endParaRPr lang="en-US" altLang="zh-CN" dirty="0">
                <a:solidFill>
                  <a:schemeClr val="tx1"/>
                </a:solidFill>
              </a:endParaRPr>
            </a:p>
            <a:p>
              <a:r>
                <a:rPr lang="zh-CN" altLang="en-US" dirty="0">
                  <a:solidFill>
                    <a:schemeClr val="tx1"/>
                  </a:solidFill>
                </a:rPr>
                <a:t>边界条件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72" name="Straight Arrow Connector 171">
              <a:extLst>
                <a:ext uri="{FF2B5EF4-FFF2-40B4-BE49-F238E27FC236}">
                  <a16:creationId xmlns:a16="http://schemas.microsoft.com/office/drawing/2014/main" id="{0273A068-4FD9-776F-1BC5-771E30B2102A}"/>
                </a:ext>
              </a:extLst>
            </p:cNvPr>
            <p:cNvCxnSpPr>
              <a:cxnSpLocks/>
              <a:stCxn id="129" idx="3"/>
              <a:endCxn id="167" idx="1"/>
            </p:cNvCxnSpPr>
            <p:nvPr/>
          </p:nvCxnSpPr>
          <p:spPr>
            <a:xfrm>
              <a:off x="6771411" y="4384175"/>
              <a:ext cx="33055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7" name="Group 296">
              <a:extLst>
                <a:ext uri="{FF2B5EF4-FFF2-40B4-BE49-F238E27FC236}">
                  <a16:creationId xmlns:a16="http://schemas.microsoft.com/office/drawing/2014/main" id="{173434E5-5F58-EA6D-27C9-F4E6491B42F7}"/>
                </a:ext>
              </a:extLst>
            </p:cNvPr>
            <p:cNvGrpSpPr/>
            <p:nvPr/>
          </p:nvGrpSpPr>
          <p:grpSpPr>
            <a:xfrm>
              <a:off x="8197504" y="3572298"/>
              <a:ext cx="2754403" cy="1623754"/>
              <a:chOff x="8449174" y="3572298"/>
              <a:chExt cx="2754403" cy="1623754"/>
            </a:xfrm>
          </p:grpSpPr>
          <p:grpSp>
            <p:nvGrpSpPr>
              <p:cNvPr id="200" name="Group 199">
                <a:extLst>
                  <a:ext uri="{FF2B5EF4-FFF2-40B4-BE49-F238E27FC236}">
                    <a16:creationId xmlns:a16="http://schemas.microsoft.com/office/drawing/2014/main" id="{60378ED1-453E-DE68-5D58-4EECD0536C98}"/>
                  </a:ext>
                </a:extLst>
              </p:cNvPr>
              <p:cNvGrpSpPr/>
              <p:nvPr/>
            </p:nvGrpSpPr>
            <p:grpSpPr>
              <a:xfrm>
                <a:off x="8563969" y="3698334"/>
                <a:ext cx="2551313" cy="1441779"/>
                <a:chOff x="6907966" y="629355"/>
                <a:chExt cx="3483140" cy="1968366"/>
              </a:xfrm>
            </p:grpSpPr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47D80583-A751-F16A-1959-1EBA4A76701D}"/>
                    </a:ext>
                  </a:extLst>
                </p:cNvPr>
                <p:cNvCxnSpPr>
                  <a:cxnSpLocks/>
                  <a:stCxn id="96" idx="6"/>
                  <a:endCxn id="98" idx="2"/>
                </p:cNvCxnSpPr>
                <p:nvPr/>
              </p:nvCxnSpPr>
              <p:spPr>
                <a:xfrm flipV="1">
                  <a:off x="8732197" y="1544568"/>
                  <a:ext cx="1118443" cy="24146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1D8D53C6-D394-57FF-D1FE-53CBF4D117C0}"/>
                    </a:ext>
                  </a:extLst>
                </p:cNvPr>
                <p:cNvCxnSpPr>
                  <a:cxnSpLocks/>
                  <a:stCxn id="101" idx="6"/>
                  <a:endCxn id="96" idx="2"/>
                </p:cNvCxnSpPr>
                <p:nvPr/>
              </p:nvCxnSpPr>
              <p:spPr>
                <a:xfrm>
                  <a:off x="7344580" y="1565689"/>
                  <a:ext cx="952313" cy="3025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AAC045D6-6D09-EA90-7EF8-F06AD28B5A06}"/>
                    </a:ext>
                  </a:extLst>
                </p:cNvPr>
                <p:cNvSpPr/>
                <p:nvPr/>
              </p:nvSpPr>
              <p:spPr>
                <a:xfrm>
                  <a:off x="7143411" y="1277963"/>
                  <a:ext cx="2990973" cy="564220"/>
                </a:xfrm>
                <a:custGeom>
                  <a:avLst/>
                  <a:gdLst>
                    <a:gd name="connsiteX0" fmla="*/ 0 w 2990973"/>
                    <a:gd name="connsiteY0" fmla="*/ 553021 h 564220"/>
                    <a:gd name="connsiteX1" fmla="*/ 188780 w 2990973"/>
                    <a:gd name="connsiteY1" fmla="*/ 470430 h 564220"/>
                    <a:gd name="connsiteX2" fmla="*/ 353962 w 2990973"/>
                    <a:gd name="connsiteY2" fmla="*/ 252154 h 564220"/>
                    <a:gd name="connsiteX3" fmla="*/ 619433 w 2990973"/>
                    <a:gd name="connsiteY3" fmla="*/ 10281 h 564220"/>
                    <a:gd name="connsiteX4" fmla="*/ 884904 w 2990973"/>
                    <a:gd name="connsiteY4" fmla="*/ 92872 h 564220"/>
                    <a:gd name="connsiteX5" fmla="*/ 1044186 w 2990973"/>
                    <a:gd name="connsiteY5" fmla="*/ 446833 h 564220"/>
                    <a:gd name="connsiteX6" fmla="*/ 1227066 w 2990973"/>
                    <a:gd name="connsiteY6" fmla="*/ 558921 h 564220"/>
                    <a:gd name="connsiteX7" fmla="*/ 1451242 w 2990973"/>
                    <a:gd name="connsiteY7" fmla="*/ 535323 h 564220"/>
                    <a:gd name="connsiteX8" fmla="*/ 1699015 w 2990973"/>
                    <a:gd name="connsiteY8" fmla="*/ 440934 h 564220"/>
                    <a:gd name="connsiteX9" fmla="*/ 1875995 w 2990973"/>
                    <a:gd name="connsiteY9" fmla="*/ 163664 h 564220"/>
                    <a:gd name="connsiteX10" fmla="*/ 2170963 w 2990973"/>
                    <a:gd name="connsiteY10" fmla="*/ 27979 h 564220"/>
                    <a:gd name="connsiteX11" fmla="*/ 2383340 w 2990973"/>
                    <a:gd name="connsiteY11" fmla="*/ 10281 h 564220"/>
                    <a:gd name="connsiteX12" fmla="*/ 2507226 w 2990973"/>
                    <a:gd name="connsiteY12" fmla="*/ 151865 h 564220"/>
                    <a:gd name="connsiteX13" fmla="*/ 2631113 w 2990973"/>
                    <a:gd name="connsiteY13" fmla="*/ 476330 h 564220"/>
                    <a:gd name="connsiteX14" fmla="*/ 2849389 w 2990973"/>
                    <a:gd name="connsiteY14" fmla="*/ 547122 h 564220"/>
                    <a:gd name="connsiteX15" fmla="*/ 2990973 w 2990973"/>
                    <a:gd name="connsiteY15" fmla="*/ 558921 h 564220"/>
                    <a:gd name="connsiteX16" fmla="*/ 0 w 2990973"/>
                    <a:gd name="connsiteY16" fmla="*/ 553021 h 564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90973" h="564220">
                      <a:moveTo>
                        <a:pt x="0" y="553021"/>
                      </a:moveTo>
                      <a:cubicBezTo>
                        <a:pt x="64893" y="536797"/>
                        <a:pt x="129786" y="520574"/>
                        <a:pt x="188780" y="470430"/>
                      </a:cubicBezTo>
                      <a:cubicBezTo>
                        <a:pt x="247774" y="420285"/>
                        <a:pt x="282187" y="328845"/>
                        <a:pt x="353962" y="252154"/>
                      </a:cubicBezTo>
                      <a:cubicBezTo>
                        <a:pt x="425737" y="175463"/>
                        <a:pt x="530943" y="36828"/>
                        <a:pt x="619433" y="10281"/>
                      </a:cubicBezTo>
                      <a:cubicBezTo>
                        <a:pt x="707923" y="-16266"/>
                        <a:pt x="814112" y="20113"/>
                        <a:pt x="884904" y="92872"/>
                      </a:cubicBezTo>
                      <a:cubicBezTo>
                        <a:pt x="955696" y="165631"/>
                        <a:pt x="987159" y="369158"/>
                        <a:pt x="1044186" y="446833"/>
                      </a:cubicBezTo>
                      <a:cubicBezTo>
                        <a:pt x="1101213" y="524508"/>
                        <a:pt x="1159223" y="544173"/>
                        <a:pt x="1227066" y="558921"/>
                      </a:cubicBezTo>
                      <a:cubicBezTo>
                        <a:pt x="1294909" y="573669"/>
                        <a:pt x="1372584" y="554987"/>
                        <a:pt x="1451242" y="535323"/>
                      </a:cubicBezTo>
                      <a:cubicBezTo>
                        <a:pt x="1529900" y="515659"/>
                        <a:pt x="1628223" y="502877"/>
                        <a:pt x="1699015" y="440934"/>
                      </a:cubicBezTo>
                      <a:cubicBezTo>
                        <a:pt x="1769807" y="378991"/>
                        <a:pt x="1797337" y="232490"/>
                        <a:pt x="1875995" y="163664"/>
                      </a:cubicBezTo>
                      <a:cubicBezTo>
                        <a:pt x="1954653" y="94838"/>
                        <a:pt x="2086406" y="53543"/>
                        <a:pt x="2170963" y="27979"/>
                      </a:cubicBezTo>
                      <a:cubicBezTo>
                        <a:pt x="2255520" y="2415"/>
                        <a:pt x="2327296" y="-10367"/>
                        <a:pt x="2383340" y="10281"/>
                      </a:cubicBezTo>
                      <a:cubicBezTo>
                        <a:pt x="2439384" y="30929"/>
                        <a:pt x="2465931" y="74190"/>
                        <a:pt x="2507226" y="151865"/>
                      </a:cubicBezTo>
                      <a:cubicBezTo>
                        <a:pt x="2548521" y="229540"/>
                        <a:pt x="2574086" y="410454"/>
                        <a:pt x="2631113" y="476330"/>
                      </a:cubicBezTo>
                      <a:cubicBezTo>
                        <a:pt x="2688140" y="542206"/>
                        <a:pt x="2789412" y="533357"/>
                        <a:pt x="2849389" y="547122"/>
                      </a:cubicBezTo>
                      <a:cubicBezTo>
                        <a:pt x="2909366" y="560887"/>
                        <a:pt x="2990973" y="558921"/>
                        <a:pt x="2990973" y="558921"/>
                      </a:cubicBezTo>
                      <a:lnTo>
                        <a:pt x="0" y="553021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748854A2-E15E-571C-6C5A-370884DA9962}"/>
                    </a:ext>
                  </a:extLst>
                </p:cNvPr>
                <p:cNvSpPr/>
                <p:nvPr/>
              </p:nvSpPr>
              <p:spPr>
                <a:xfrm>
                  <a:off x="9850640" y="1386656"/>
                  <a:ext cx="315823" cy="315823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95AD69C7-7313-3741-9946-5806F3971B5A}"/>
                    </a:ext>
                  </a:extLst>
                </p:cNvPr>
                <p:cNvSpPr/>
                <p:nvPr/>
              </p:nvSpPr>
              <p:spPr>
                <a:xfrm>
                  <a:off x="7070977" y="1428887"/>
                  <a:ext cx="273603" cy="273603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09" name="Group 108">
                  <a:extLst>
                    <a:ext uri="{FF2B5EF4-FFF2-40B4-BE49-F238E27FC236}">
                      <a16:creationId xmlns:a16="http://schemas.microsoft.com/office/drawing/2014/main" id="{78E44E0F-5777-644E-F74D-4B2FEAB3F3FB}"/>
                    </a:ext>
                  </a:extLst>
                </p:cNvPr>
                <p:cNvGrpSpPr/>
                <p:nvPr/>
              </p:nvGrpSpPr>
              <p:grpSpPr>
                <a:xfrm>
                  <a:off x="7016122" y="1276382"/>
                  <a:ext cx="3150342" cy="561498"/>
                  <a:chOff x="4185138" y="3409768"/>
                  <a:chExt cx="1413588" cy="217050"/>
                </a:xfrm>
              </p:grpSpPr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0BAA27CF-5CC9-2B96-D195-8F7AF0EFDF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85138" y="3409768"/>
                    <a:ext cx="1413588" cy="0"/>
                  </a:xfrm>
                  <a:prstGeom prst="line">
                    <a:avLst/>
                  </a:prstGeom>
                  <a:ln w="2540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8172E860-8B05-1EEF-0F2C-3E49F036289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85138" y="3626818"/>
                    <a:ext cx="1399194" cy="0"/>
                  </a:xfrm>
                  <a:prstGeom prst="line">
                    <a:avLst/>
                  </a:prstGeom>
                  <a:ln w="2540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Rounded Rectangle 127">
                      <a:extLst>
                        <a:ext uri="{FF2B5EF4-FFF2-40B4-BE49-F238E27FC236}">
                          <a16:creationId xmlns:a16="http://schemas.microsoft.com/office/drawing/2014/main" id="{F7F9B74E-3F92-7ED4-2A2A-1E125F2693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70735" y="2183139"/>
                      <a:ext cx="3263643" cy="414582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accent5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SimHei" panose="02010609060101010101" pitchFamily="49" charset="-122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SimHei" panose="02010609060101010101" pitchFamily="49" charset="-122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SimHei" panose="02010609060101010101" pitchFamily="49" charset="-122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SimHei" panose="02010609060101010101" pitchFamily="49" charset="-122"/>
                                    <a:cs typeface="Times New Roman" panose="020206030504050203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SimHei" panose="02010609060101010101" pitchFamily="49" charset="-122"/>
                                    <a:cs typeface="Times New Roman" panose="02020603050405020304" pitchFamily="18" charset="0"/>
                                  </a:rPr>
                                  <m:t>𝑤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zh-CN" alt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SimHei" panose="02010609060101010101" pitchFamily="49" charset="-122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SimHei" panose="02010609060101010101" pitchFamily="49" charset="-122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SimHei" panose="02010609060101010101" pitchFamily="49" charset="-122"/>
                                    <a:cs typeface="Times New Roman" panose="02020603050405020304" pitchFamily="18" charset="0"/>
                                  </a:rPr>
                                  <m:t>𝑤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zh-CN" alt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⋯</m:t>
                            </m:r>
                          </m:oMath>
                        </m:oMathPara>
                      </a14:m>
                      <a:endParaRPr lang="en-US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SimHei" panose="02010609060101010101" pitchFamily="49" charset="-122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28" name="Rounded Rectangle 127">
                      <a:extLst>
                        <a:ext uri="{FF2B5EF4-FFF2-40B4-BE49-F238E27FC236}">
                          <a16:creationId xmlns:a16="http://schemas.microsoft.com/office/drawing/2014/main" id="{F7F9B74E-3F92-7ED4-2A2A-1E125F26930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70735" y="2183139"/>
                      <a:ext cx="3263643" cy="414582"/>
                    </a:xfrm>
                    <a:prstGeom prst="roundRect">
                      <a:avLst>
                        <a:gd name="adj" fmla="val 0"/>
                      </a:avLst>
                    </a:prstGeom>
                    <a:blipFill>
                      <a:blip r:embed="rId3"/>
                      <a:stretch>
                        <a:fillRect b="-1923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46" name="Up Arrow 145">
                  <a:extLst>
                    <a:ext uri="{FF2B5EF4-FFF2-40B4-BE49-F238E27FC236}">
                      <a16:creationId xmlns:a16="http://schemas.microsoft.com/office/drawing/2014/main" id="{D95DE4CD-0428-552A-9F21-444967C5FC7E}"/>
                    </a:ext>
                  </a:extLst>
                </p:cNvPr>
                <p:cNvSpPr/>
                <p:nvPr/>
              </p:nvSpPr>
              <p:spPr>
                <a:xfrm>
                  <a:off x="8297472" y="1041291"/>
                  <a:ext cx="484632" cy="196842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Up Arrow 146">
                  <a:extLst>
                    <a:ext uri="{FF2B5EF4-FFF2-40B4-BE49-F238E27FC236}">
                      <a16:creationId xmlns:a16="http://schemas.microsoft.com/office/drawing/2014/main" id="{25D32E30-0E0D-398D-C5E1-45D03DDA16D9}"/>
                    </a:ext>
                  </a:extLst>
                </p:cNvPr>
                <p:cNvSpPr/>
                <p:nvPr/>
              </p:nvSpPr>
              <p:spPr>
                <a:xfrm rot="10800000">
                  <a:off x="8297472" y="1886688"/>
                  <a:ext cx="484632" cy="196842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75" name="Group 174">
                  <a:extLst>
                    <a:ext uri="{FF2B5EF4-FFF2-40B4-BE49-F238E27FC236}">
                      <a16:creationId xmlns:a16="http://schemas.microsoft.com/office/drawing/2014/main" id="{72A5DD16-F281-36BC-36C8-C2AF91F7C2F6}"/>
                    </a:ext>
                  </a:extLst>
                </p:cNvPr>
                <p:cNvGrpSpPr/>
                <p:nvPr/>
              </p:nvGrpSpPr>
              <p:grpSpPr>
                <a:xfrm>
                  <a:off x="8294074" y="1351062"/>
                  <a:ext cx="628698" cy="435304"/>
                  <a:chOff x="5492658" y="3442537"/>
                  <a:chExt cx="628698" cy="435304"/>
                </a:xfrm>
              </p:grpSpPr>
              <p:sp>
                <p:nvSpPr>
                  <p:cNvPr id="96" name="Oval 95">
                    <a:extLst>
                      <a:ext uri="{FF2B5EF4-FFF2-40B4-BE49-F238E27FC236}">
                        <a16:creationId xmlns:a16="http://schemas.microsoft.com/office/drawing/2014/main" id="{08C06C6D-6C34-383C-0791-36E9FAAB6B6C}"/>
                      </a:ext>
                    </a:extLst>
                  </p:cNvPr>
                  <p:cNvSpPr/>
                  <p:nvPr/>
                </p:nvSpPr>
                <p:spPr>
                  <a:xfrm>
                    <a:off x="5495477" y="3442537"/>
                    <a:ext cx="435304" cy="435304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900" dirty="0"/>
                  </a:p>
                </p:txBody>
              </p: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33D1ED97-C245-55EB-AE87-7DB4246E3549}"/>
                      </a:ext>
                    </a:extLst>
                  </p:cNvPr>
                  <p:cNvSpPr txBox="1"/>
                  <p:nvPr/>
                </p:nvSpPr>
                <p:spPr>
                  <a:xfrm>
                    <a:off x="5492658" y="3518412"/>
                    <a:ext cx="628698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endParaRPr lang="en-US" sz="1400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</a:endParaRPr>
                  </a:p>
                </p:txBody>
              </p:sp>
            </p:grpSp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8246C651-9B21-C963-139A-1D52B37BF60F}"/>
                    </a:ext>
                  </a:extLst>
                </p:cNvPr>
                <p:cNvSpPr txBox="1"/>
                <p:nvPr/>
              </p:nvSpPr>
              <p:spPr>
                <a:xfrm>
                  <a:off x="9791457" y="1428887"/>
                  <a:ext cx="599649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US" sz="10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5B1D17B7-998E-CEE8-C281-65073BBE6C83}"/>
                    </a:ext>
                  </a:extLst>
                </p:cNvPr>
                <p:cNvSpPr txBox="1"/>
                <p:nvPr/>
              </p:nvSpPr>
              <p:spPr>
                <a:xfrm>
                  <a:off x="6993267" y="1439155"/>
                  <a:ext cx="599649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US" sz="10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88" name="Up Arrow 187">
                  <a:extLst>
                    <a:ext uri="{FF2B5EF4-FFF2-40B4-BE49-F238E27FC236}">
                      <a16:creationId xmlns:a16="http://schemas.microsoft.com/office/drawing/2014/main" id="{91DC4F7E-DCFF-676F-8E84-7127A27B3A33}"/>
                    </a:ext>
                  </a:extLst>
                </p:cNvPr>
                <p:cNvSpPr/>
                <p:nvPr/>
              </p:nvSpPr>
              <p:spPr>
                <a:xfrm>
                  <a:off x="6993267" y="1047135"/>
                  <a:ext cx="484632" cy="196842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9" name="Up Arrow 188">
                  <a:extLst>
                    <a:ext uri="{FF2B5EF4-FFF2-40B4-BE49-F238E27FC236}">
                      <a16:creationId xmlns:a16="http://schemas.microsoft.com/office/drawing/2014/main" id="{FA69B27A-6D8D-1628-9678-BC6479A90B17}"/>
                    </a:ext>
                  </a:extLst>
                </p:cNvPr>
                <p:cNvSpPr/>
                <p:nvPr/>
              </p:nvSpPr>
              <p:spPr>
                <a:xfrm>
                  <a:off x="9749749" y="1029928"/>
                  <a:ext cx="484632" cy="196842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Up Arrow 189">
                  <a:extLst>
                    <a:ext uri="{FF2B5EF4-FFF2-40B4-BE49-F238E27FC236}">
                      <a16:creationId xmlns:a16="http://schemas.microsoft.com/office/drawing/2014/main" id="{F03066E9-FADE-4BF6-6258-2A9DDF4DEDD6}"/>
                    </a:ext>
                  </a:extLst>
                </p:cNvPr>
                <p:cNvSpPr/>
                <p:nvPr/>
              </p:nvSpPr>
              <p:spPr>
                <a:xfrm rot="10800000">
                  <a:off x="6983918" y="1891795"/>
                  <a:ext cx="484632" cy="196842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Up Arrow 190">
                  <a:extLst>
                    <a:ext uri="{FF2B5EF4-FFF2-40B4-BE49-F238E27FC236}">
                      <a16:creationId xmlns:a16="http://schemas.microsoft.com/office/drawing/2014/main" id="{8B849A8D-C8E6-11F9-A809-B11B9BC4A2EB}"/>
                    </a:ext>
                  </a:extLst>
                </p:cNvPr>
                <p:cNvSpPr/>
                <p:nvPr/>
              </p:nvSpPr>
              <p:spPr>
                <a:xfrm rot="10800000">
                  <a:off x="9753220" y="1878345"/>
                  <a:ext cx="484632" cy="196842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9" name="Rounded Rectangle 127">
                      <a:extLst>
                        <a:ext uri="{FF2B5EF4-FFF2-40B4-BE49-F238E27FC236}">
                          <a16:creationId xmlns:a16="http://schemas.microsoft.com/office/drawing/2014/main" id="{0EBE8AC0-9C74-6CDD-4004-D35C2D63C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07966" y="629355"/>
                      <a:ext cx="3263643" cy="367196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accent5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𝑣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𝑤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𝑝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𝑇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imHei" panose="02010609060101010101" pitchFamily="49" charset="-122"/>
                                <a:cs typeface="Times New Roman" panose="02020603050405020304" pitchFamily="18" charset="0"/>
                              </a:rPr>
                              <m:t>⋯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SimHei" panose="02010609060101010101" pitchFamily="49" charset="-122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9" name="Rounded Rectangle 127">
                      <a:extLst>
                        <a:ext uri="{FF2B5EF4-FFF2-40B4-BE49-F238E27FC236}">
                          <a16:creationId xmlns:a16="http://schemas.microsoft.com/office/drawing/2014/main" id="{0EBE8AC0-9C74-6CDD-4004-D35C2D63CCF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07966" y="629355"/>
                      <a:ext cx="3263643" cy="367196"/>
                    </a:xfrm>
                    <a:prstGeom prst="roundRect">
                      <a:avLst>
                        <a:gd name="adj" fmla="val 0"/>
                      </a:avLst>
                    </a:prstGeom>
                    <a:blipFill>
                      <a:blip r:embed="rId4"/>
                      <a:stretch>
                        <a:fillRect b="-26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1F23F61D-A632-3DA7-0FE5-32EE9320D61E}"/>
                  </a:ext>
                </a:extLst>
              </p:cNvPr>
              <p:cNvSpPr/>
              <p:nvPr/>
            </p:nvSpPr>
            <p:spPr>
              <a:xfrm>
                <a:off x="8449174" y="3572298"/>
                <a:ext cx="2754403" cy="162375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13" name="Down Arrow 130">
              <a:extLst>
                <a:ext uri="{FF2B5EF4-FFF2-40B4-BE49-F238E27FC236}">
                  <a16:creationId xmlns:a16="http://schemas.microsoft.com/office/drawing/2014/main" id="{F44FF23F-1BB4-73BB-12C2-7C7CFC85DCC9}"/>
                </a:ext>
              </a:extLst>
            </p:cNvPr>
            <p:cNvSpPr/>
            <p:nvPr/>
          </p:nvSpPr>
          <p:spPr>
            <a:xfrm rot="16200000">
              <a:off x="5630725" y="4247299"/>
              <a:ext cx="535229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92" name="Straight Arrow Connector 291">
              <a:extLst>
                <a:ext uri="{FF2B5EF4-FFF2-40B4-BE49-F238E27FC236}">
                  <a16:creationId xmlns:a16="http://schemas.microsoft.com/office/drawing/2014/main" id="{8380221A-52F9-9BDE-AC07-52921B9643D9}"/>
                </a:ext>
              </a:extLst>
            </p:cNvPr>
            <p:cNvCxnSpPr>
              <a:cxnSpLocks/>
              <a:stCxn id="167" idx="3"/>
              <a:endCxn id="212" idx="1"/>
            </p:cNvCxnSpPr>
            <p:nvPr/>
          </p:nvCxnSpPr>
          <p:spPr>
            <a:xfrm>
              <a:off x="7817686" y="4384175"/>
              <a:ext cx="379818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FC7BC01F-F834-DD2E-7D56-049CBCC0B1B8}"/>
                </a:ext>
              </a:extLst>
            </p:cNvPr>
            <p:cNvGrpSpPr/>
            <p:nvPr/>
          </p:nvGrpSpPr>
          <p:grpSpPr>
            <a:xfrm>
              <a:off x="741034" y="2852357"/>
              <a:ext cx="4852963" cy="2640989"/>
              <a:chOff x="741034" y="2852357"/>
              <a:chExt cx="4852963" cy="2640989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527547C0-F553-2E33-096D-9AF46FD532FC}"/>
                  </a:ext>
                </a:extLst>
              </p:cNvPr>
              <p:cNvGrpSpPr/>
              <p:nvPr/>
            </p:nvGrpSpPr>
            <p:grpSpPr>
              <a:xfrm>
                <a:off x="741034" y="2852357"/>
                <a:ext cx="4852963" cy="2640989"/>
                <a:chOff x="834091" y="3040056"/>
                <a:chExt cx="4852963" cy="2640989"/>
              </a:xfrm>
            </p:grpSpPr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284A909F-1B06-D9BB-0CC8-C16FE1E4EA10}"/>
                    </a:ext>
                  </a:extLst>
                </p:cNvPr>
                <p:cNvGrpSpPr/>
                <p:nvPr/>
              </p:nvGrpSpPr>
              <p:grpSpPr>
                <a:xfrm>
                  <a:off x="834091" y="3040056"/>
                  <a:ext cx="4852963" cy="2640989"/>
                  <a:chOff x="2899664" y="3039235"/>
                  <a:chExt cx="3314502" cy="2640989"/>
                </a:xfrm>
              </p:grpSpPr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98AADBE0-3A84-095E-1278-AE0112B3DF78}"/>
                      </a:ext>
                    </a:extLst>
                  </p:cNvPr>
                  <p:cNvSpPr/>
                  <p:nvPr/>
                </p:nvSpPr>
                <p:spPr>
                  <a:xfrm>
                    <a:off x="2899664" y="3392996"/>
                    <a:ext cx="3309546" cy="228722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55" name="Rounded Rectangle 214">
                    <a:extLst>
                      <a:ext uri="{FF2B5EF4-FFF2-40B4-BE49-F238E27FC236}">
                        <a16:creationId xmlns:a16="http://schemas.microsoft.com/office/drawing/2014/main" id="{52653648-15C3-C58A-4218-42DAB267ABE4}"/>
                      </a:ext>
                    </a:extLst>
                  </p:cNvPr>
                  <p:cNvSpPr/>
                  <p:nvPr/>
                </p:nvSpPr>
                <p:spPr>
                  <a:xfrm>
                    <a:off x="2904619" y="3039235"/>
                    <a:ext cx="3309547" cy="349983"/>
                  </a:xfrm>
                  <a:prstGeom prst="roundRect">
                    <a:avLst>
                      <a:gd name="adj" fmla="val 0"/>
                    </a:avLst>
                  </a:prstGeom>
                  <a:solidFill>
                    <a:schemeClr val="accent5">
                      <a:lumMod val="75000"/>
                    </a:schemeClr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b="1" dirty="0">
                        <a:solidFill>
                          <a:schemeClr val="bg1"/>
                        </a:solidFill>
                        <a:latin typeface="FangSong_GB2312" panose="02010609030101010101" pitchFamily="49" charset="-122"/>
                        <a:ea typeface="FangSong_GB2312" panose="02010609030101010101" pitchFamily="49" charset="-122"/>
                      </a:rPr>
                      <a:t>空间可变泛化阻抗</a:t>
                    </a:r>
                    <a:endParaRPr lang="en-US" b="1" dirty="0">
                      <a:solidFill>
                        <a:schemeClr val="bg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</a:endParaRPr>
                  </a:p>
                </p:txBody>
              </p:sp>
            </p:grpSp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681F4AD8-6AAD-D46C-4726-AC841BDBA5A9}"/>
                    </a:ext>
                  </a:extLst>
                </p:cNvPr>
                <p:cNvSpPr txBox="1"/>
                <p:nvPr/>
              </p:nvSpPr>
              <p:spPr>
                <a:xfrm>
                  <a:off x="4744251" y="3985035"/>
                  <a:ext cx="668130" cy="1130436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algn="ctr">
                    <a:defRPr b="1">
                      <a:latin typeface="FangSong_GB2312" panose="02010609030101010101" pitchFamily="49" charset="-122"/>
                      <a:ea typeface="FangSong_GB2312" panose="02010609030101010101" pitchFamily="49" charset="-122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CN" altLang="en-US" dirty="0">
                      <a:solidFill>
                        <a:schemeClr val="tx1"/>
                      </a:solidFill>
                    </a:rPr>
                    <a:t>空间可变泛化阻抗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80C077DD-234E-D249-2C1F-B8A6F287AD61}"/>
                    </a:ext>
                  </a:extLst>
                </p:cNvPr>
                <p:cNvSpPr txBox="1"/>
                <p:nvPr/>
              </p:nvSpPr>
              <p:spPr>
                <a:xfrm>
                  <a:off x="1017333" y="3526540"/>
                  <a:ext cx="389132" cy="925002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algn="ctr">
                    <a:defRPr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CN" altLang="en-US" dirty="0"/>
                    <a:t>图网络</a:t>
                  </a:r>
                  <a:endParaRPr lang="en-US" dirty="0"/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FEAF962C-7CB7-58BB-C4A1-0A032A2F490C}"/>
                    </a:ext>
                  </a:extLst>
                </p:cNvPr>
                <p:cNvSpPr txBox="1"/>
                <p:nvPr/>
              </p:nvSpPr>
              <p:spPr>
                <a:xfrm>
                  <a:off x="1023971" y="4650634"/>
                  <a:ext cx="389132" cy="89410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algn="ctr">
                    <a:defRPr b="1">
                      <a:solidFill>
                        <a:schemeClr val="tx1"/>
                      </a:solidFill>
                      <a:latin typeface="FangSong_GB2312" panose="02010609030101010101" pitchFamily="49" charset="-122"/>
                      <a:ea typeface="FangSong_GB2312" panose="02010609030101010101" pitchFamily="49" charset="-122"/>
                      <a:cs typeface="Times New Roman" panose="02020603050405020304" pitchFamily="18" charset="0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CN" altLang="en-US" dirty="0"/>
                    <a:t>数据库</a:t>
                  </a:r>
                  <a:endParaRPr lang="en-US" dirty="0"/>
                </a:p>
              </p:txBody>
            </p:sp>
            <p:grpSp>
              <p:nvGrpSpPr>
                <p:cNvPr id="260" name="Group 259">
                  <a:extLst>
                    <a:ext uri="{FF2B5EF4-FFF2-40B4-BE49-F238E27FC236}">
                      <a16:creationId xmlns:a16="http://schemas.microsoft.com/office/drawing/2014/main" id="{9B6B4C96-582F-AB72-AD9C-FCEA7E1D650E}"/>
                    </a:ext>
                  </a:extLst>
                </p:cNvPr>
                <p:cNvGrpSpPr/>
                <p:nvPr/>
              </p:nvGrpSpPr>
              <p:grpSpPr>
                <a:xfrm>
                  <a:off x="1902986" y="3527769"/>
                  <a:ext cx="2559267" cy="2036091"/>
                  <a:chOff x="1295222" y="4126768"/>
                  <a:chExt cx="2559267" cy="1729580"/>
                </a:xfrm>
              </p:grpSpPr>
              <p:sp>
                <p:nvSpPr>
                  <p:cNvPr id="164" name="TextBox 163">
                    <a:extLst>
                      <a:ext uri="{FF2B5EF4-FFF2-40B4-BE49-F238E27FC236}">
                        <a16:creationId xmlns:a16="http://schemas.microsoft.com/office/drawing/2014/main" id="{6D58A6F1-02D1-C607-D7FB-D6CE43AA4EAF}"/>
                      </a:ext>
                    </a:extLst>
                  </p:cNvPr>
                  <p:cNvSpPr txBox="1"/>
                  <p:nvPr/>
                </p:nvSpPr>
                <p:spPr>
                  <a:xfrm>
                    <a:off x="1295222" y="4126768"/>
                    <a:ext cx="592844" cy="1729579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en-US"/>
                    </a:defPPr>
                    <a:lvl1pPr algn="ctr">
                      <a:defRPr b="1">
                        <a:solidFill>
                          <a:schemeClr val="bg1"/>
                        </a:solidFill>
                        <a:latin typeface="FangSong_GB2312" panose="02010609030101010101" pitchFamily="49" charset="-122"/>
                        <a:ea typeface="FangSong_GB2312" panose="02010609030101010101" pitchFamily="49" charset="-122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zh-CN" altLang="en-US"/>
                      <a:t>生成</a:t>
                    </a:r>
                    <a:r>
                      <a:rPr lang="zh-CN" altLang="en-US" dirty="0"/>
                      <a:t>式</a:t>
                    </a:r>
                    <a:endParaRPr lang="en-US" altLang="zh-CN" dirty="0"/>
                  </a:p>
                  <a:p>
                    <a:r>
                      <a:rPr lang="en-US" altLang="zh-CN"/>
                      <a:t>AI</a:t>
                    </a:r>
                    <a:r>
                      <a:rPr lang="zh-CN" altLang="en-US" dirty="0"/>
                      <a:t>框架</a:t>
                    </a:r>
                    <a:endParaRPr lang="en-US" dirty="0"/>
                  </a:p>
                </p:txBody>
              </p:sp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504241C4-C5CB-105B-FD81-2A575813C99F}"/>
                      </a:ext>
                    </a:extLst>
                  </p:cNvPr>
                  <p:cNvSpPr txBox="1"/>
                  <p:nvPr/>
                </p:nvSpPr>
                <p:spPr>
                  <a:xfrm>
                    <a:off x="1888643" y="4126768"/>
                    <a:ext cx="1965846" cy="1729580"/>
                  </a:xfrm>
                  <a:prstGeom prst="rect">
                    <a:avLst/>
                  </a:prstGeom>
                  <a:noFill/>
                  <a:ln w="19050"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en-US"/>
                    </a:defPPr>
                    <a:lvl1pPr algn="ctr">
                      <a:defRPr b="1">
                        <a:latin typeface="FangSong_GB2312" panose="02010609030101010101" pitchFamily="49" charset="-122"/>
                        <a:ea typeface="FangSong_GB2312" panose="02010609030101010101" pitchFamily="49" charset="-122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57" name="TextBox 256">
                    <a:extLst>
                      <a:ext uri="{FF2B5EF4-FFF2-40B4-BE49-F238E27FC236}">
                        <a16:creationId xmlns:a16="http://schemas.microsoft.com/office/drawing/2014/main" id="{99DEA14B-5604-5B62-AB8A-4A70BAF92036}"/>
                      </a:ext>
                    </a:extLst>
                  </p:cNvPr>
                  <p:cNvSpPr txBox="1"/>
                  <p:nvPr/>
                </p:nvSpPr>
                <p:spPr>
                  <a:xfrm>
                    <a:off x="2109663" y="4818975"/>
                    <a:ext cx="1618327" cy="369332"/>
                  </a:xfrm>
                  <a:prstGeom prst="rect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en-US"/>
                    </a:defPPr>
                    <a:lvl1pPr algn="ctr">
                      <a:defRPr b="1">
                        <a:latin typeface="FangSong_GB2312" panose="02010609030101010101" pitchFamily="49" charset="-122"/>
                        <a:ea typeface="FangSong_GB2312" panose="02010609030101010101" pitchFamily="49" charset="-122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zh-CN" altLang="en-US" dirty="0">
                        <a:solidFill>
                          <a:schemeClr val="tx1"/>
                        </a:solidFill>
                      </a:rPr>
                      <a:t>注意力机制</a:t>
                    </a:r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8" name="TextBox 257">
                    <a:extLst>
                      <a:ext uri="{FF2B5EF4-FFF2-40B4-BE49-F238E27FC236}">
                        <a16:creationId xmlns:a16="http://schemas.microsoft.com/office/drawing/2014/main" id="{A8985BFF-5E42-9051-EF54-99D424F5E3A7}"/>
                      </a:ext>
                    </a:extLst>
                  </p:cNvPr>
                  <p:cNvSpPr txBox="1"/>
                  <p:nvPr/>
                </p:nvSpPr>
                <p:spPr>
                  <a:xfrm>
                    <a:off x="2109663" y="4232467"/>
                    <a:ext cx="1618326" cy="369331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en-US"/>
                    </a:defPPr>
                    <a:lvl1pPr algn="ctr">
                      <a:defRPr b="1">
                        <a:solidFill>
                          <a:schemeClr val="tx1"/>
                        </a:solidFill>
                        <a:latin typeface="FangSong_GB2312" panose="02010609030101010101" pitchFamily="49" charset="-122"/>
                        <a:ea typeface="FangSong_GB2312" panose="02010609030101010101" pitchFamily="49" charset="-122"/>
                        <a:cs typeface="Times New Roman" panose="02020603050405020304" pitchFamily="18" charset="0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zh-CN" altLang="en-US" dirty="0"/>
                      <a:t>时空拟序结构</a:t>
                    </a:r>
                    <a:endParaRPr lang="en-US" dirty="0"/>
                  </a:p>
                </p:txBody>
              </p:sp>
              <p:sp>
                <p:nvSpPr>
                  <p:cNvPr id="259" name="TextBox 258">
                    <a:extLst>
                      <a:ext uri="{FF2B5EF4-FFF2-40B4-BE49-F238E27FC236}">
                        <a16:creationId xmlns:a16="http://schemas.microsoft.com/office/drawing/2014/main" id="{F3C0D180-071D-FC64-F279-A8C8A52A09D3}"/>
                      </a:ext>
                    </a:extLst>
                  </p:cNvPr>
                  <p:cNvSpPr txBox="1"/>
                  <p:nvPr/>
                </p:nvSpPr>
                <p:spPr>
                  <a:xfrm>
                    <a:off x="2109663" y="5392363"/>
                    <a:ext cx="1618326" cy="369331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en-US"/>
                    </a:defPPr>
                    <a:lvl1pPr algn="ctr">
                      <a:defRPr b="1">
                        <a:solidFill>
                          <a:schemeClr val="tx1"/>
                        </a:solidFill>
                        <a:latin typeface="FangSong_GB2312" panose="02010609030101010101" pitchFamily="49" charset="-122"/>
                        <a:ea typeface="FangSong_GB2312" panose="02010609030101010101" pitchFamily="49" charset="-122"/>
                        <a:cs typeface="Times New Roman" panose="02020603050405020304" pitchFamily="18" charset="0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zh-CN" altLang="en-US"/>
                      <a:t>粗糙</a:t>
                    </a:r>
                    <a:r>
                      <a:rPr lang="zh-CN" altLang="en-US" dirty="0"/>
                      <a:t>壁二次流</a:t>
                    </a:r>
                    <a:endParaRPr lang="en-US" dirty="0"/>
                  </a:p>
                </p:txBody>
              </p:sp>
            </p:grpSp>
            <p:cxnSp>
              <p:nvCxnSpPr>
                <p:cNvPr id="261" name="Straight Arrow Connector 260">
                  <a:extLst>
                    <a:ext uri="{FF2B5EF4-FFF2-40B4-BE49-F238E27FC236}">
                      <a16:creationId xmlns:a16="http://schemas.microsoft.com/office/drawing/2014/main" id="{B4EC4B6F-3282-BCB8-F6F0-35D8F78D37D0}"/>
                    </a:ext>
                  </a:extLst>
                </p:cNvPr>
                <p:cNvCxnSpPr>
                  <a:cxnSpLocks/>
                  <a:stCxn id="257" idx="0"/>
                  <a:endCxn id="258" idx="2"/>
                </p:cNvCxnSpPr>
                <p:nvPr/>
              </p:nvCxnSpPr>
              <p:spPr>
                <a:xfrm flipH="1" flipV="1">
                  <a:off x="3526590" y="4086983"/>
                  <a:ext cx="1" cy="255664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Straight Arrow Connector 263">
                  <a:extLst>
                    <a:ext uri="{FF2B5EF4-FFF2-40B4-BE49-F238E27FC236}">
                      <a16:creationId xmlns:a16="http://schemas.microsoft.com/office/drawing/2014/main" id="{26FA0728-B8D4-134D-0FE3-A93CD341FE3A}"/>
                    </a:ext>
                  </a:extLst>
                </p:cNvPr>
                <p:cNvCxnSpPr>
                  <a:cxnSpLocks/>
                  <a:stCxn id="257" idx="2"/>
                  <a:endCxn id="259" idx="0"/>
                </p:cNvCxnSpPr>
                <p:nvPr/>
              </p:nvCxnSpPr>
              <p:spPr>
                <a:xfrm flipH="1">
                  <a:off x="3526590" y="4777431"/>
                  <a:ext cx="1" cy="240218"/>
                </a:xfrm>
                <a:prstGeom prst="straightConnector1">
                  <a:avLst/>
                </a:prstGeom>
                <a:ln w="158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8" name="Straight Arrow Connector 287">
                <a:extLst>
                  <a:ext uri="{FF2B5EF4-FFF2-40B4-BE49-F238E27FC236}">
                    <a16:creationId xmlns:a16="http://schemas.microsoft.com/office/drawing/2014/main" id="{27F31CB5-EA4E-953B-4618-669E3A9F6F23}"/>
                  </a:ext>
                </a:extLst>
              </p:cNvPr>
              <p:cNvCxnSpPr>
                <a:cxnSpLocks/>
                <a:stCxn id="256" idx="3"/>
                <a:endCxn id="165" idx="1"/>
              </p:cNvCxnSpPr>
              <p:nvPr/>
            </p:nvCxnSpPr>
            <p:spPr>
              <a:xfrm>
                <a:off x="4369196" y="4358116"/>
                <a:ext cx="281998" cy="4438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Straight Arrow Connector 297">
                <a:extLst>
                  <a:ext uri="{FF2B5EF4-FFF2-40B4-BE49-F238E27FC236}">
                    <a16:creationId xmlns:a16="http://schemas.microsoft.com/office/drawing/2014/main" id="{38FF9C07-0C35-EDA9-C5B1-FE7155D61165}"/>
                  </a:ext>
                </a:extLst>
              </p:cNvPr>
              <p:cNvCxnSpPr>
                <a:cxnSpLocks/>
                <a:stCxn id="130" idx="3"/>
              </p:cNvCxnSpPr>
              <p:nvPr/>
            </p:nvCxnSpPr>
            <p:spPr>
              <a:xfrm>
                <a:off x="1313408" y="3801342"/>
                <a:ext cx="520218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Straight Arrow Connector 300">
                <a:extLst>
                  <a:ext uri="{FF2B5EF4-FFF2-40B4-BE49-F238E27FC236}">
                    <a16:creationId xmlns:a16="http://schemas.microsoft.com/office/drawing/2014/main" id="{E634BC15-AAA5-91F8-3BA2-CC991E50F6A0}"/>
                  </a:ext>
                </a:extLst>
              </p:cNvPr>
              <p:cNvCxnSpPr>
                <a:cxnSpLocks/>
                <a:stCxn id="163" idx="3"/>
              </p:cNvCxnSpPr>
              <p:nvPr/>
            </p:nvCxnSpPr>
            <p:spPr>
              <a:xfrm flipV="1">
                <a:off x="1320046" y="4909984"/>
                <a:ext cx="506942" cy="1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CA28139-F932-4796-CBF9-BF62F731F717}"/>
                  </a:ext>
                </a:extLst>
              </p:cNvPr>
              <p:cNvSpPr txBox="1"/>
              <p:nvPr/>
            </p:nvSpPr>
            <p:spPr>
              <a:xfrm>
                <a:off x="1209173" y="3464501"/>
                <a:ext cx="726038" cy="31338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CN" altLang="en-US" sz="1400" dirty="0"/>
                  <a:t>嵌入</a:t>
                </a:r>
                <a:endParaRPr lang="en-US" sz="1400" dirty="0"/>
              </a:p>
            </p:txBody>
          </p:sp>
          <p:sp>
            <p:nvSpPr>
              <p:cNvPr id="308" name="TextBox 307">
                <a:extLst>
                  <a:ext uri="{FF2B5EF4-FFF2-40B4-BE49-F238E27FC236}">
                    <a16:creationId xmlns:a16="http://schemas.microsoft.com/office/drawing/2014/main" id="{05BE1D6E-C074-4C8F-24B3-E8AB7995E611}"/>
                  </a:ext>
                </a:extLst>
              </p:cNvPr>
              <p:cNvSpPr txBox="1"/>
              <p:nvPr/>
            </p:nvSpPr>
            <p:spPr>
              <a:xfrm>
                <a:off x="1209173" y="4602958"/>
                <a:ext cx="726038" cy="31338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>
                  <a:defRPr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CN" altLang="en-US" sz="1400" dirty="0"/>
                  <a:t>训练</a:t>
                </a:r>
                <a:endParaRPr lang="en-US" sz="14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1591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DDA7-580F-97D6-BAB3-330108F04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14731766-285C-D0E7-3BA1-84C4A124D496}"/>
              </a:ext>
            </a:extLst>
          </p:cNvPr>
          <p:cNvGrpSpPr/>
          <p:nvPr/>
        </p:nvGrpSpPr>
        <p:grpSpPr>
          <a:xfrm>
            <a:off x="756202" y="1652426"/>
            <a:ext cx="10242809" cy="2482756"/>
            <a:chOff x="756202" y="1652426"/>
            <a:chExt cx="10242809" cy="2482756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108D5D29-3584-6F68-CE2B-D7A41F524BE7}"/>
                </a:ext>
              </a:extLst>
            </p:cNvPr>
            <p:cNvSpPr/>
            <p:nvPr/>
          </p:nvSpPr>
          <p:spPr>
            <a:xfrm>
              <a:off x="1182753" y="1652427"/>
              <a:ext cx="4528769" cy="2482755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accent1">
                  <a:shade val="1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>
                <a:solidFill>
                  <a:schemeClr val="tx1"/>
                </a:solidFill>
                <a:latin typeface="Heiti SC Medium" pitchFamily="2" charset="-128"/>
                <a:ea typeface="Heiti SC Medium" pitchFamily="2" charset="-128"/>
              </a:endParaRP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DB291430-8D91-E381-3F2F-DDE03AE9B281}"/>
                </a:ext>
              </a:extLst>
            </p:cNvPr>
            <p:cNvSpPr/>
            <p:nvPr/>
          </p:nvSpPr>
          <p:spPr>
            <a:xfrm>
              <a:off x="1437124" y="2408130"/>
              <a:ext cx="1193286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壁面温度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95E99E2-9BEE-9747-6353-ACBBC9E1B193}"/>
                </a:ext>
              </a:extLst>
            </p:cNvPr>
            <p:cNvSpPr/>
            <p:nvPr/>
          </p:nvSpPr>
          <p:spPr>
            <a:xfrm>
              <a:off x="4369683" y="2408272"/>
              <a:ext cx="1183989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马赫数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43BDFDB4-EFFC-AA87-F596-DCA4B19F5664}"/>
                </a:ext>
              </a:extLst>
            </p:cNvPr>
            <p:cNvSpPr/>
            <p:nvPr/>
          </p:nvSpPr>
          <p:spPr>
            <a:xfrm>
              <a:off x="2438182" y="3668306"/>
              <a:ext cx="2114429" cy="349983"/>
            </a:xfrm>
            <a:prstGeom prst="roundRect">
              <a:avLst>
                <a:gd name="adj" fmla="val 0"/>
              </a:avLst>
            </a:prstGeom>
            <a:solidFill>
              <a:srgbClr val="C8B9DB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数据库扩充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B651984B-D1CC-86AA-0DF5-D61B34CC190F}"/>
                </a:ext>
              </a:extLst>
            </p:cNvPr>
            <p:cNvSpPr/>
            <p:nvPr/>
          </p:nvSpPr>
          <p:spPr>
            <a:xfrm>
              <a:off x="2819270" y="2408130"/>
              <a:ext cx="1352255" cy="40630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粗糙元外形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EF19020B-246E-2896-EF74-557E3359A223}"/>
                </a:ext>
              </a:extLst>
            </p:cNvPr>
            <p:cNvSpPr/>
            <p:nvPr/>
          </p:nvSpPr>
          <p:spPr>
            <a:xfrm>
              <a:off x="2438182" y="1819370"/>
              <a:ext cx="2114429" cy="349983"/>
            </a:xfrm>
            <a:prstGeom prst="roundRect">
              <a:avLst>
                <a:gd name="adj" fmla="val 0"/>
              </a:avLst>
            </a:prstGeom>
            <a:solidFill>
              <a:srgbClr val="C8B9DB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连续形粗糙元函数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4165191-EA6C-E778-DF0B-B07B1A3298A8}"/>
                </a:ext>
              </a:extLst>
            </p:cNvPr>
            <p:cNvCxnSpPr>
              <a:cxnSpLocks/>
              <a:stCxn id="21" idx="2"/>
              <a:endCxn id="20" idx="0"/>
            </p:cNvCxnSpPr>
            <p:nvPr/>
          </p:nvCxnSpPr>
          <p:spPr>
            <a:xfrm>
              <a:off x="3495397" y="2169353"/>
              <a:ext cx="1" cy="2387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67F8202-CCA3-64B7-537D-B026CB0E212B}"/>
                </a:ext>
              </a:extLst>
            </p:cNvPr>
            <p:cNvCxnSpPr>
              <a:cxnSpLocks/>
              <a:stCxn id="20" idx="2"/>
              <a:endCxn id="7" idx="0"/>
            </p:cNvCxnSpPr>
            <p:nvPr/>
          </p:nvCxnSpPr>
          <p:spPr>
            <a:xfrm flipH="1">
              <a:off x="3495397" y="2814436"/>
              <a:ext cx="1" cy="8538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DE8B02CB-A213-9F50-44A4-52791A5961C2}"/>
                </a:ext>
              </a:extLst>
            </p:cNvPr>
            <p:cNvSpPr/>
            <p:nvPr/>
          </p:nvSpPr>
          <p:spPr>
            <a:xfrm>
              <a:off x="756202" y="1652426"/>
              <a:ext cx="426551" cy="2482755"/>
            </a:xfrm>
            <a:prstGeom prst="roundRect">
              <a:avLst>
                <a:gd name="adj" fmla="val 0"/>
              </a:avLst>
            </a:prstGeom>
            <a:solidFill>
              <a:srgbClr val="7030A0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 err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数据</a:t>
              </a:r>
              <a:r>
                <a:rPr lang="zh-CN" alt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扩充</a:t>
              </a:r>
              <a:endParaRPr lang="en-US" altLang="zh-CN" b="1" dirty="0">
                <a:solidFill>
                  <a:schemeClr val="bg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18" name="Elbow Connector 117">
              <a:extLst>
                <a:ext uri="{FF2B5EF4-FFF2-40B4-BE49-F238E27FC236}">
                  <a16:creationId xmlns:a16="http://schemas.microsoft.com/office/drawing/2014/main" id="{B05334A5-1DE8-0AAC-4A79-7DEF9808F9F4}"/>
                </a:ext>
              </a:extLst>
            </p:cNvPr>
            <p:cNvCxnSpPr>
              <a:cxnSpLocks/>
              <a:stCxn id="4" idx="2"/>
              <a:endCxn id="7" idx="0"/>
            </p:cNvCxnSpPr>
            <p:nvPr/>
          </p:nvCxnSpPr>
          <p:spPr>
            <a:xfrm rot="16200000" flipH="1">
              <a:off x="2337647" y="2510556"/>
              <a:ext cx="853870" cy="1461630"/>
            </a:xfrm>
            <a:prstGeom prst="bentConnector3">
              <a:avLst>
                <a:gd name="adj1" fmla="val 24503"/>
              </a:avLst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Elbow Connector 120">
              <a:extLst>
                <a:ext uri="{FF2B5EF4-FFF2-40B4-BE49-F238E27FC236}">
                  <a16:creationId xmlns:a16="http://schemas.microsoft.com/office/drawing/2014/main" id="{758A472B-116E-93B6-1B6F-8A2EA9C363B0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 rot="5400000">
              <a:off x="3801674" y="2508302"/>
              <a:ext cx="853728" cy="1466281"/>
            </a:xfrm>
            <a:prstGeom prst="bentConnector3">
              <a:avLst>
                <a:gd name="adj1" fmla="val 24604"/>
              </a:avLst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Down Arrow 130">
              <a:extLst>
                <a:ext uri="{FF2B5EF4-FFF2-40B4-BE49-F238E27FC236}">
                  <a16:creationId xmlns:a16="http://schemas.microsoft.com/office/drawing/2014/main" id="{4D37CBB6-6F47-34E0-90D5-19A7B479FA37}"/>
                </a:ext>
              </a:extLst>
            </p:cNvPr>
            <p:cNvSpPr/>
            <p:nvPr/>
          </p:nvSpPr>
          <p:spPr>
            <a:xfrm rot="16200000">
              <a:off x="5492904" y="2764073"/>
              <a:ext cx="766367" cy="329128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SimHei" panose="02010609060101010101" pitchFamily="49" charset="-122"/>
                <a:ea typeface="SimHei" panose="02010609060101010101" pitchFamily="49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6613D26-D50C-FA16-0751-8A780327994A}"/>
                </a:ext>
              </a:extLst>
            </p:cNvPr>
            <p:cNvGrpSpPr/>
            <p:nvPr/>
          </p:nvGrpSpPr>
          <p:grpSpPr>
            <a:xfrm>
              <a:off x="6043691" y="1652427"/>
              <a:ext cx="4955320" cy="2482755"/>
              <a:chOff x="2548252" y="3562938"/>
              <a:chExt cx="4955320" cy="2482755"/>
            </a:xfrm>
          </p:grpSpPr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403BF1C0-9A1E-6812-45C3-AEDDBFBB3AC2}"/>
                  </a:ext>
                </a:extLst>
              </p:cNvPr>
              <p:cNvSpPr/>
              <p:nvPr/>
            </p:nvSpPr>
            <p:spPr>
              <a:xfrm>
                <a:off x="3127181" y="3730596"/>
                <a:ext cx="1990959" cy="349983"/>
              </a:xfrm>
              <a:prstGeom prst="roundRect">
                <a:avLst>
                  <a:gd name="adj" fmla="val 0"/>
                </a:avLst>
              </a:prstGeom>
              <a:solidFill>
                <a:srgbClr val="C8B9DB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Helmholtz</a:t>
                </a:r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 分解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E71B8841-BAF2-4363-B3CD-16F5F56606CA}"/>
                  </a:ext>
                </a:extLst>
              </p:cNvPr>
              <p:cNvSpPr/>
              <p:nvPr/>
            </p:nvSpPr>
            <p:spPr>
              <a:xfrm>
                <a:off x="5305862" y="3729881"/>
                <a:ext cx="1990959" cy="349983"/>
              </a:xfrm>
              <a:prstGeom prst="roundRect">
                <a:avLst>
                  <a:gd name="adj" fmla="val 0"/>
                </a:avLst>
              </a:prstGeom>
              <a:solidFill>
                <a:srgbClr val="C8B9DB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模态分解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9E936E8B-242A-8D86-8849-62B12F038518}"/>
                  </a:ext>
                </a:extLst>
              </p:cNvPr>
              <p:cNvCxnSpPr>
                <a:cxnSpLocks/>
                <a:stCxn id="11" idx="2"/>
              </p:cNvCxnSpPr>
              <p:nvPr/>
            </p:nvCxnSpPr>
            <p:spPr>
              <a:xfrm>
                <a:off x="4122661" y="4080579"/>
                <a:ext cx="0" cy="1916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B7DFB633-2CB7-96A5-FF0D-2B084D4447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1342" y="4071700"/>
                <a:ext cx="0" cy="1916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790FF6E2-1B27-C3DF-7AC0-00480005A1E3}"/>
                  </a:ext>
                </a:extLst>
              </p:cNvPr>
              <p:cNvSpPr/>
              <p:nvPr/>
            </p:nvSpPr>
            <p:spPr>
              <a:xfrm>
                <a:off x="3265168" y="4331113"/>
                <a:ext cx="1157292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复杂波系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7DE3A744-65B2-9F46-D6DE-455739228A1B}"/>
                  </a:ext>
                </a:extLst>
              </p:cNvPr>
              <p:cNvSpPr/>
              <p:nvPr/>
            </p:nvSpPr>
            <p:spPr>
              <a:xfrm>
                <a:off x="3699218" y="4871081"/>
                <a:ext cx="3176455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 err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壁面压力</a:t>
                </a:r>
                <a:r>
                  <a:rPr lang="zh-CN" altLang="en-US" b="1" dirty="0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、剪切应力、</a:t>
                </a:r>
                <a:r>
                  <a:rPr lang="en-US" b="1" dirty="0" err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热流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Rounded Rectangle 61">
                <a:extLst>
                  <a:ext uri="{FF2B5EF4-FFF2-40B4-BE49-F238E27FC236}">
                    <a16:creationId xmlns:a16="http://schemas.microsoft.com/office/drawing/2014/main" id="{9F7CD50E-0AE7-07D9-4455-6F92A35D8C1B}"/>
                  </a:ext>
                </a:extLst>
              </p:cNvPr>
              <p:cNvSpPr/>
              <p:nvPr/>
            </p:nvSpPr>
            <p:spPr>
              <a:xfrm>
                <a:off x="4727215" y="4331113"/>
                <a:ext cx="1157292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流体胀缩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37391F23-0425-2E94-1321-0FBA2A84E163}"/>
                  </a:ext>
                </a:extLst>
              </p:cNvPr>
              <p:cNvSpPr/>
              <p:nvPr/>
            </p:nvSpPr>
            <p:spPr>
              <a:xfrm>
                <a:off x="6082930" y="4331113"/>
                <a:ext cx="1157292" cy="40630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二次流动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97" name="Rounded Rectangle 96">
                <a:extLst>
                  <a:ext uri="{FF2B5EF4-FFF2-40B4-BE49-F238E27FC236}">
                    <a16:creationId xmlns:a16="http://schemas.microsoft.com/office/drawing/2014/main" id="{D2AEEFC3-76BD-3424-ACE5-52C136979F67}"/>
                  </a:ext>
                </a:extLst>
              </p:cNvPr>
              <p:cNvSpPr/>
              <p:nvPr/>
            </p:nvSpPr>
            <p:spPr>
              <a:xfrm>
                <a:off x="2548252" y="3562940"/>
                <a:ext cx="426551" cy="2482753"/>
              </a:xfrm>
              <a:prstGeom prst="roundRect">
                <a:avLst>
                  <a:gd name="adj" fmla="val 0"/>
                </a:avLst>
              </a:prstGeom>
              <a:solidFill>
                <a:srgbClr val="7030A0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 err="1">
                    <a:solidFill>
                      <a:schemeClr val="bg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流动分析</a:t>
                </a:r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5" name="Rounded Rectangle 124">
                <a:extLst>
                  <a:ext uri="{FF2B5EF4-FFF2-40B4-BE49-F238E27FC236}">
                    <a16:creationId xmlns:a16="http://schemas.microsoft.com/office/drawing/2014/main" id="{0E4BCC26-0B02-8075-31EA-892EBCF0899A}"/>
                  </a:ext>
                </a:extLst>
              </p:cNvPr>
              <p:cNvSpPr/>
              <p:nvPr/>
            </p:nvSpPr>
            <p:spPr>
              <a:xfrm>
                <a:off x="2974803" y="3562938"/>
                <a:ext cx="4528769" cy="2482755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accent1">
                    <a:shade val="1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iti SC Medium" pitchFamily="2" charset="-128"/>
                  <a:ea typeface="Heiti SC Medium" pitchFamily="2" charset="-128"/>
                </a:endParaRPr>
              </a:p>
            </p:txBody>
          </p:sp>
          <p:sp>
            <p:nvSpPr>
              <p:cNvPr id="127" name="Rounded Rectangle 126">
                <a:extLst>
                  <a:ext uri="{FF2B5EF4-FFF2-40B4-BE49-F238E27FC236}">
                    <a16:creationId xmlns:a16="http://schemas.microsoft.com/office/drawing/2014/main" id="{B541AFE5-8ECE-25D3-1A42-F7DC302AD21D}"/>
                  </a:ext>
                </a:extLst>
              </p:cNvPr>
              <p:cNvSpPr/>
              <p:nvPr/>
            </p:nvSpPr>
            <p:spPr>
              <a:xfrm>
                <a:off x="3139480" y="4270762"/>
                <a:ext cx="4206242" cy="1126861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accent1">
                    <a:shade val="1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dirty="0">
                  <a:solidFill>
                    <a:schemeClr val="tx1"/>
                  </a:solidFill>
                  <a:latin typeface="Heiti SC Medium" pitchFamily="2" charset="-128"/>
                  <a:ea typeface="Heiti SC Medium" pitchFamily="2" charset="-128"/>
                </a:endParaRPr>
              </a:p>
            </p:txBody>
          </p:sp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EF0312F1-D837-9E70-9475-F4F948C50A5F}"/>
                  </a:ext>
                </a:extLst>
              </p:cNvPr>
              <p:cNvSpPr/>
              <p:nvPr/>
            </p:nvSpPr>
            <p:spPr>
              <a:xfrm>
                <a:off x="3181897" y="5552733"/>
                <a:ext cx="4116548" cy="349983"/>
              </a:xfrm>
              <a:prstGeom prst="roundRect">
                <a:avLst>
                  <a:gd name="adj" fmla="val 0"/>
                </a:avLst>
              </a:prstGeom>
              <a:solidFill>
                <a:srgbClr val="C8B9DB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 err="1">
                    <a:solidFill>
                      <a:schemeClr val="tx1"/>
                    </a:solidFill>
                    <a:latin typeface="FangSong_GB2312" panose="02010609030101010101" pitchFamily="49" charset="-122"/>
                    <a:ea typeface="FangSong_GB2312" panose="02010609030101010101" pitchFamily="49" charset="-122"/>
                    <a:cs typeface="Times New Roman" panose="02020603050405020304" pitchFamily="18" charset="0"/>
                  </a:rPr>
                  <a:t>可压缩性对粗糙壁湍流的影响</a:t>
                </a:r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33" name="Straight Arrow Connector 132">
                <a:extLst>
                  <a:ext uri="{FF2B5EF4-FFF2-40B4-BE49-F238E27FC236}">
                    <a16:creationId xmlns:a16="http://schemas.microsoft.com/office/drawing/2014/main" id="{FE3CC4BD-7D56-B2E1-9C2B-97356D4C616B}"/>
                  </a:ext>
                </a:extLst>
              </p:cNvPr>
              <p:cNvCxnSpPr>
                <a:cxnSpLocks/>
                <a:stCxn id="127" idx="2"/>
                <a:endCxn id="128" idx="0"/>
              </p:cNvCxnSpPr>
              <p:nvPr/>
            </p:nvCxnSpPr>
            <p:spPr>
              <a:xfrm flipH="1">
                <a:off x="5240171" y="5397623"/>
                <a:ext cx="2430" cy="15511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CF83AF7E-46AA-72FE-ABF1-6C63EC12C48E}"/>
                </a:ext>
              </a:extLst>
            </p:cNvPr>
            <p:cNvSpPr/>
            <p:nvPr/>
          </p:nvSpPr>
          <p:spPr>
            <a:xfrm>
              <a:off x="1437124" y="3170774"/>
              <a:ext cx="1619006" cy="349983"/>
            </a:xfrm>
            <a:prstGeom prst="roundRect">
              <a:avLst>
                <a:gd name="adj" fmla="val 0"/>
              </a:avLst>
            </a:prstGeom>
            <a:solidFill>
              <a:srgbClr val="C8B9DB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rPr>
                <a:t>简化模拟方法</a:t>
              </a:r>
              <a:endParaRPr 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E39536D-E0CE-8BC8-23BE-928B7BEE059B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3056130" y="3345766"/>
              <a:ext cx="43926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382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04DEA-B13C-FA14-9104-D8BD4CE11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406AF9AF-8F7E-7835-353A-0EA5BDB94287}"/>
              </a:ext>
            </a:extLst>
          </p:cNvPr>
          <p:cNvSpPr/>
          <p:nvPr/>
        </p:nvSpPr>
        <p:spPr>
          <a:xfrm>
            <a:off x="985169" y="5686262"/>
            <a:ext cx="3650672" cy="232737"/>
          </a:xfrm>
          <a:custGeom>
            <a:avLst/>
            <a:gdLst>
              <a:gd name="connsiteX0" fmla="*/ 0 w 6677891"/>
              <a:gd name="connsiteY0" fmla="*/ 600378 h 738923"/>
              <a:gd name="connsiteX1" fmla="*/ 646545 w 6677891"/>
              <a:gd name="connsiteY1" fmla="*/ 341760 h 738923"/>
              <a:gd name="connsiteX2" fmla="*/ 1320800 w 6677891"/>
              <a:gd name="connsiteY2" fmla="*/ 129323 h 738923"/>
              <a:gd name="connsiteX3" fmla="*/ 1838036 w 6677891"/>
              <a:gd name="connsiteY3" fmla="*/ 655796 h 738923"/>
              <a:gd name="connsiteX4" fmla="*/ 2290618 w 6677891"/>
              <a:gd name="connsiteY4" fmla="*/ 230923 h 738923"/>
              <a:gd name="connsiteX5" fmla="*/ 2807854 w 6677891"/>
              <a:gd name="connsiteY5" fmla="*/ 14 h 738923"/>
              <a:gd name="connsiteX6" fmla="*/ 3168073 w 6677891"/>
              <a:gd name="connsiteY6" fmla="*/ 240160 h 738923"/>
              <a:gd name="connsiteX7" fmla="*/ 3408218 w 6677891"/>
              <a:gd name="connsiteY7" fmla="*/ 665032 h 738923"/>
              <a:gd name="connsiteX8" fmla="*/ 3962400 w 6677891"/>
              <a:gd name="connsiteY8" fmla="*/ 295578 h 738923"/>
              <a:gd name="connsiteX9" fmla="*/ 4239491 w 6677891"/>
              <a:gd name="connsiteY9" fmla="*/ 18487 h 738923"/>
              <a:gd name="connsiteX10" fmla="*/ 4719782 w 6677891"/>
              <a:gd name="connsiteY10" fmla="*/ 434123 h 738923"/>
              <a:gd name="connsiteX11" fmla="*/ 5153891 w 6677891"/>
              <a:gd name="connsiteY11" fmla="*/ 609614 h 738923"/>
              <a:gd name="connsiteX12" fmla="*/ 5754254 w 6677891"/>
              <a:gd name="connsiteY12" fmla="*/ 184741 h 738923"/>
              <a:gd name="connsiteX13" fmla="*/ 6391563 w 6677891"/>
              <a:gd name="connsiteY13" fmla="*/ 665032 h 738923"/>
              <a:gd name="connsiteX14" fmla="*/ 6677891 w 6677891"/>
              <a:gd name="connsiteY14" fmla="*/ 738923 h 738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677891" h="738923">
                <a:moveTo>
                  <a:pt x="0" y="600378"/>
                </a:moveTo>
                <a:cubicBezTo>
                  <a:pt x="213206" y="510323"/>
                  <a:pt x="426412" y="420269"/>
                  <a:pt x="646545" y="341760"/>
                </a:cubicBezTo>
                <a:cubicBezTo>
                  <a:pt x="866678" y="263251"/>
                  <a:pt x="1122218" y="76984"/>
                  <a:pt x="1320800" y="129323"/>
                </a:cubicBezTo>
                <a:cubicBezTo>
                  <a:pt x="1519382" y="181662"/>
                  <a:pt x="1676400" y="638863"/>
                  <a:pt x="1838036" y="655796"/>
                </a:cubicBezTo>
                <a:cubicBezTo>
                  <a:pt x="1999672" y="672729"/>
                  <a:pt x="2128982" y="340220"/>
                  <a:pt x="2290618" y="230923"/>
                </a:cubicBezTo>
                <a:cubicBezTo>
                  <a:pt x="2452254" y="121626"/>
                  <a:pt x="2661612" y="-1525"/>
                  <a:pt x="2807854" y="14"/>
                </a:cubicBezTo>
                <a:cubicBezTo>
                  <a:pt x="2954096" y="1553"/>
                  <a:pt x="3068012" y="129324"/>
                  <a:pt x="3168073" y="240160"/>
                </a:cubicBezTo>
                <a:cubicBezTo>
                  <a:pt x="3268134" y="350996"/>
                  <a:pt x="3275830" y="655796"/>
                  <a:pt x="3408218" y="665032"/>
                </a:cubicBezTo>
                <a:cubicBezTo>
                  <a:pt x="3540606" y="674268"/>
                  <a:pt x="3823855" y="403335"/>
                  <a:pt x="3962400" y="295578"/>
                </a:cubicBezTo>
                <a:cubicBezTo>
                  <a:pt x="4100945" y="187821"/>
                  <a:pt x="4113261" y="-4604"/>
                  <a:pt x="4239491" y="18487"/>
                </a:cubicBezTo>
                <a:cubicBezTo>
                  <a:pt x="4365721" y="41578"/>
                  <a:pt x="4567382" y="335602"/>
                  <a:pt x="4719782" y="434123"/>
                </a:cubicBezTo>
                <a:cubicBezTo>
                  <a:pt x="4872182" y="532644"/>
                  <a:pt x="4981479" y="651178"/>
                  <a:pt x="5153891" y="609614"/>
                </a:cubicBezTo>
                <a:cubicBezTo>
                  <a:pt x="5326303" y="568050"/>
                  <a:pt x="5547975" y="175505"/>
                  <a:pt x="5754254" y="184741"/>
                </a:cubicBezTo>
                <a:cubicBezTo>
                  <a:pt x="5960533" y="193977"/>
                  <a:pt x="6237623" y="572668"/>
                  <a:pt x="6391563" y="665032"/>
                </a:cubicBezTo>
                <a:cubicBezTo>
                  <a:pt x="6545503" y="757396"/>
                  <a:pt x="6585527" y="712753"/>
                  <a:pt x="6677891" y="738923"/>
                </a:cubicBezTo>
              </a:path>
            </a:pathLst>
          </a:cu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286218C-E3C6-F547-E2AC-985B6DD8136A}"/>
              </a:ext>
            </a:extLst>
          </p:cNvPr>
          <p:cNvCxnSpPr>
            <a:cxnSpLocks/>
          </p:cNvCxnSpPr>
          <p:nvPr/>
        </p:nvCxnSpPr>
        <p:spPr>
          <a:xfrm>
            <a:off x="974390" y="5700428"/>
            <a:ext cx="3735591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A7C8CCF-3D06-E2CD-48DA-6B8D450492C7}"/>
              </a:ext>
            </a:extLst>
          </p:cNvPr>
          <p:cNvCxnSpPr>
            <a:cxnSpLocks/>
          </p:cNvCxnSpPr>
          <p:nvPr/>
        </p:nvCxnSpPr>
        <p:spPr>
          <a:xfrm>
            <a:off x="989682" y="5918999"/>
            <a:ext cx="3735591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F5140F5-C35D-3A1C-9EF0-27E3ACCB8521}"/>
              </a:ext>
            </a:extLst>
          </p:cNvPr>
          <p:cNvGrpSpPr/>
          <p:nvPr/>
        </p:nvGrpSpPr>
        <p:grpSpPr>
          <a:xfrm>
            <a:off x="4537504" y="1336495"/>
            <a:ext cx="3473403" cy="2828748"/>
            <a:chOff x="1179093" y="3387125"/>
            <a:chExt cx="3473403" cy="2828748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4E7F7D78-0E07-D8C2-C663-D4F27681C182}"/>
                </a:ext>
              </a:extLst>
            </p:cNvPr>
            <p:cNvGrpSpPr/>
            <p:nvPr/>
          </p:nvGrpSpPr>
          <p:grpSpPr>
            <a:xfrm>
              <a:off x="1233751" y="3429000"/>
              <a:ext cx="3418745" cy="2786873"/>
              <a:chOff x="5167598" y="2218264"/>
              <a:chExt cx="4938699" cy="4025900"/>
            </a:xfrm>
          </p:grpSpPr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9B9B23A5-F3F9-4AA6-5CE5-23634B6141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58097" y="2218264"/>
                <a:ext cx="4648200" cy="4025900"/>
              </a:xfrm>
              <a:prstGeom prst="rect">
                <a:avLst/>
              </a:prstGeom>
            </p:spPr>
          </p:pic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616C3EEF-94B9-2123-6DE5-C5CAD7280026}"/>
                  </a:ext>
                </a:extLst>
              </p:cNvPr>
              <p:cNvSpPr/>
              <p:nvPr/>
            </p:nvSpPr>
            <p:spPr>
              <a:xfrm>
                <a:off x="6473821" y="4040317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3B298E84-644E-43CF-5218-0B1E35FCC0AE}"/>
                  </a:ext>
                </a:extLst>
              </p:cNvPr>
              <p:cNvSpPr/>
              <p:nvPr/>
            </p:nvSpPr>
            <p:spPr>
              <a:xfrm>
                <a:off x="7410050" y="4231214"/>
                <a:ext cx="280628" cy="280628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707CDF77-017B-4042-BE1C-E81E9ADB5E65}"/>
                  </a:ext>
                </a:extLst>
              </p:cNvPr>
              <p:cNvSpPr/>
              <p:nvPr/>
            </p:nvSpPr>
            <p:spPr>
              <a:xfrm>
                <a:off x="8221049" y="3789260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EA25D4B3-6F33-2A11-6DDF-E5E87CFF2C81}"/>
                  </a:ext>
                </a:extLst>
              </p:cNvPr>
              <p:cNvSpPr/>
              <p:nvPr/>
            </p:nvSpPr>
            <p:spPr>
              <a:xfrm>
                <a:off x="6590532" y="3046863"/>
                <a:ext cx="530166" cy="530166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63B0671A-6552-A17C-0EC2-DAC069F47565}"/>
                  </a:ext>
                </a:extLst>
              </p:cNvPr>
              <p:cNvSpPr/>
              <p:nvPr/>
            </p:nvSpPr>
            <p:spPr>
              <a:xfrm>
                <a:off x="6938525" y="5418372"/>
                <a:ext cx="471525" cy="471525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EEE040E-3CB9-D7B4-EFBD-B8788B03E5CF}"/>
                  </a:ext>
                </a:extLst>
              </p:cNvPr>
              <p:cNvSpPr/>
              <p:nvPr/>
            </p:nvSpPr>
            <p:spPr>
              <a:xfrm>
                <a:off x="8438997" y="2707105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2C558F23-C77C-EB81-5AD1-F70D4422A3F8}"/>
                  </a:ext>
                </a:extLst>
              </p:cNvPr>
              <p:cNvSpPr/>
              <p:nvPr/>
            </p:nvSpPr>
            <p:spPr>
              <a:xfrm>
                <a:off x="7588069" y="3420232"/>
                <a:ext cx="172301" cy="172301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A21B718B-7A3C-8B3E-39F5-BDE4D303553D}"/>
                  </a:ext>
                </a:extLst>
              </p:cNvPr>
              <p:cNvSpPr/>
              <p:nvPr/>
            </p:nvSpPr>
            <p:spPr>
              <a:xfrm>
                <a:off x="7656248" y="2297282"/>
                <a:ext cx="172301" cy="172301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DF934B91-F5C1-8C72-00DD-549298D7DC9C}"/>
                  </a:ext>
                </a:extLst>
              </p:cNvPr>
              <p:cNvCxnSpPr>
                <a:cxnSpLocks/>
                <a:stCxn id="115" idx="4"/>
                <a:endCxn id="112" idx="0"/>
              </p:cNvCxnSpPr>
              <p:nvPr/>
            </p:nvCxnSpPr>
            <p:spPr>
              <a:xfrm flipH="1">
                <a:off x="6664718" y="3577029"/>
                <a:ext cx="190897" cy="463288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7A585FD8-8B30-F030-978A-1CE54340E51C}"/>
                  </a:ext>
                </a:extLst>
              </p:cNvPr>
              <p:cNvCxnSpPr>
                <a:cxnSpLocks/>
                <a:stCxn id="115" idx="5"/>
                <a:endCxn id="119" idx="2"/>
              </p:cNvCxnSpPr>
              <p:nvPr/>
            </p:nvCxnSpPr>
            <p:spPr>
              <a:xfrm>
                <a:off x="7043057" y="3499388"/>
                <a:ext cx="545012" cy="699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A3AB4CFB-FBEE-1CC3-FEED-89F689048DA8}"/>
                  </a:ext>
                </a:extLst>
              </p:cNvPr>
              <p:cNvCxnSpPr>
                <a:cxnSpLocks/>
                <a:stCxn id="120" idx="4"/>
                <a:endCxn id="119" idx="0"/>
              </p:cNvCxnSpPr>
              <p:nvPr/>
            </p:nvCxnSpPr>
            <p:spPr>
              <a:xfrm flipH="1">
                <a:off x="7674220" y="2469583"/>
                <a:ext cx="68179" cy="95064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38B0A544-1620-053F-30E8-8EA65CDA7CE9}"/>
                  </a:ext>
                </a:extLst>
              </p:cNvPr>
              <p:cNvCxnSpPr>
                <a:cxnSpLocks/>
                <a:stCxn id="117" idx="4"/>
                <a:endCxn id="114" idx="0"/>
              </p:cNvCxnSpPr>
              <p:nvPr/>
            </p:nvCxnSpPr>
            <p:spPr>
              <a:xfrm flipH="1">
                <a:off x="8411946" y="3088899"/>
                <a:ext cx="217948" cy="70036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77027EF6-EF16-98DF-201F-DBF6D37A574A}"/>
                  </a:ext>
                </a:extLst>
              </p:cNvPr>
              <p:cNvCxnSpPr>
                <a:cxnSpLocks/>
                <a:stCxn id="113" idx="7"/>
                <a:endCxn id="114" idx="2"/>
              </p:cNvCxnSpPr>
              <p:nvPr/>
            </p:nvCxnSpPr>
            <p:spPr>
              <a:xfrm flipV="1">
                <a:off x="7649581" y="3980157"/>
                <a:ext cx="571468" cy="29215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3468563F-B7F5-79A7-5375-0338FD15A49F}"/>
                  </a:ext>
                </a:extLst>
              </p:cNvPr>
              <p:cNvCxnSpPr>
                <a:cxnSpLocks/>
                <a:stCxn id="112" idx="6"/>
                <a:endCxn id="113" idx="2"/>
              </p:cNvCxnSpPr>
              <p:nvPr/>
            </p:nvCxnSpPr>
            <p:spPr>
              <a:xfrm>
                <a:off x="6855615" y="4231214"/>
                <a:ext cx="554435" cy="14031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84907CFA-84D6-7677-0787-74A9C39B9A5E}"/>
                  </a:ext>
                </a:extLst>
              </p:cNvPr>
              <p:cNvCxnSpPr>
                <a:cxnSpLocks/>
                <a:stCxn id="116" idx="0"/>
                <a:endCxn id="113" idx="4"/>
              </p:cNvCxnSpPr>
              <p:nvPr/>
            </p:nvCxnSpPr>
            <p:spPr>
              <a:xfrm flipV="1">
                <a:off x="7174288" y="4511842"/>
                <a:ext cx="376076" cy="90653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4" name="Oval 133">
                <a:extLst>
                  <a:ext uri="{FF2B5EF4-FFF2-40B4-BE49-F238E27FC236}">
                    <a16:creationId xmlns:a16="http://schemas.microsoft.com/office/drawing/2014/main" id="{B5380AE8-5C6C-0375-9D6F-22845897FB5C}"/>
                  </a:ext>
                </a:extLst>
              </p:cNvPr>
              <p:cNvSpPr/>
              <p:nvPr/>
            </p:nvSpPr>
            <p:spPr>
              <a:xfrm>
                <a:off x="8942288" y="4272311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" name="Oval 134">
                <a:extLst>
                  <a:ext uri="{FF2B5EF4-FFF2-40B4-BE49-F238E27FC236}">
                    <a16:creationId xmlns:a16="http://schemas.microsoft.com/office/drawing/2014/main" id="{5D21512E-9C7F-1D48-B302-780F6A5FC9EF}"/>
                  </a:ext>
                </a:extLst>
              </p:cNvPr>
              <p:cNvSpPr/>
              <p:nvPr/>
            </p:nvSpPr>
            <p:spPr>
              <a:xfrm>
                <a:off x="5437296" y="4122667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4531F9CD-8C77-52F8-1E56-8868F09CE4D3}"/>
                  </a:ext>
                </a:extLst>
              </p:cNvPr>
              <p:cNvSpPr/>
              <p:nvPr/>
            </p:nvSpPr>
            <p:spPr>
              <a:xfrm>
                <a:off x="5167598" y="3136745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6CFBC937-3151-62C7-80F6-2325CD849C31}"/>
                  </a:ext>
                </a:extLst>
              </p:cNvPr>
              <p:cNvCxnSpPr>
                <a:cxnSpLocks/>
                <a:stCxn id="137" idx="6"/>
                <a:endCxn id="115" idx="2"/>
              </p:cNvCxnSpPr>
              <p:nvPr/>
            </p:nvCxnSpPr>
            <p:spPr>
              <a:xfrm flipV="1">
                <a:off x="5734571" y="3311946"/>
                <a:ext cx="855961" cy="108286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FA313E21-1C67-767B-BDBA-AFFDF64F99D4}"/>
                  </a:ext>
                </a:extLst>
              </p:cNvPr>
              <p:cNvCxnSpPr>
                <a:cxnSpLocks/>
                <a:stCxn id="135" idx="6"/>
                <a:endCxn id="112" idx="3"/>
              </p:cNvCxnSpPr>
              <p:nvPr/>
            </p:nvCxnSpPr>
            <p:spPr>
              <a:xfrm flipV="1">
                <a:off x="6004269" y="4366199"/>
                <a:ext cx="525464" cy="3995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6701E3D3-AC50-B119-8D38-EE14A82AFB32}"/>
                  </a:ext>
                </a:extLst>
              </p:cNvPr>
              <p:cNvCxnSpPr>
                <a:cxnSpLocks/>
                <a:stCxn id="114" idx="5"/>
                <a:endCxn id="134" idx="1"/>
              </p:cNvCxnSpPr>
              <p:nvPr/>
            </p:nvCxnSpPr>
            <p:spPr>
              <a:xfrm>
                <a:off x="8546931" y="4115142"/>
                <a:ext cx="478388" cy="24020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67C095BB-9559-18F4-40C1-9ACBAF2FD7F8}"/>
                </a:ext>
              </a:extLst>
            </p:cNvPr>
            <p:cNvSpPr/>
            <p:nvPr/>
          </p:nvSpPr>
          <p:spPr>
            <a:xfrm>
              <a:off x="1179093" y="3387125"/>
              <a:ext cx="3136426" cy="27971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8F62FB7A-098D-64DD-BD7C-8AC8BFD1372F}"/>
              </a:ext>
            </a:extLst>
          </p:cNvPr>
          <p:cNvGrpSpPr/>
          <p:nvPr/>
        </p:nvGrpSpPr>
        <p:grpSpPr>
          <a:xfrm>
            <a:off x="8399463" y="1336495"/>
            <a:ext cx="3136426" cy="2797107"/>
            <a:chOff x="1179093" y="3387125"/>
            <a:chExt cx="3136426" cy="2797107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1907E5E-6EA7-3205-B1E9-D20B87067D8C}"/>
                </a:ext>
              </a:extLst>
            </p:cNvPr>
            <p:cNvGrpSpPr/>
            <p:nvPr/>
          </p:nvGrpSpPr>
          <p:grpSpPr>
            <a:xfrm>
              <a:off x="1233751" y="3483699"/>
              <a:ext cx="3005455" cy="2486938"/>
              <a:chOff x="5167598" y="2297282"/>
              <a:chExt cx="4341663" cy="3592615"/>
            </a:xfrm>
          </p:grpSpPr>
          <p:sp>
            <p:nvSpPr>
              <p:cNvPr id="148" name="Oval 147">
                <a:extLst>
                  <a:ext uri="{FF2B5EF4-FFF2-40B4-BE49-F238E27FC236}">
                    <a16:creationId xmlns:a16="http://schemas.microsoft.com/office/drawing/2014/main" id="{63C344E3-0972-F5B8-8943-CAD5390468AE}"/>
                  </a:ext>
                </a:extLst>
              </p:cNvPr>
              <p:cNvSpPr/>
              <p:nvPr/>
            </p:nvSpPr>
            <p:spPr>
              <a:xfrm>
                <a:off x="6473821" y="4040317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DF346A64-16A1-D73F-8BD9-29F023BDB3BF}"/>
                  </a:ext>
                </a:extLst>
              </p:cNvPr>
              <p:cNvSpPr/>
              <p:nvPr/>
            </p:nvSpPr>
            <p:spPr>
              <a:xfrm>
                <a:off x="7410050" y="4231214"/>
                <a:ext cx="280628" cy="280628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3DC18556-B0E5-32C9-5C0B-2261AA488F80}"/>
                  </a:ext>
                </a:extLst>
              </p:cNvPr>
              <p:cNvSpPr/>
              <p:nvPr/>
            </p:nvSpPr>
            <p:spPr>
              <a:xfrm>
                <a:off x="8221049" y="3789260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A585DCCF-244C-26F6-97F7-413224AE1C0E}"/>
                  </a:ext>
                </a:extLst>
              </p:cNvPr>
              <p:cNvSpPr/>
              <p:nvPr/>
            </p:nvSpPr>
            <p:spPr>
              <a:xfrm>
                <a:off x="6590532" y="3046863"/>
                <a:ext cx="530166" cy="530166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" name="Oval 151">
                <a:extLst>
                  <a:ext uri="{FF2B5EF4-FFF2-40B4-BE49-F238E27FC236}">
                    <a16:creationId xmlns:a16="http://schemas.microsoft.com/office/drawing/2014/main" id="{7BBE6ED1-4481-4573-1C5B-721F8A4B2026}"/>
                  </a:ext>
                </a:extLst>
              </p:cNvPr>
              <p:cNvSpPr/>
              <p:nvPr/>
            </p:nvSpPr>
            <p:spPr>
              <a:xfrm>
                <a:off x="6938525" y="5418372"/>
                <a:ext cx="471525" cy="471525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336FC432-64FC-EE6A-3124-33CFA2A78460}"/>
                  </a:ext>
                </a:extLst>
              </p:cNvPr>
              <p:cNvSpPr/>
              <p:nvPr/>
            </p:nvSpPr>
            <p:spPr>
              <a:xfrm>
                <a:off x="8438997" y="2707105"/>
                <a:ext cx="381794" cy="381794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BB6CE9BA-5AE6-9764-307E-7C8DBE652DFC}"/>
                  </a:ext>
                </a:extLst>
              </p:cNvPr>
              <p:cNvSpPr/>
              <p:nvPr/>
            </p:nvSpPr>
            <p:spPr>
              <a:xfrm>
                <a:off x="7588069" y="3420232"/>
                <a:ext cx="172301" cy="172301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11C795DB-5ADA-3817-3073-4B3FFFF1B141}"/>
                  </a:ext>
                </a:extLst>
              </p:cNvPr>
              <p:cNvSpPr/>
              <p:nvPr/>
            </p:nvSpPr>
            <p:spPr>
              <a:xfrm>
                <a:off x="7656248" y="2297282"/>
                <a:ext cx="172301" cy="172301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3C0F8B38-E10F-672E-8648-E0AAA35FDFBF}"/>
                  </a:ext>
                </a:extLst>
              </p:cNvPr>
              <p:cNvCxnSpPr>
                <a:cxnSpLocks/>
                <a:stCxn id="151" idx="4"/>
                <a:endCxn id="148" idx="0"/>
              </p:cNvCxnSpPr>
              <p:nvPr/>
            </p:nvCxnSpPr>
            <p:spPr>
              <a:xfrm flipH="1">
                <a:off x="6664718" y="3577029"/>
                <a:ext cx="190897" cy="463288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3D3D311B-1801-634F-588F-7C6EBB3546E8}"/>
                  </a:ext>
                </a:extLst>
              </p:cNvPr>
              <p:cNvCxnSpPr>
                <a:cxnSpLocks/>
                <a:stCxn id="151" idx="5"/>
                <a:endCxn id="154" idx="2"/>
              </p:cNvCxnSpPr>
              <p:nvPr/>
            </p:nvCxnSpPr>
            <p:spPr>
              <a:xfrm>
                <a:off x="7043057" y="3499388"/>
                <a:ext cx="545012" cy="6995"/>
              </a:xfrm>
              <a:prstGeom prst="line">
                <a:avLst/>
              </a:prstGeom>
              <a:ln w="317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A57E7360-F69B-585A-2676-224CA9DCF763}"/>
                  </a:ext>
                </a:extLst>
              </p:cNvPr>
              <p:cNvCxnSpPr>
                <a:cxnSpLocks/>
                <a:stCxn id="155" idx="4"/>
                <a:endCxn id="154" idx="0"/>
              </p:cNvCxnSpPr>
              <p:nvPr/>
            </p:nvCxnSpPr>
            <p:spPr>
              <a:xfrm flipH="1">
                <a:off x="7674220" y="2469583"/>
                <a:ext cx="68179" cy="95064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9EA44C8C-66BE-0475-A207-E39787749887}"/>
                  </a:ext>
                </a:extLst>
              </p:cNvPr>
              <p:cNvCxnSpPr>
                <a:cxnSpLocks/>
                <a:stCxn id="153" idx="4"/>
                <a:endCxn id="150" idx="0"/>
              </p:cNvCxnSpPr>
              <p:nvPr/>
            </p:nvCxnSpPr>
            <p:spPr>
              <a:xfrm flipH="1">
                <a:off x="8411946" y="3088899"/>
                <a:ext cx="217948" cy="70036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97DB8A34-3153-64B5-0AF6-8866A294F007}"/>
                  </a:ext>
                </a:extLst>
              </p:cNvPr>
              <p:cNvCxnSpPr>
                <a:cxnSpLocks/>
                <a:stCxn id="149" idx="7"/>
                <a:endCxn id="150" idx="2"/>
              </p:cNvCxnSpPr>
              <p:nvPr/>
            </p:nvCxnSpPr>
            <p:spPr>
              <a:xfrm flipV="1">
                <a:off x="7649581" y="3980157"/>
                <a:ext cx="571468" cy="29215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B5736A6F-441D-5112-7A27-99D8791F9023}"/>
                  </a:ext>
                </a:extLst>
              </p:cNvPr>
              <p:cNvCxnSpPr>
                <a:cxnSpLocks/>
                <a:stCxn id="148" idx="6"/>
                <a:endCxn id="149" idx="2"/>
              </p:cNvCxnSpPr>
              <p:nvPr/>
            </p:nvCxnSpPr>
            <p:spPr>
              <a:xfrm>
                <a:off x="6855615" y="4231214"/>
                <a:ext cx="554435" cy="14031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9B94DC8A-7A2D-57FA-D378-42CB7E5B92B6}"/>
                  </a:ext>
                </a:extLst>
              </p:cNvPr>
              <p:cNvCxnSpPr>
                <a:cxnSpLocks/>
                <a:stCxn id="152" idx="0"/>
                <a:endCxn id="149" idx="4"/>
              </p:cNvCxnSpPr>
              <p:nvPr/>
            </p:nvCxnSpPr>
            <p:spPr>
              <a:xfrm flipV="1">
                <a:off x="7174288" y="4511842"/>
                <a:ext cx="376076" cy="90653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53E60CC2-ABAD-9DD7-9889-F8DD52E39582}"/>
                  </a:ext>
                </a:extLst>
              </p:cNvPr>
              <p:cNvSpPr/>
              <p:nvPr/>
            </p:nvSpPr>
            <p:spPr>
              <a:xfrm>
                <a:off x="8942288" y="4272311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3EFC994-A386-1D49-2001-795ECCEA86F1}"/>
                  </a:ext>
                </a:extLst>
              </p:cNvPr>
              <p:cNvSpPr/>
              <p:nvPr/>
            </p:nvSpPr>
            <p:spPr>
              <a:xfrm>
                <a:off x="5437296" y="4122667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D9D9826A-940C-8D87-057D-15681650AA9B}"/>
                  </a:ext>
                </a:extLst>
              </p:cNvPr>
              <p:cNvSpPr/>
              <p:nvPr/>
            </p:nvSpPr>
            <p:spPr>
              <a:xfrm>
                <a:off x="5167598" y="3136745"/>
                <a:ext cx="566973" cy="566973"/>
              </a:xfrm>
              <a:prstGeom prst="ellipse">
                <a:avLst/>
              </a:prstGeom>
              <a:solidFill>
                <a:srgbClr val="CA9916"/>
              </a:solidFill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solidFill>
                    <a:schemeClr val="bg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1CDE89C8-4AF8-6345-5071-996D77A01CCE}"/>
                  </a:ext>
                </a:extLst>
              </p:cNvPr>
              <p:cNvCxnSpPr>
                <a:cxnSpLocks/>
                <a:stCxn id="165" idx="6"/>
                <a:endCxn id="151" idx="2"/>
              </p:cNvCxnSpPr>
              <p:nvPr/>
            </p:nvCxnSpPr>
            <p:spPr>
              <a:xfrm flipV="1">
                <a:off x="5734571" y="3311946"/>
                <a:ext cx="855961" cy="108286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B223283F-2DDB-53E3-5EA2-9BE02237EF57}"/>
                  </a:ext>
                </a:extLst>
              </p:cNvPr>
              <p:cNvCxnSpPr>
                <a:cxnSpLocks/>
                <a:stCxn id="164" idx="6"/>
                <a:endCxn id="148" idx="3"/>
              </p:cNvCxnSpPr>
              <p:nvPr/>
            </p:nvCxnSpPr>
            <p:spPr>
              <a:xfrm flipV="1">
                <a:off x="6004269" y="4366199"/>
                <a:ext cx="525464" cy="3995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BD2BEE6-8090-76B1-729B-0E65BB7021FA}"/>
                  </a:ext>
                </a:extLst>
              </p:cNvPr>
              <p:cNvCxnSpPr>
                <a:cxnSpLocks/>
                <a:stCxn id="150" idx="5"/>
                <a:endCxn id="163" idx="1"/>
              </p:cNvCxnSpPr>
              <p:nvPr/>
            </p:nvCxnSpPr>
            <p:spPr>
              <a:xfrm>
                <a:off x="8546931" y="4115142"/>
                <a:ext cx="478388" cy="240200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A1933272-05ED-B0F1-DA88-599ED513C25A}"/>
                </a:ext>
              </a:extLst>
            </p:cNvPr>
            <p:cNvSpPr/>
            <p:nvPr/>
          </p:nvSpPr>
          <p:spPr>
            <a:xfrm>
              <a:off x="1179093" y="3387125"/>
              <a:ext cx="3136426" cy="27971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160324EA-4685-D702-0FBD-1564972125BF}"/>
              </a:ext>
            </a:extLst>
          </p:cNvPr>
          <p:cNvGrpSpPr/>
          <p:nvPr/>
        </p:nvGrpSpPr>
        <p:grpSpPr>
          <a:xfrm>
            <a:off x="675545" y="1336495"/>
            <a:ext cx="3473403" cy="2828748"/>
            <a:chOff x="1413263" y="3393895"/>
            <a:chExt cx="3473403" cy="2828748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54E1C83F-2912-08A3-2A51-08E2991D7E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69015" y="3435770"/>
              <a:ext cx="3217651" cy="2786873"/>
            </a:xfrm>
            <a:prstGeom prst="rect">
              <a:avLst/>
            </a:prstGeom>
          </p:spPr>
        </p:pic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39FCD813-D48D-6AB1-2593-EEB35DC122D1}"/>
                </a:ext>
              </a:extLst>
            </p:cNvPr>
            <p:cNvSpPr/>
            <p:nvPr/>
          </p:nvSpPr>
          <p:spPr>
            <a:xfrm>
              <a:off x="1413263" y="3393895"/>
              <a:ext cx="3136426" cy="27971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26827616-18E1-58FC-740B-597F40BD0FEE}"/>
              </a:ext>
            </a:extLst>
          </p:cNvPr>
          <p:cNvSpPr txBox="1"/>
          <p:nvPr/>
        </p:nvSpPr>
        <p:spPr>
          <a:xfrm>
            <a:off x="3777098" y="2318956"/>
            <a:ext cx="665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PNM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6D7AB02-F688-D02F-F087-285A54D9E740}"/>
              </a:ext>
            </a:extLst>
          </p:cNvPr>
          <p:cNvCxnSpPr>
            <a:cxnSpLocks/>
            <a:stCxn id="171" idx="3"/>
            <a:endCxn id="110" idx="1"/>
          </p:cNvCxnSpPr>
          <p:nvPr/>
        </p:nvCxnSpPr>
        <p:spPr>
          <a:xfrm>
            <a:off x="3811971" y="2735049"/>
            <a:ext cx="72553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C2F3658E-97B4-ECFF-09B5-FF8A2F669BB8}"/>
              </a:ext>
            </a:extLst>
          </p:cNvPr>
          <p:cNvCxnSpPr>
            <a:cxnSpLocks/>
          </p:cNvCxnSpPr>
          <p:nvPr/>
        </p:nvCxnSpPr>
        <p:spPr>
          <a:xfrm>
            <a:off x="7673930" y="2725275"/>
            <a:ext cx="72553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A629B482-E48E-64E4-4883-76BFF0287F44}"/>
              </a:ext>
            </a:extLst>
          </p:cNvPr>
          <p:cNvSpPr txBox="1"/>
          <p:nvPr/>
        </p:nvSpPr>
        <p:spPr>
          <a:xfrm>
            <a:off x="5061101" y="884297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FangSong_GB2312" panose="02010609030101010101" pitchFamily="49" charset="-122"/>
                <a:ea typeface="FangSong_GB2312" panose="02010609030101010101" pitchFamily="49" charset="-122"/>
              </a:rPr>
              <a:t>孔隙拓扑映射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60629833-BA06-94AC-A42B-E86A7E3AD867}"/>
              </a:ext>
            </a:extLst>
          </p:cNvPr>
          <p:cNvSpPr txBox="1"/>
          <p:nvPr/>
        </p:nvSpPr>
        <p:spPr>
          <a:xfrm>
            <a:off x="9589518" y="893068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提取</a:t>
            </a:r>
            <a:r>
              <a:rPr lang="en-US" altLang="zh-CN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GNN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B23075AC-3FE3-DD12-AA62-CD24C8D8BCD9}"/>
              </a:ext>
            </a:extLst>
          </p:cNvPr>
          <p:cNvSpPr txBox="1"/>
          <p:nvPr/>
        </p:nvSpPr>
        <p:spPr>
          <a:xfrm>
            <a:off x="1144664" y="893615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FangSong_GB2312" panose="02010609030101010101" pitchFamily="49" charset="-122"/>
                <a:ea typeface="FangSong_GB2312" panose="02010609030101010101" pitchFamily="49" charset="-122"/>
              </a:rPr>
              <a:t>粗糙元</a:t>
            </a:r>
            <a:r>
              <a:rPr lang="zh-CN" altLang="en-US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（</a:t>
            </a:r>
            <a:r>
              <a:rPr lang="en-US" sz="2400" b="1" dirty="0" err="1">
                <a:latin typeface="FangSong_GB2312" panose="02010609030101010101" pitchFamily="49" charset="-122"/>
                <a:ea typeface="FangSong_GB2312" panose="02010609030101010101" pitchFamily="49" charset="-122"/>
              </a:rPr>
              <a:t>俯视</a:t>
            </a:r>
            <a:r>
              <a:rPr lang="zh-CN" altLang="en-US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）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A9504932-A6E9-81BB-F100-637B2A086C73}"/>
              </a:ext>
            </a:extLst>
          </p:cNvPr>
          <p:cNvCxnSpPr>
            <a:cxnSpLocks/>
            <a:stCxn id="146" idx="2"/>
          </p:cNvCxnSpPr>
          <p:nvPr/>
        </p:nvCxnSpPr>
        <p:spPr>
          <a:xfrm>
            <a:off x="9967676" y="4133602"/>
            <a:ext cx="0" cy="69747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Rectangle 213">
            <a:extLst>
              <a:ext uri="{FF2B5EF4-FFF2-40B4-BE49-F238E27FC236}">
                <a16:creationId xmlns:a16="http://schemas.microsoft.com/office/drawing/2014/main" id="{9F5D19CC-63E3-EA36-B23E-120215CF5A54}"/>
              </a:ext>
            </a:extLst>
          </p:cNvPr>
          <p:cNvSpPr/>
          <p:nvPr/>
        </p:nvSpPr>
        <p:spPr>
          <a:xfrm>
            <a:off x="8372806" y="4831081"/>
            <a:ext cx="3136426" cy="133265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5" name="Rounded Rectangle 214">
            <a:extLst>
              <a:ext uri="{FF2B5EF4-FFF2-40B4-BE49-F238E27FC236}">
                <a16:creationId xmlns:a16="http://schemas.microsoft.com/office/drawing/2014/main" id="{6C4534C0-D941-FDF3-F1D4-DF29B002CF14}"/>
              </a:ext>
            </a:extLst>
          </p:cNvPr>
          <p:cNvSpPr/>
          <p:nvPr/>
        </p:nvSpPr>
        <p:spPr>
          <a:xfrm>
            <a:off x="8693959" y="5112881"/>
            <a:ext cx="1042416" cy="349983"/>
          </a:xfrm>
          <a:prstGeom prst="roundRect">
            <a:avLst>
              <a:gd name="adj" fmla="val 0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训练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16" name="Rounded Rectangle 215">
            <a:extLst>
              <a:ext uri="{FF2B5EF4-FFF2-40B4-BE49-F238E27FC236}">
                <a16:creationId xmlns:a16="http://schemas.microsoft.com/office/drawing/2014/main" id="{8F31583B-E7C5-6FC1-64EC-7B140C8E846C}"/>
              </a:ext>
            </a:extLst>
          </p:cNvPr>
          <p:cNvSpPr/>
          <p:nvPr/>
        </p:nvSpPr>
        <p:spPr>
          <a:xfrm>
            <a:off x="10152973" y="5112881"/>
            <a:ext cx="1042416" cy="349983"/>
          </a:xfrm>
          <a:prstGeom prst="roundRect">
            <a:avLst>
              <a:gd name="adj" fmla="val 0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测试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17" name="Rounded Rectangle 216">
            <a:extLst>
              <a:ext uri="{FF2B5EF4-FFF2-40B4-BE49-F238E27FC236}">
                <a16:creationId xmlns:a16="http://schemas.microsoft.com/office/drawing/2014/main" id="{06DF6B10-9E46-D31F-7AFC-0501D5679F61}"/>
              </a:ext>
            </a:extLst>
          </p:cNvPr>
          <p:cNvSpPr/>
          <p:nvPr/>
        </p:nvSpPr>
        <p:spPr>
          <a:xfrm>
            <a:off x="8709964" y="5654591"/>
            <a:ext cx="2485425" cy="349983"/>
          </a:xfrm>
          <a:prstGeom prst="roundRect">
            <a:avLst>
              <a:gd name="adj" fmla="val 0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节点</a:t>
            </a:r>
            <a:r>
              <a:rPr lang="en-US" altLang="zh-CN" b="1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/</a:t>
            </a:r>
            <a:r>
              <a:rPr lang="zh-CN" altLang="en-US" b="1" dirty="0">
                <a:solidFill>
                  <a:schemeClr val="tx1"/>
                </a:solidFill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边参数优化</a:t>
            </a:r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9B0173B6-4DB3-7861-1D1F-7540F0A4C83C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6524368" y="5462864"/>
            <a:ext cx="434480" cy="3454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Rectangle 221">
            <a:extLst>
              <a:ext uri="{FF2B5EF4-FFF2-40B4-BE49-F238E27FC236}">
                <a16:creationId xmlns:a16="http://schemas.microsoft.com/office/drawing/2014/main" id="{2A02DD20-73FE-D9B1-D437-DE7FD05A6E75}"/>
              </a:ext>
            </a:extLst>
          </p:cNvPr>
          <p:cNvSpPr/>
          <p:nvPr/>
        </p:nvSpPr>
        <p:spPr>
          <a:xfrm>
            <a:off x="689752" y="4831080"/>
            <a:ext cx="4294889" cy="133265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B62C6542-7753-53CC-2B4F-88F2BF375515}"/>
                  </a:ext>
                </a:extLst>
              </p:cNvPr>
              <p:cNvSpPr txBox="1"/>
              <p:nvPr/>
            </p:nvSpPr>
            <p:spPr>
              <a:xfrm>
                <a:off x="3700580" y="5028658"/>
                <a:ext cx="11746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,⋯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B62C6542-7753-53CC-2B4F-88F2BF375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580" y="5028658"/>
                <a:ext cx="1174681" cy="276999"/>
              </a:xfrm>
              <a:prstGeom prst="rect">
                <a:avLst/>
              </a:prstGeom>
              <a:blipFill>
                <a:blip r:embed="rId4"/>
                <a:stretch>
                  <a:fillRect l="-2591" r="-1036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1" name="Freeform 230">
            <a:extLst>
              <a:ext uri="{FF2B5EF4-FFF2-40B4-BE49-F238E27FC236}">
                <a16:creationId xmlns:a16="http://schemas.microsoft.com/office/drawing/2014/main" id="{3C01805D-66C6-8217-E5AE-5DB38E88C0F6}"/>
              </a:ext>
            </a:extLst>
          </p:cNvPr>
          <p:cNvSpPr/>
          <p:nvPr/>
        </p:nvSpPr>
        <p:spPr>
          <a:xfrm>
            <a:off x="3207992" y="5358278"/>
            <a:ext cx="1224367" cy="252108"/>
          </a:xfrm>
          <a:custGeom>
            <a:avLst/>
            <a:gdLst>
              <a:gd name="connsiteX0" fmla="*/ 1224367 w 1224367"/>
              <a:gd name="connsiteY0" fmla="*/ 11885 h 252108"/>
              <a:gd name="connsiteX1" fmla="*/ 751668 w 1224367"/>
              <a:gd name="connsiteY1" fmla="*/ 27383 h 252108"/>
              <a:gd name="connsiteX2" fmla="*/ 0 w 1224367"/>
              <a:gd name="connsiteY2" fmla="*/ 252108 h 252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24367" h="252108">
                <a:moveTo>
                  <a:pt x="1224367" y="11885"/>
                </a:moveTo>
                <a:cubicBezTo>
                  <a:pt x="1090048" y="-385"/>
                  <a:pt x="955729" y="-12654"/>
                  <a:pt x="751668" y="27383"/>
                </a:cubicBezTo>
                <a:cubicBezTo>
                  <a:pt x="547607" y="67420"/>
                  <a:pt x="116237" y="209488"/>
                  <a:pt x="0" y="252108"/>
                </a:cubicBezTo>
              </a:path>
            </a:pathLst>
          </a:custGeom>
          <a:noFill/>
          <a:ln w="22225"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2" name="Right Arrow 231">
            <a:extLst>
              <a:ext uri="{FF2B5EF4-FFF2-40B4-BE49-F238E27FC236}">
                <a16:creationId xmlns:a16="http://schemas.microsoft.com/office/drawing/2014/main" id="{CFA9D0D2-8520-E132-9F0D-A3E0F5DD7173}"/>
              </a:ext>
            </a:extLst>
          </p:cNvPr>
          <p:cNvSpPr/>
          <p:nvPr/>
        </p:nvSpPr>
        <p:spPr>
          <a:xfrm>
            <a:off x="1484583" y="5358278"/>
            <a:ext cx="685399" cy="243007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C666D8DF-1E4C-387F-A0D9-08A435E32506}"/>
              </a:ext>
            </a:extLst>
          </p:cNvPr>
          <p:cNvSpPr txBox="1"/>
          <p:nvPr/>
        </p:nvSpPr>
        <p:spPr>
          <a:xfrm>
            <a:off x="1513996" y="500570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FangSong_GB2312" panose="02010609030101010101" pitchFamily="49" charset="-122"/>
                <a:ea typeface="FangSong_GB2312" panose="02010609030101010101" pitchFamily="49" charset="-122"/>
                <a:cs typeface="Times New Roman" panose="02020603050405020304" pitchFamily="18" charset="0"/>
              </a:rPr>
              <a:t>流动</a:t>
            </a:r>
            <a:endParaRPr lang="en-US" dirty="0">
              <a:latin typeface="FangSong_GB2312" panose="02010609030101010101" pitchFamily="49" charset="-122"/>
              <a:ea typeface="FangSong_GB2312" panose="02010609030101010101" pitchFamily="49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2438BF95-CD2D-1C49-8D8A-90F3B791BF02}"/>
                  </a:ext>
                </a:extLst>
              </p:cNvPr>
              <p:cNvSpPr/>
              <p:nvPr/>
            </p:nvSpPr>
            <p:spPr>
              <a:xfrm>
                <a:off x="6958848" y="5322414"/>
                <a:ext cx="1042416" cy="349983"/>
              </a:xfrm>
              <a:prstGeom prst="roundRect">
                <a:avLst>
                  <a:gd name="adj" fmla="val 0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altLang="zh-CN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  <a:latin typeface="FangSong_GB2312" panose="02010609030101010101" pitchFamily="49" charset="-122"/>
                  <a:ea typeface="FangSong_GB2312" panose="02010609030101010101" pitchFamily="49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2438BF95-CD2D-1C49-8D8A-90F3B791BF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848" y="5322414"/>
                <a:ext cx="1042416" cy="349983"/>
              </a:xfrm>
              <a:prstGeom prst="roundRect">
                <a:avLst>
                  <a:gd name="adj" fmla="val 0"/>
                </a:avLst>
              </a:prstGeom>
              <a:blipFill>
                <a:blip r:embed="rId5"/>
                <a:stretch>
                  <a:fillRect t="-8333" b="-1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3546F6-926E-2A7F-F99B-0DE3A3AB7A47}"/>
              </a:ext>
            </a:extLst>
          </p:cNvPr>
          <p:cNvCxnSpPr>
            <a:cxnSpLocks/>
            <a:stCxn id="214" idx="1"/>
            <a:endCxn id="5" idx="3"/>
          </p:cNvCxnSpPr>
          <p:nvPr/>
        </p:nvCxnSpPr>
        <p:spPr>
          <a:xfrm flipH="1" flipV="1">
            <a:off x="8001264" y="5497406"/>
            <a:ext cx="371542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002D450-804C-ACF0-8214-3EE33C91D352}"/>
              </a:ext>
            </a:extLst>
          </p:cNvPr>
          <p:cNvSpPr txBox="1"/>
          <p:nvPr/>
        </p:nvSpPr>
        <p:spPr>
          <a:xfrm>
            <a:off x="6085906" y="5074824"/>
            <a:ext cx="665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ADE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66AFD9-5E30-B2CF-1684-879EDDC422AD}"/>
              </a:ext>
            </a:extLst>
          </p:cNvPr>
          <p:cNvSpPr txBox="1"/>
          <p:nvPr/>
        </p:nvSpPr>
        <p:spPr>
          <a:xfrm>
            <a:off x="6632744" y="4812350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latin typeface="FangSong_GB2312" panose="02010609030101010101" pitchFamily="49" charset="-122"/>
                <a:ea typeface="FangSong_GB2312" panose="02010609030101010101" pitchFamily="49" charset="-122"/>
              </a:rPr>
              <a:t>阻抗模型</a:t>
            </a:r>
            <a:endParaRPr lang="en-US" sz="2400" b="1" dirty="0">
              <a:latin typeface="FangSong_GB2312" panose="02010609030101010101" pitchFamily="49" charset="-122"/>
              <a:ea typeface="FangSong_GB2312" panose="0201060903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2678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3"/>
    </mc:Choice>
    <mc:Fallback xmlns="">
      <p:transition spd="slow" advTm="693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47698</TotalTime>
  <Words>319</Words>
  <Application>Microsoft Macintosh PowerPoint</Application>
  <PresentationFormat>Widescreen</PresentationFormat>
  <Paragraphs>113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FangSong_GB2312</vt:lpstr>
      <vt:lpstr>Heiti SC Medium</vt:lpstr>
      <vt:lpstr>SimHei</vt:lpstr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Chen, Yongkai</dc:creator>
  <cp:lastModifiedBy>Chen, Yongkai</cp:lastModifiedBy>
  <cp:revision>1189</cp:revision>
  <dcterms:created xsi:type="dcterms:W3CDTF">2023-02-28T10:44:12Z</dcterms:created>
  <dcterms:modified xsi:type="dcterms:W3CDTF">2025-03-18T04:55:38Z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7606f69-b0ae-4874-be30-7d43a3c7be10_Enabled">
    <vt:lpwstr>true</vt:lpwstr>
  </property>
  <property fmtid="{D5CDD505-2E9C-101B-9397-08002B2CF9AE}" pid="3" name="MSIP_Label_f7606f69-b0ae-4874-be30-7d43a3c7be10_SetDate">
    <vt:lpwstr>2025-03-17T06:51:35Z</vt:lpwstr>
  </property>
  <property fmtid="{D5CDD505-2E9C-101B-9397-08002B2CF9AE}" pid="4" name="MSIP_Label_f7606f69-b0ae-4874-be30-7d43a3c7be10_Method">
    <vt:lpwstr>Standard</vt:lpwstr>
  </property>
  <property fmtid="{D5CDD505-2E9C-101B-9397-08002B2CF9AE}" pid="5" name="MSIP_Label_f7606f69-b0ae-4874-be30-7d43a3c7be10_Name">
    <vt:lpwstr>defa4170-0d19-0005-0001-bc88714345d2</vt:lpwstr>
  </property>
  <property fmtid="{D5CDD505-2E9C-101B-9397-08002B2CF9AE}" pid="6" name="MSIP_Label_f7606f69-b0ae-4874-be30-7d43a3c7be10_SiteId">
    <vt:lpwstr>4130bd39-7c53-419c-b1e5-8758d6d63f21</vt:lpwstr>
  </property>
  <property fmtid="{D5CDD505-2E9C-101B-9397-08002B2CF9AE}" pid="7" name="MSIP_Label_f7606f69-b0ae-4874-be30-7d43a3c7be10_ActionId">
    <vt:lpwstr>fcbd291e-635b-4bbf-a527-9412d4809c35</vt:lpwstr>
  </property>
  <property fmtid="{D5CDD505-2E9C-101B-9397-08002B2CF9AE}" pid="8" name="MSIP_Label_f7606f69-b0ae-4874-be30-7d43a3c7be10_ContentBits">
    <vt:lpwstr>0</vt:lpwstr>
  </property>
  <property fmtid="{D5CDD505-2E9C-101B-9397-08002B2CF9AE}" pid="9" name="MSIP_Label_f7606f69-b0ae-4874-be30-7d43a3c7be10_Tag">
    <vt:lpwstr>50, 3, 0, 1</vt:lpwstr>
  </property>
</Properties>
</file>