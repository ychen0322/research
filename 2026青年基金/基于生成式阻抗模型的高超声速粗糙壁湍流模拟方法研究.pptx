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5" r:id="rId3"/>
    <p:sldId id="266" r:id="rId4"/>
    <p:sldId id="26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autoAdjust="0"/>
    <p:restoredTop sz="94694"/>
  </p:normalViewPr>
  <p:slideViewPr>
    <p:cSldViewPr snapToGrid="0">
      <p:cViewPr varScale="1">
        <p:scale>
          <a:sx n="121" d="100"/>
          <a:sy n="121" d="100"/>
        </p:scale>
        <p:origin x="32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BEE851-95D1-DEE5-457E-590AFD50EC4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10DC9846-2880-0090-0DEB-B562C73BD6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16634324-543B-FE51-AA1D-F1A912947635}"/>
              </a:ext>
            </a:extLst>
          </p:cNvPr>
          <p:cNvSpPr>
            <a:spLocks noGrp="1"/>
          </p:cNvSpPr>
          <p:nvPr>
            <p:ph type="dt" sz="half" idx="10"/>
          </p:nvPr>
        </p:nvSpPr>
        <p:spPr/>
        <p:txBody>
          <a:bodyPr/>
          <a:lstStyle/>
          <a:p>
            <a:fld id="{A42418D1-F9E1-4DE7-B18F-476EE5FA5460}" type="datetimeFigureOut">
              <a:rPr lang="en-US" smtClean="0"/>
              <a:t>1/10/26</a:t>
            </a:fld>
            <a:endParaRPr lang="en-US"/>
          </a:p>
        </p:txBody>
      </p:sp>
      <p:sp>
        <p:nvSpPr>
          <p:cNvPr id="5" name="页脚占位符 4">
            <a:extLst>
              <a:ext uri="{FF2B5EF4-FFF2-40B4-BE49-F238E27FC236}">
                <a16:creationId xmlns:a16="http://schemas.microsoft.com/office/drawing/2014/main" id="{CB9DBEDF-A516-2104-56F5-CDD3D6D71680}"/>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BD46E3D1-3FDB-813C-9648-6180EFDFDDC7}"/>
              </a:ext>
            </a:extLst>
          </p:cNvPr>
          <p:cNvSpPr>
            <a:spLocks noGrp="1"/>
          </p:cNvSpPr>
          <p:nvPr>
            <p:ph type="sldNum" sz="quarter" idx="12"/>
          </p:nvPr>
        </p:nvSpPr>
        <p:spPr/>
        <p:txBody>
          <a:bodyPr/>
          <a:lstStyle/>
          <a:p>
            <a:fld id="{90257ADA-61FE-46CD-A4DA-8BFC09C6E2C4}" type="slidenum">
              <a:rPr lang="en-US" smtClean="0"/>
              <a:t>‹#›</a:t>
            </a:fld>
            <a:endParaRPr lang="en-US"/>
          </a:p>
        </p:txBody>
      </p:sp>
    </p:spTree>
    <p:extLst>
      <p:ext uri="{BB962C8B-B14F-4D97-AF65-F5344CB8AC3E}">
        <p14:creationId xmlns:p14="http://schemas.microsoft.com/office/powerpoint/2010/main" val="4077262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FC9F9E-5866-14A5-10D8-D6565D5B2412}"/>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E7DF3C91-7434-DE2D-FEB3-69F31B5B267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8E5BED49-169C-176B-A19B-3C4CB261B321}"/>
              </a:ext>
            </a:extLst>
          </p:cNvPr>
          <p:cNvSpPr>
            <a:spLocks noGrp="1"/>
          </p:cNvSpPr>
          <p:nvPr>
            <p:ph type="dt" sz="half" idx="10"/>
          </p:nvPr>
        </p:nvSpPr>
        <p:spPr/>
        <p:txBody>
          <a:bodyPr/>
          <a:lstStyle/>
          <a:p>
            <a:fld id="{A42418D1-F9E1-4DE7-B18F-476EE5FA5460}" type="datetimeFigureOut">
              <a:rPr lang="en-US" smtClean="0"/>
              <a:t>1/10/26</a:t>
            </a:fld>
            <a:endParaRPr lang="en-US"/>
          </a:p>
        </p:txBody>
      </p:sp>
      <p:sp>
        <p:nvSpPr>
          <p:cNvPr id="5" name="页脚占位符 4">
            <a:extLst>
              <a:ext uri="{FF2B5EF4-FFF2-40B4-BE49-F238E27FC236}">
                <a16:creationId xmlns:a16="http://schemas.microsoft.com/office/drawing/2014/main" id="{FFDDE4AD-496D-949D-05E3-C061D68CBF48}"/>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6C9FF0E0-DC54-CD74-2131-69ED19B72520}"/>
              </a:ext>
            </a:extLst>
          </p:cNvPr>
          <p:cNvSpPr>
            <a:spLocks noGrp="1"/>
          </p:cNvSpPr>
          <p:nvPr>
            <p:ph type="sldNum" sz="quarter" idx="12"/>
          </p:nvPr>
        </p:nvSpPr>
        <p:spPr/>
        <p:txBody>
          <a:bodyPr/>
          <a:lstStyle/>
          <a:p>
            <a:fld id="{90257ADA-61FE-46CD-A4DA-8BFC09C6E2C4}" type="slidenum">
              <a:rPr lang="en-US" smtClean="0"/>
              <a:t>‹#›</a:t>
            </a:fld>
            <a:endParaRPr lang="en-US"/>
          </a:p>
        </p:txBody>
      </p:sp>
    </p:spTree>
    <p:extLst>
      <p:ext uri="{BB962C8B-B14F-4D97-AF65-F5344CB8AC3E}">
        <p14:creationId xmlns:p14="http://schemas.microsoft.com/office/powerpoint/2010/main" val="2307423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9C3D29-36E3-2F13-2C0B-A8CB24B1C44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F2229910-BFDB-C16D-22AD-8C2A99CE65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8DF50C3-07C7-FCE6-B011-58DB62C98628}"/>
              </a:ext>
            </a:extLst>
          </p:cNvPr>
          <p:cNvSpPr>
            <a:spLocks noGrp="1"/>
          </p:cNvSpPr>
          <p:nvPr>
            <p:ph type="dt" sz="half" idx="10"/>
          </p:nvPr>
        </p:nvSpPr>
        <p:spPr/>
        <p:txBody>
          <a:bodyPr/>
          <a:lstStyle/>
          <a:p>
            <a:fld id="{A42418D1-F9E1-4DE7-B18F-476EE5FA5460}" type="datetimeFigureOut">
              <a:rPr lang="en-US" smtClean="0"/>
              <a:t>1/10/26</a:t>
            </a:fld>
            <a:endParaRPr lang="en-US"/>
          </a:p>
        </p:txBody>
      </p:sp>
      <p:sp>
        <p:nvSpPr>
          <p:cNvPr id="5" name="页脚占位符 4">
            <a:extLst>
              <a:ext uri="{FF2B5EF4-FFF2-40B4-BE49-F238E27FC236}">
                <a16:creationId xmlns:a16="http://schemas.microsoft.com/office/drawing/2014/main" id="{B4237A47-71B2-429A-2693-889DF2F7F07D}"/>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EB36727-F16C-B1DC-F8B2-F8F699DCFA6D}"/>
              </a:ext>
            </a:extLst>
          </p:cNvPr>
          <p:cNvSpPr>
            <a:spLocks noGrp="1"/>
          </p:cNvSpPr>
          <p:nvPr>
            <p:ph type="sldNum" sz="quarter" idx="12"/>
          </p:nvPr>
        </p:nvSpPr>
        <p:spPr/>
        <p:txBody>
          <a:bodyPr/>
          <a:lstStyle/>
          <a:p>
            <a:fld id="{90257ADA-61FE-46CD-A4DA-8BFC09C6E2C4}" type="slidenum">
              <a:rPr lang="en-US" smtClean="0"/>
              <a:t>‹#›</a:t>
            </a:fld>
            <a:endParaRPr lang="en-US"/>
          </a:p>
        </p:txBody>
      </p:sp>
    </p:spTree>
    <p:extLst>
      <p:ext uri="{BB962C8B-B14F-4D97-AF65-F5344CB8AC3E}">
        <p14:creationId xmlns:p14="http://schemas.microsoft.com/office/powerpoint/2010/main" val="3205272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2D93EB-8F01-B8DF-0FF0-287D8F8D89A0}"/>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7553B8CB-946B-7EED-E6B5-C30E058FFC8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a:extLst>
              <a:ext uri="{FF2B5EF4-FFF2-40B4-BE49-F238E27FC236}">
                <a16:creationId xmlns:a16="http://schemas.microsoft.com/office/drawing/2014/main" id="{09B27B02-A0F8-2FB8-3785-1A5F9DD7B99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0D051A6A-C3CC-8376-37D2-91853187769D}"/>
              </a:ext>
            </a:extLst>
          </p:cNvPr>
          <p:cNvSpPr>
            <a:spLocks noGrp="1"/>
          </p:cNvSpPr>
          <p:nvPr>
            <p:ph type="dt" sz="half" idx="10"/>
          </p:nvPr>
        </p:nvSpPr>
        <p:spPr/>
        <p:txBody>
          <a:bodyPr/>
          <a:lstStyle/>
          <a:p>
            <a:fld id="{A42418D1-F9E1-4DE7-B18F-476EE5FA5460}" type="datetimeFigureOut">
              <a:rPr lang="en-US" smtClean="0"/>
              <a:t>1/10/26</a:t>
            </a:fld>
            <a:endParaRPr lang="en-US"/>
          </a:p>
        </p:txBody>
      </p:sp>
      <p:sp>
        <p:nvSpPr>
          <p:cNvPr id="6" name="页脚占位符 5">
            <a:extLst>
              <a:ext uri="{FF2B5EF4-FFF2-40B4-BE49-F238E27FC236}">
                <a16:creationId xmlns:a16="http://schemas.microsoft.com/office/drawing/2014/main" id="{C07B10DC-BF60-033C-BF60-6195010DE308}"/>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D77963B9-95AE-FD95-AC42-29AC244DA003}"/>
              </a:ext>
            </a:extLst>
          </p:cNvPr>
          <p:cNvSpPr>
            <a:spLocks noGrp="1"/>
          </p:cNvSpPr>
          <p:nvPr>
            <p:ph type="sldNum" sz="quarter" idx="12"/>
          </p:nvPr>
        </p:nvSpPr>
        <p:spPr/>
        <p:txBody>
          <a:bodyPr/>
          <a:lstStyle/>
          <a:p>
            <a:fld id="{90257ADA-61FE-46CD-A4DA-8BFC09C6E2C4}" type="slidenum">
              <a:rPr lang="en-US" smtClean="0"/>
              <a:t>‹#›</a:t>
            </a:fld>
            <a:endParaRPr lang="en-US"/>
          </a:p>
        </p:txBody>
      </p:sp>
    </p:spTree>
    <p:extLst>
      <p:ext uri="{BB962C8B-B14F-4D97-AF65-F5344CB8AC3E}">
        <p14:creationId xmlns:p14="http://schemas.microsoft.com/office/powerpoint/2010/main" val="2386085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5F3E2E-6756-E341-2519-A836830D91EE}"/>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E49673AA-FF56-0030-B2E1-FF10D4AE09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CA57833-5664-647C-B193-CEA84240C7A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a:extLst>
              <a:ext uri="{FF2B5EF4-FFF2-40B4-BE49-F238E27FC236}">
                <a16:creationId xmlns:a16="http://schemas.microsoft.com/office/drawing/2014/main" id="{966906CA-3222-993F-7429-9F1AC32438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07F1BA8-DC17-36A3-4018-84F174D5FCB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a:extLst>
              <a:ext uri="{FF2B5EF4-FFF2-40B4-BE49-F238E27FC236}">
                <a16:creationId xmlns:a16="http://schemas.microsoft.com/office/drawing/2014/main" id="{4C47E62F-51DE-1510-2876-F3C8806A6251}"/>
              </a:ext>
            </a:extLst>
          </p:cNvPr>
          <p:cNvSpPr>
            <a:spLocks noGrp="1"/>
          </p:cNvSpPr>
          <p:nvPr>
            <p:ph type="dt" sz="half" idx="10"/>
          </p:nvPr>
        </p:nvSpPr>
        <p:spPr/>
        <p:txBody>
          <a:bodyPr/>
          <a:lstStyle/>
          <a:p>
            <a:fld id="{A42418D1-F9E1-4DE7-B18F-476EE5FA5460}" type="datetimeFigureOut">
              <a:rPr lang="en-US" smtClean="0"/>
              <a:t>1/10/26</a:t>
            </a:fld>
            <a:endParaRPr lang="en-US"/>
          </a:p>
        </p:txBody>
      </p:sp>
      <p:sp>
        <p:nvSpPr>
          <p:cNvPr id="8" name="页脚占位符 7">
            <a:extLst>
              <a:ext uri="{FF2B5EF4-FFF2-40B4-BE49-F238E27FC236}">
                <a16:creationId xmlns:a16="http://schemas.microsoft.com/office/drawing/2014/main" id="{F93972A7-9FC1-F633-A8C3-E8DBA084815C}"/>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BD3813B5-63D4-27C9-5A47-DB8A2B020C6B}"/>
              </a:ext>
            </a:extLst>
          </p:cNvPr>
          <p:cNvSpPr>
            <a:spLocks noGrp="1"/>
          </p:cNvSpPr>
          <p:nvPr>
            <p:ph type="sldNum" sz="quarter" idx="12"/>
          </p:nvPr>
        </p:nvSpPr>
        <p:spPr/>
        <p:txBody>
          <a:bodyPr/>
          <a:lstStyle/>
          <a:p>
            <a:fld id="{90257ADA-61FE-46CD-A4DA-8BFC09C6E2C4}" type="slidenum">
              <a:rPr lang="en-US" smtClean="0"/>
              <a:t>‹#›</a:t>
            </a:fld>
            <a:endParaRPr lang="en-US"/>
          </a:p>
        </p:txBody>
      </p:sp>
    </p:spTree>
    <p:extLst>
      <p:ext uri="{BB962C8B-B14F-4D97-AF65-F5344CB8AC3E}">
        <p14:creationId xmlns:p14="http://schemas.microsoft.com/office/powerpoint/2010/main" val="3797040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B04C58-E2D2-0443-C45F-16942B41E509}"/>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92B6717B-877F-174E-FF12-F3114A908602}"/>
              </a:ext>
            </a:extLst>
          </p:cNvPr>
          <p:cNvSpPr>
            <a:spLocks noGrp="1"/>
          </p:cNvSpPr>
          <p:nvPr>
            <p:ph type="dt" sz="half" idx="10"/>
          </p:nvPr>
        </p:nvSpPr>
        <p:spPr/>
        <p:txBody>
          <a:bodyPr/>
          <a:lstStyle/>
          <a:p>
            <a:fld id="{A42418D1-F9E1-4DE7-B18F-476EE5FA5460}" type="datetimeFigureOut">
              <a:rPr lang="en-US" smtClean="0"/>
              <a:t>1/10/26</a:t>
            </a:fld>
            <a:endParaRPr lang="en-US"/>
          </a:p>
        </p:txBody>
      </p:sp>
      <p:sp>
        <p:nvSpPr>
          <p:cNvPr id="4" name="页脚占位符 3">
            <a:extLst>
              <a:ext uri="{FF2B5EF4-FFF2-40B4-BE49-F238E27FC236}">
                <a16:creationId xmlns:a16="http://schemas.microsoft.com/office/drawing/2014/main" id="{11BC02E4-266B-44FC-663A-68887B9BCE05}"/>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4282FCB6-ADD2-22D7-2EDC-FDFF576B6C09}"/>
              </a:ext>
            </a:extLst>
          </p:cNvPr>
          <p:cNvSpPr>
            <a:spLocks noGrp="1"/>
          </p:cNvSpPr>
          <p:nvPr>
            <p:ph type="sldNum" sz="quarter" idx="12"/>
          </p:nvPr>
        </p:nvSpPr>
        <p:spPr/>
        <p:txBody>
          <a:bodyPr/>
          <a:lstStyle/>
          <a:p>
            <a:fld id="{90257ADA-61FE-46CD-A4DA-8BFC09C6E2C4}" type="slidenum">
              <a:rPr lang="en-US" smtClean="0"/>
              <a:t>‹#›</a:t>
            </a:fld>
            <a:endParaRPr lang="en-US"/>
          </a:p>
        </p:txBody>
      </p:sp>
    </p:spTree>
    <p:extLst>
      <p:ext uri="{BB962C8B-B14F-4D97-AF65-F5344CB8AC3E}">
        <p14:creationId xmlns:p14="http://schemas.microsoft.com/office/powerpoint/2010/main" val="1080786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FA5A43-EB49-8B81-2722-EA24FC28427F}"/>
              </a:ext>
            </a:extLst>
          </p:cNvPr>
          <p:cNvSpPr>
            <a:spLocks noGrp="1"/>
          </p:cNvSpPr>
          <p:nvPr>
            <p:ph type="dt" sz="half" idx="10"/>
          </p:nvPr>
        </p:nvSpPr>
        <p:spPr/>
        <p:txBody>
          <a:bodyPr/>
          <a:lstStyle/>
          <a:p>
            <a:fld id="{A42418D1-F9E1-4DE7-B18F-476EE5FA5460}" type="datetimeFigureOut">
              <a:rPr lang="en-US" smtClean="0"/>
              <a:t>1/10/26</a:t>
            </a:fld>
            <a:endParaRPr lang="en-US"/>
          </a:p>
        </p:txBody>
      </p:sp>
      <p:sp>
        <p:nvSpPr>
          <p:cNvPr id="3" name="页脚占位符 2">
            <a:extLst>
              <a:ext uri="{FF2B5EF4-FFF2-40B4-BE49-F238E27FC236}">
                <a16:creationId xmlns:a16="http://schemas.microsoft.com/office/drawing/2014/main" id="{98890992-61C1-0AE7-FC19-C175E47A9A1E}"/>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03B305E4-A5DA-ED05-9DBA-8A670615F039}"/>
              </a:ext>
            </a:extLst>
          </p:cNvPr>
          <p:cNvSpPr>
            <a:spLocks noGrp="1"/>
          </p:cNvSpPr>
          <p:nvPr>
            <p:ph type="sldNum" sz="quarter" idx="12"/>
          </p:nvPr>
        </p:nvSpPr>
        <p:spPr/>
        <p:txBody>
          <a:bodyPr/>
          <a:lstStyle/>
          <a:p>
            <a:fld id="{90257ADA-61FE-46CD-A4DA-8BFC09C6E2C4}" type="slidenum">
              <a:rPr lang="en-US" smtClean="0"/>
              <a:t>‹#›</a:t>
            </a:fld>
            <a:endParaRPr lang="en-US"/>
          </a:p>
        </p:txBody>
      </p:sp>
    </p:spTree>
    <p:extLst>
      <p:ext uri="{BB962C8B-B14F-4D97-AF65-F5344CB8AC3E}">
        <p14:creationId xmlns:p14="http://schemas.microsoft.com/office/powerpoint/2010/main" val="1184629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972C79-3F6F-A3E9-7F44-833CA742C53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719C40D5-AE35-B676-C12D-FC837040B5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a:extLst>
              <a:ext uri="{FF2B5EF4-FFF2-40B4-BE49-F238E27FC236}">
                <a16:creationId xmlns:a16="http://schemas.microsoft.com/office/drawing/2014/main" id="{299E3D5D-BAA1-DDBA-4A0D-EC62A378B9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2E16EA5-A4C6-DED4-3AEF-50DF1DCBCF49}"/>
              </a:ext>
            </a:extLst>
          </p:cNvPr>
          <p:cNvSpPr>
            <a:spLocks noGrp="1"/>
          </p:cNvSpPr>
          <p:nvPr>
            <p:ph type="dt" sz="half" idx="10"/>
          </p:nvPr>
        </p:nvSpPr>
        <p:spPr/>
        <p:txBody>
          <a:bodyPr/>
          <a:lstStyle/>
          <a:p>
            <a:fld id="{A42418D1-F9E1-4DE7-B18F-476EE5FA5460}" type="datetimeFigureOut">
              <a:rPr lang="en-US" smtClean="0"/>
              <a:t>1/10/26</a:t>
            </a:fld>
            <a:endParaRPr lang="en-US"/>
          </a:p>
        </p:txBody>
      </p:sp>
      <p:sp>
        <p:nvSpPr>
          <p:cNvPr id="6" name="页脚占位符 5">
            <a:extLst>
              <a:ext uri="{FF2B5EF4-FFF2-40B4-BE49-F238E27FC236}">
                <a16:creationId xmlns:a16="http://schemas.microsoft.com/office/drawing/2014/main" id="{51F499B0-DD4A-9E59-2541-C716CF6C172D}"/>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30C58B17-E9FF-1947-0C90-C76F33F6141F}"/>
              </a:ext>
            </a:extLst>
          </p:cNvPr>
          <p:cNvSpPr>
            <a:spLocks noGrp="1"/>
          </p:cNvSpPr>
          <p:nvPr>
            <p:ph type="sldNum" sz="quarter" idx="12"/>
          </p:nvPr>
        </p:nvSpPr>
        <p:spPr/>
        <p:txBody>
          <a:bodyPr/>
          <a:lstStyle/>
          <a:p>
            <a:fld id="{90257ADA-61FE-46CD-A4DA-8BFC09C6E2C4}" type="slidenum">
              <a:rPr lang="en-US" smtClean="0"/>
              <a:t>‹#›</a:t>
            </a:fld>
            <a:endParaRPr lang="en-US"/>
          </a:p>
        </p:txBody>
      </p:sp>
    </p:spTree>
    <p:extLst>
      <p:ext uri="{BB962C8B-B14F-4D97-AF65-F5344CB8AC3E}">
        <p14:creationId xmlns:p14="http://schemas.microsoft.com/office/powerpoint/2010/main" val="179775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DF2C51-99B0-C40A-446D-02154CF5EC4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B6A1441C-F927-5573-5C7D-FE31D82CF6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07E01E6F-F80E-DCA9-DAD6-BA8B5F964C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667E59-6886-3AE1-9427-C2D399FD01DF}"/>
              </a:ext>
            </a:extLst>
          </p:cNvPr>
          <p:cNvSpPr>
            <a:spLocks noGrp="1"/>
          </p:cNvSpPr>
          <p:nvPr>
            <p:ph type="dt" sz="half" idx="10"/>
          </p:nvPr>
        </p:nvSpPr>
        <p:spPr/>
        <p:txBody>
          <a:bodyPr/>
          <a:lstStyle/>
          <a:p>
            <a:fld id="{A42418D1-F9E1-4DE7-B18F-476EE5FA5460}" type="datetimeFigureOut">
              <a:rPr lang="en-US" smtClean="0"/>
              <a:t>1/10/26</a:t>
            </a:fld>
            <a:endParaRPr lang="en-US"/>
          </a:p>
        </p:txBody>
      </p:sp>
      <p:sp>
        <p:nvSpPr>
          <p:cNvPr id="6" name="页脚占位符 5">
            <a:extLst>
              <a:ext uri="{FF2B5EF4-FFF2-40B4-BE49-F238E27FC236}">
                <a16:creationId xmlns:a16="http://schemas.microsoft.com/office/drawing/2014/main" id="{34D74BAD-CAA2-62BF-8170-ADCE6BC8A018}"/>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70F59E8D-0EFB-BE4B-A11B-5F73713D7C15}"/>
              </a:ext>
            </a:extLst>
          </p:cNvPr>
          <p:cNvSpPr>
            <a:spLocks noGrp="1"/>
          </p:cNvSpPr>
          <p:nvPr>
            <p:ph type="sldNum" sz="quarter" idx="12"/>
          </p:nvPr>
        </p:nvSpPr>
        <p:spPr/>
        <p:txBody>
          <a:bodyPr/>
          <a:lstStyle/>
          <a:p>
            <a:fld id="{90257ADA-61FE-46CD-A4DA-8BFC09C6E2C4}" type="slidenum">
              <a:rPr lang="en-US" smtClean="0"/>
              <a:t>‹#›</a:t>
            </a:fld>
            <a:endParaRPr lang="en-US"/>
          </a:p>
        </p:txBody>
      </p:sp>
    </p:spTree>
    <p:extLst>
      <p:ext uri="{BB962C8B-B14F-4D97-AF65-F5344CB8AC3E}">
        <p14:creationId xmlns:p14="http://schemas.microsoft.com/office/powerpoint/2010/main" val="2052499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1D5C4D-8475-B065-255B-3BB7F7956BFF}"/>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48C8161E-C394-9F5E-E5C2-CE5EBDB27AA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A15CF659-6FE5-2B3C-C80B-675FB3AB9D31}"/>
              </a:ext>
            </a:extLst>
          </p:cNvPr>
          <p:cNvSpPr>
            <a:spLocks noGrp="1"/>
          </p:cNvSpPr>
          <p:nvPr>
            <p:ph type="dt" sz="half" idx="10"/>
          </p:nvPr>
        </p:nvSpPr>
        <p:spPr/>
        <p:txBody>
          <a:bodyPr/>
          <a:lstStyle/>
          <a:p>
            <a:fld id="{A42418D1-F9E1-4DE7-B18F-476EE5FA5460}" type="datetimeFigureOut">
              <a:rPr lang="en-US" smtClean="0"/>
              <a:t>1/10/26</a:t>
            </a:fld>
            <a:endParaRPr lang="en-US"/>
          </a:p>
        </p:txBody>
      </p:sp>
      <p:sp>
        <p:nvSpPr>
          <p:cNvPr id="5" name="页脚占位符 4">
            <a:extLst>
              <a:ext uri="{FF2B5EF4-FFF2-40B4-BE49-F238E27FC236}">
                <a16:creationId xmlns:a16="http://schemas.microsoft.com/office/drawing/2014/main" id="{E9822C74-E583-BA03-6938-20661C850738}"/>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E1ABDC25-45DB-4650-260D-7A8E9DBBFC25}"/>
              </a:ext>
            </a:extLst>
          </p:cNvPr>
          <p:cNvSpPr>
            <a:spLocks noGrp="1"/>
          </p:cNvSpPr>
          <p:nvPr>
            <p:ph type="sldNum" sz="quarter" idx="12"/>
          </p:nvPr>
        </p:nvSpPr>
        <p:spPr/>
        <p:txBody>
          <a:bodyPr/>
          <a:lstStyle/>
          <a:p>
            <a:fld id="{90257ADA-61FE-46CD-A4DA-8BFC09C6E2C4}" type="slidenum">
              <a:rPr lang="en-US" smtClean="0"/>
              <a:t>‹#›</a:t>
            </a:fld>
            <a:endParaRPr lang="en-US"/>
          </a:p>
        </p:txBody>
      </p:sp>
    </p:spTree>
    <p:extLst>
      <p:ext uri="{BB962C8B-B14F-4D97-AF65-F5344CB8AC3E}">
        <p14:creationId xmlns:p14="http://schemas.microsoft.com/office/powerpoint/2010/main" val="2723179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ABB2961-25EF-E6CC-3625-B1A39F12153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B7E1D1CF-2450-F392-3C83-98150E0D223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19FCE4E7-FC34-A022-D3AA-68A100FACEDA}"/>
              </a:ext>
            </a:extLst>
          </p:cNvPr>
          <p:cNvSpPr>
            <a:spLocks noGrp="1"/>
          </p:cNvSpPr>
          <p:nvPr>
            <p:ph type="dt" sz="half" idx="10"/>
          </p:nvPr>
        </p:nvSpPr>
        <p:spPr/>
        <p:txBody>
          <a:bodyPr/>
          <a:lstStyle/>
          <a:p>
            <a:fld id="{A42418D1-F9E1-4DE7-B18F-476EE5FA5460}" type="datetimeFigureOut">
              <a:rPr lang="en-US" smtClean="0"/>
              <a:t>1/10/26</a:t>
            </a:fld>
            <a:endParaRPr lang="en-US"/>
          </a:p>
        </p:txBody>
      </p:sp>
      <p:sp>
        <p:nvSpPr>
          <p:cNvPr id="5" name="页脚占位符 4">
            <a:extLst>
              <a:ext uri="{FF2B5EF4-FFF2-40B4-BE49-F238E27FC236}">
                <a16:creationId xmlns:a16="http://schemas.microsoft.com/office/drawing/2014/main" id="{A98A4002-15C0-5E24-00E3-77CFFF7CD12B}"/>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0712BF6-56A2-DD10-11D8-8E609DA56535}"/>
              </a:ext>
            </a:extLst>
          </p:cNvPr>
          <p:cNvSpPr>
            <a:spLocks noGrp="1"/>
          </p:cNvSpPr>
          <p:nvPr>
            <p:ph type="sldNum" sz="quarter" idx="12"/>
          </p:nvPr>
        </p:nvSpPr>
        <p:spPr/>
        <p:txBody>
          <a:bodyPr/>
          <a:lstStyle/>
          <a:p>
            <a:fld id="{90257ADA-61FE-46CD-A4DA-8BFC09C6E2C4}" type="slidenum">
              <a:rPr lang="en-US" smtClean="0"/>
              <a:t>‹#›</a:t>
            </a:fld>
            <a:endParaRPr lang="en-US"/>
          </a:p>
        </p:txBody>
      </p:sp>
    </p:spTree>
    <p:extLst>
      <p:ext uri="{BB962C8B-B14F-4D97-AF65-F5344CB8AC3E}">
        <p14:creationId xmlns:p14="http://schemas.microsoft.com/office/powerpoint/2010/main" val="380881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0DF00BD-4F9B-12CB-D8C4-7070064722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66466BC4-840D-77FE-CBFF-E7D2736306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DC17263C-6786-04AD-A30A-85336BE02B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2418D1-F9E1-4DE7-B18F-476EE5FA5460}" type="datetimeFigureOut">
              <a:rPr lang="en-US" smtClean="0"/>
              <a:t>1/10/26</a:t>
            </a:fld>
            <a:endParaRPr lang="en-US"/>
          </a:p>
        </p:txBody>
      </p:sp>
      <p:sp>
        <p:nvSpPr>
          <p:cNvPr id="5" name="页脚占位符 4">
            <a:extLst>
              <a:ext uri="{FF2B5EF4-FFF2-40B4-BE49-F238E27FC236}">
                <a16:creationId xmlns:a16="http://schemas.microsoft.com/office/drawing/2014/main" id="{1FFFC597-F29C-9410-D5C4-52FA4A4838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灯片编号占位符 5">
            <a:extLst>
              <a:ext uri="{FF2B5EF4-FFF2-40B4-BE49-F238E27FC236}">
                <a16:creationId xmlns:a16="http://schemas.microsoft.com/office/drawing/2014/main" id="{817056CA-EE39-A56A-ACE9-431009D48F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257ADA-61FE-46CD-A4DA-8BFC09C6E2C4}" type="slidenum">
              <a:rPr lang="en-US" smtClean="0"/>
              <a:t>‹#›</a:t>
            </a:fld>
            <a:endParaRPr lang="en-US"/>
          </a:p>
        </p:txBody>
      </p:sp>
    </p:spTree>
    <p:extLst>
      <p:ext uri="{BB962C8B-B14F-4D97-AF65-F5344CB8AC3E}">
        <p14:creationId xmlns:p14="http://schemas.microsoft.com/office/powerpoint/2010/main" val="9997977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71EDE-A9EE-C207-3AFA-1EBD753D3862}"/>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B9E050B2-5522-C7CD-D7B3-5CBD44EE8FDE}"/>
              </a:ext>
            </a:extLst>
          </p:cNvPr>
          <p:cNvSpPr>
            <a:spLocks noGrp="1"/>
          </p:cNvSpPr>
          <p:nvPr>
            <p:ph idx="1"/>
          </p:nvPr>
        </p:nvSpPr>
        <p:spPr>
          <a:xfrm>
            <a:off x="57978" y="830317"/>
            <a:ext cx="12032974" cy="5923321"/>
          </a:xfrm>
        </p:spPr>
        <p:txBody>
          <a:bodyPr>
            <a:normAutofit/>
          </a:bodyPr>
          <a:lstStyle/>
          <a:p>
            <a:pPr marL="0" indent="0">
              <a:buNone/>
            </a:pPr>
            <a:r>
              <a:rPr lang="zh-CN" altLang="en-US" sz="2000" b="1" dirty="0">
                <a:latin typeface="黑体" panose="02010609060101010101" pitchFamily="49" charset="-122"/>
                <a:ea typeface="黑体" panose="02010609060101010101" pitchFamily="49" charset="-122"/>
              </a:rPr>
              <a:t>研究背景</a:t>
            </a:r>
            <a:endParaRPr lang="en-US" altLang="zh-CN" sz="2000" b="1" dirty="0">
              <a:latin typeface="黑体" panose="02010609060101010101" pitchFamily="49" charset="-122"/>
              <a:ea typeface="黑体" panose="02010609060101010101" pitchFamily="49" charset="-122"/>
            </a:endParaRPr>
          </a:p>
          <a:p>
            <a:pPr marL="0" indent="457200" algn="just">
              <a:lnSpc>
                <a:spcPct val="150000"/>
              </a:lnSpc>
              <a:buNone/>
            </a:pPr>
            <a:r>
              <a:rPr lang="zh-CN" altLang="en-US" sz="2000" dirty="0">
                <a:latin typeface="FangSong" panose="02010609060101010101" pitchFamily="49" charset="-122"/>
                <a:ea typeface="FangSong" panose="02010609060101010101" pitchFamily="49" charset="-122"/>
              </a:rPr>
              <a:t>高速飞行器表面在加工后或飞行过程中由于不同原因呈现粗糙状态，如被动控制引入的表面涂层、粗糙元，因气动热导致的表面烧蚀等。而粗糙壁的湍流场与光滑壁差异显著，准确解析高超声速粗糙壁湍流对飞行器的气动力、热防护设计至关重要。</a:t>
            </a:r>
            <a:endParaRPr lang="en-US" altLang="zh-CN" sz="2000" dirty="0">
              <a:latin typeface="FangSong" panose="02010609060101010101" pitchFamily="49" charset="-122"/>
              <a:ea typeface="FangSong" panose="02010609060101010101" pitchFamily="49" charset="-122"/>
            </a:endParaRPr>
          </a:p>
          <a:p>
            <a:pPr marL="0" indent="457200" algn="just">
              <a:lnSpc>
                <a:spcPct val="150000"/>
              </a:lnSpc>
              <a:buNone/>
            </a:pPr>
            <a:r>
              <a:rPr lang="zh-CN" altLang="en-US" sz="2000" dirty="0">
                <a:latin typeface="FangSong" panose="02010609060101010101" pitchFamily="49" charset="-122"/>
                <a:ea typeface="FangSong" panose="02010609060101010101" pitchFamily="49" charset="-122"/>
              </a:rPr>
              <a:t>目前的模拟手段：</a:t>
            </a:r>
            <a:r>
              <a:rPr lang="en-US" altLang="zh-CN" sz="2000" dirty="0">
                <a:latin typeface="FangSong" panose="02010609060101010101" pitchFamily="49" charset="-122"/>
                <a:ea typeface="FangSong" panose="02010609060101010101" pitchFamily="49" charset="-122"/>
              </a:rPr>
              <a:t>DNS</a:t>
            </a:r>
            <a:r>
              <a:rPr lang="zh-CN" altLang="en-US" sz="2000" dirty="0">
                <a:latin typeface="FangSong" panose="02010609060101010101" pitchFamily="49" charset="-122"/>
                <a:ea typeface="FangSong" panose="02010609060101010101" pitchFamily="49" charset="-122"/>
              </a:rPr>
              <a:t>和</a:t>
            </a:r>
            <a:r>
              <a:rPr lang="en-US" altLang="zh-CN" sz="2000" dirty="0">
                <a:latin typeface="FangSong" panose="02010609060101010101" pitchFamily="49" charset="-122"/>
                <a:ea typeface="FangSong" panose="02010609060101010101" pitchFamily="49" charset="-122"/>
              </a:rPr>
              <a:t>LES</a:t>
            </a:r>
            <a:r>
              <a:rPr lang="zh-CN" altLang="en-US" sz="2000" dirty="0">
                <a:latin typeface="FangSong" panose="02010609060101010101" pitchFamily="49" charset="-122"/>
                <a:ea typeface="FangSong" panose="02010609060101010101" pitchFamily="49" charset="-122"/>
              </a:rPr>
              <a:t>依赖于浸没边界等方法的发展，且计算量大；传统壁面模化方法暂无统一的体积力模型，需对不同粗糙元模型进行调整；基于常规神经网络方法（如</a:t>
            </a:r>
            <a:r>
              <a:rPr lang="en-US" altLang="zh-CN" sz="2000" dirty="0">
                <a:latin typeface="FangSong" panose="02010609060101010101" pitchFamily="49" charset="-122"/>
                <a:ea typeface="FangSong" panose="02010609060101010101" pitchFamily="49" charset="-122"/>
              </a:rPr>
              <a:t>FNN</a:t>
            </a:r>
            <a:r>
              <a:rPr lang="zh-CN" altLang="en-US" sz="2000" dirty="0">
                <a:latin typeface="FangSong" panose="02010609060101010101" pitchFamily="49" charset="-122"/>
                <a:ea typeface="FangSong" panose="02010609060101010101" pitchFamily="49" charset="-122"/>
              </a:rPr>
              <a:t>）的模型，除前期需要输入大量的数据外，存在泛化能力瓶颈。</a:t>
            </a:r>
            <a:endParaRPr lang="en-US" altLang="zh-CN" sz="2000" dirty="0">
              <a:latin typeface="FangSong" panose="02010609060101010101" pitchFamily="49" charset="-122"/>
              <a:ea typeface="FangSong" panose="02010609060101010101" pitchFamily="49" charset="-122"/>
            </a:endParaRPr>
          </a:p>
          <a:p>
            <a:pPr marL="0" indent="457200" algn="just">
              <a:lnSpc>
                <a:spcPct val="150000"/>
              </a:lnSpc>
              <a:buNone/>
            </a:pPr>
            <a:r>
              <a:rPr lang="zh-CN" altLang="en-US" sz="2000" dirty="0">
                <a:latin typeface="FangSong" panose="02010609060101010101" pitchFamily="49" charset="-122"/>
                <a:ea typeface="FangSong" panose="02010609060101010101" pitchFamily="49" charset="-122"/>
              </a:rPr>
              <a:t> 近年来</a:t>
            </a:r>
            <a:r>
              <a:rPr lang="en-US" altLang="zh-CN" sz="2000" dirty="0">
                <a:latin typeface="FangSong" panose="02010609060101010101" pitchFamily="49" charset="-122"/>
                <a:ea typeface="FangSong" panose="02010609060101010101" pitchFamily="49" charset="-122"/>
              </a:rPr>
              <a:t>AI4Science</a:t>
            </a:r>
            <a:r>
              <a:rPr lang="zh-CN" altLang="en-US" sz="2000" dirty="0">
                <a:latin typeface="FangSong" panose="02010609060101010101" pitchFamily="49" charset="-122"/>
                <a:ea typeface="FangSong" panose="02010609060101010101" pitchFamily="49" charset="-122"/>
              </a:rPr>
              <a:t>领域中与生成式人工智能结合的研究日益增多，后者在解决泛化能力瓶颈方面有望实现突破。本项目提出通过在生成式人工智能中嵌套粗糙壁面拓扑结构信息，构建壁面对来流的物理反馈模型，发展针对高速粗糙壁湍流的简化模拟方法。</a:t>
            </a:r>
            <a:endParaRPr lang="en-US" altLang="zh-CN" sz="2000" dirty="0"/>
          </a:p>
        </p:txBody>
      </p:sp>
      <p:sp>
        <p:nvSpPr>
          <p:cNvPr id="4" name="文本框 3">
            <a:extLst>
              <a:ext uri="{FF2B5EF4-FFF2-40B4-BE49-F238E27FC236}">
                <a16:creationId xmlns:a16="http://schemas.microsoft.com/office/drawing/2014/main" id="{95BDF0F8-2787-DC2B-363D-FF4AC831AD74}"/>
              </a:ext>
            </a:extLst>
          </p:cNvPr>
          <p:cNvSpPr txBox="1"/>
          <p:nvPr/>
        </p:nvSpPr>
        <p:spPr>
          <a:xfrm>
            <a:off x="57977" y="104362"/>
            <a:ext cx="10315733" cy="461665"/>
          </a:xfrm>
          <a:prstGeom prst="rect">
            <a:avLst/>
          </a:prstGeom>
          <a:noFill/>
        </p:spPr>
        <p:txBody>
          <a:bodyPr wrap="square">
            <a:spAutoFit/>
          </a:bodyPr>
          <a:lstStyle/>
          <a:p>
            <a:r>
              <a:rPr lang="zh-CN" altLang="en-US" sz="2400" dirty="0">
                <a:latin typeface="Times New Roman" panose="02020603050405020304" pitchFamily="18" charset="0"/>
                <a:cs typeface="Times New Roman" panose="02020603050405020304" pitchFamily="18" charset="0"/>
              </a:rPr>
              <a:t>基于生成式阻抗模型的高超声速粗糙壁湍流模拟方法研究</a:t>
            </a:r>
            <a:endParaRPr lang="en-US" sz="24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DBCC662B-D572-2BCB-8487-9CB2F6FCE56B}"/>
              </a:ext>
            </a:extLst>
          </p:cNvPr>
          <p:cNvCxnSpPr>
            <a:cxnSpLocks/>
          </p:cNvCxnSpPr>
          <p:nvPr/>
        </p:nvCxnSpPr>
        <p:spPr>
          <a:xfrm>
            <a:off x="79513" y="620084"/>
            <a:ext cx="1203297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874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12772-CDAF-2B7B-12F0-A6472B8DA4BB}"/>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EC6A1EA2-2BCB-BF44-0BB5-393A13B60510}"/>
              </a:ext>
            </a:extLst>
          </p:cNvPr>
          <p:cNvSpPr>
            <a:spLocks noGrp="1"/>
          </p:cNvSpPr>
          <p:nvPr>
            <p:ph idx="1"/>
          </p:nvPr>
        </p:nvSpPr>
        <p:spPr>
          <a:xfrm>
            <a:off x="57978" y="830317"/>
            <a:ext cx="12032974" cy="5923321"/>
          </a:xfrm>
        </p:spPr>
        <p:txBody>
          <a:bodyPr>
            <a:normAutofit/>
          </a:bodyPr>
          <a:lstStyle/>
          <a:p>
            <a:pPr marL="0" indent="0">
              <a:lnSpc>
                <a:spcPct val="150000"/>
              </a:lnSpc>
              <a:buNone/>
            </a:pPr>
            <a:r>
              <a:rPr lang="zh-CN" altLang="en-US" sz="2000" b="1" dirty="0">
                <a:latin typeface="黑体" panose="02010609060101010101" pitchFamily="49" charset="-122"/>
                <a:ea typeface="黑体" panose="02010609060101010101" pitchFamily="49" charset="-122"/>
              </a:rPr>
              <a:t>研究目标：</a:t>
            </a:r>
            <a:r>
              <a:rPr lang="zh-CN" altLang="en-US" sz="2000" dirty="0">
                <a:latin typeface="FangSong" panose="02010609060101010101" pitchFamily="49" charset="-122"/>
                <a:ea typeface="FangSong" panose="02010609060101010101" pitchFamily="49" charset="-122"/>
              </a:rPr>
              <a:t>提取各项异性粗糙壁的有效几何表征参数，构建代表粗糙壁拓扑结构的图网络。</a:t>
            </a:r>
            <a:endParaRPr lang="en-US" altLang="zh-CN" sz="2000" dirty="0">
              <a:latin typeface="FangSong" panose="02010609060101010101" pitchFamily="49" charset="-122"/>
              <a:ea typeface="FangSong" panose="02010609060101010101" pitchFamily="49" charset="-122"/>
            </a:endParaRPr>
          </a:p>
          <a:p>
            <a:pPr marL="0" indent="0">
              <a:lnSpc>
                <a:spcPct val="150000"/>
              </a:lnSpc>
              <a:buNone/>
            </a:pPr>
            <a:r>
              <a:rPr lang="zh-CN" altLang="en-US" sz="2000" b="1" dirty="0">
                <a:latin typeface="黑体" panose="02010609060101010101" pitchFamily="49" charset="-122"/>
                <a:ea typeface="黑体" panose="02010609060101010101" pitchFamily="49" charset="-122"/>
              </a:rPr>
              <a:t>研究内容：</a:t>
            </a:r>
            <a:endParaRPr lang="en-US" altLang="zh-CN" sz="2000" b="1" dirty="0">
              <a:latin typeface="黑体" panose="02010609060101010101" pitchFamily="49" charset="-122"/>
              <a:ea typeface="黑体" panose="02010609060101010101" pitchFamily="49" charset="-122"/>
            </a:endParaRPr>
          </a:p>
          <a:p>
            <a:pPr>
              <a:lnSpc>
                <a:spcPct val="150000"/>
              </a:lnSpc>
            </a:pPr>
            <a:r>
              <a:rPr lang="zh-CN" altLang="en-US" sz="2000" dirty="0">
                <a:latin typeface="FangSong" panose="02010609060101010101" pitchFamily="49" charset="-122"/>
                <a:ea typeface="FangSong" panose="02010609060101010101" pitchFamily="49" charset="-122"/>
              </a:rPr>
              <a:t>基于连续型粗糙元函数生成各向异性分布粗糙壁，开展高精度数值模拟，获取流动数据。</a:t>
            </a:r>
            <a:endParaRPr lang="en-US" altLang="zh-CN" sz="2000" dirty="0">
              <a:latin typeface="FangSong" panose="02010609060101010101" pitchFamily="49" charset="-122"/>
              <a:ea typeface="FangSong" panose="02010609060101010101" pitchFamily="49" charset="-122"/>
            </a:endParaRPr>
          </a:p>
          <a:p>
            <a:pPr>
              <a:lnSpc>
                <a:spcPct val="150000"/>
              </a:lnSpc>
            </a:pPr>
            <a:r>
              <a:rPr lang="zh-CN" altLang="en-US" sz="2000" dirty="0">
                <a:latin typeface="FangSong" panose="02010609060101010101" pitchFamily="49" charset="-122"/>
                <a:ea typeface="FangSong" panose="02010609060101010101" pitchFamily="49" charset="-122"/>
              </a:rPr>
              <a:t>利用孔隙网络建模方法，构建粗糙壁的孔隙网络模型，提取湍流来流条件下粗糙壁所对应的孔隙和孔喉等要素，基于流动数据反复迭代以确保模型精度。</a:t>
            </a:r>
            <a:endParaRPr lang="en-US" altLang="zh-CN" sz="2000" dirty="0">
              <a:latin typeface="FangSong" panose="02010609060101010101" pitchFamily="49" charset="-122"/>
              <a:ea typeface="FangSong" panose="02010609060101010101" pitchFamily="49" charset="-122"/>
            </a:endParaRPr>
          </a:p>
          <a:p>
            <a:pPr>
              <a:lnSpc>
                <a:spcPct val="150000"/>
              </a:lnSpc>
            </a:pPr>
            <a:r>
              <a:rPr lang="zh-CN" altLang="en-US" sz="2000" dirty="0">
                <a:latin typeface="FangSong" panose="02010609060101010101" pitchFamily="49" charset="-122"/>
                <a:ea typeface="FangSong" panose="02010609060101010101" pitchFamily="49" charset="-122"/>
              </a:rPr>
              <a:t>将粗糙壁面的孔隙网络模型抽象表达为包含粗糙元拓扑结构信息的图网络，作为后续内容中生成式节点阻抗模型的框架。</a:t>
            </a:r>
            <a:endParaRPr lang="en-US" altLang="zh-CN" sz="2000" dirty="0">
              <a:latin typeface="FangSong" panose="02010609060101010101" pitchFamily="49" charset="-122"/>
              <a:ea typeface="FangSong" panose="02010609060101010101" pitchFamily="49" charset="-122"/>
            </a:endParaRPr>
          </a:p>
          <a:p>
            <a:pPr marL="0" indent="0">
              <a:lnSpc>
                <a:spcPct val="150000"/>
              </a:lnSpc>
              <a:buNone/>
            </a:pPr>
            <a:r>
              <a:rPr lang="zh-CN" altLang="en-US" sz="2000" b="1" dirty="0">
                <a:latin typeface="黑体" panose="02010609060101010101" pitchFamily="49" charset="-122"/>
                <a:ea typeface="黑体" panose="02010609060101010101" pitchFamily="49" charset="-122"/>
              </a:rPr>
              <a:t>主要创新点：</a:t>
            </a:r>
            <a:r>
              <a:rPr lang="zh-CN" altLang="en-US" sz="2000" dirty="0">
                <a:latin typeface="FangSong" panose="02010609060101010101" pitchFamily="49" charset="-122"/>
                <a:ea typeface="FangSong" panose="02010609060101010101" pitchFamily="49" charset="-122"/>
              </a:rPr>
              <a:t>规避精确复现几何外形所需的庞大计算量，利用孔隙网络建模和图网络构建粗糙壁近壁面几何</a:t>
            </a:r>
            <a:r>
              <a:rPr lang="en-US" altLang="zh-CN" sz="2000" dirty="0">
                <a:latin typeface="FangSong" panose="02010609060101010101" pitchFamily="49" charset="-122"/>
                <a:ea typeface="FangSong" panose="02010609060101010101" pitchFamily="49" charset="-122"/>
              </a:rPr>
              <a:t>-</a:t>
            </a:r>
            <a:r>
              <a:rPr lang="zh-CN" altLang="en-US" sz="2000" dirty="0">
                <a:latin typeface="FangSong" panose="02010609060101010101" pitchFamily="49" charset="-122"/>
                <a:ea typeface="FangSong" panose="02010609060101010101" pitchFamily="49" charset="-122"/>
              </a:rPr>
              <a:t>流动关系模型。</a:t>
            </a:r>
            <a:endParaRPr lang="en-US" altLang="zh-CN" sz="2000" dirty="0">
              <a:latin typeface="FangSong" panose="02010609060101010101" pitchFamily="49" charset="-122"/>
              <a:ea typeface="FangSong" panose="02010609060101010101" pitchFamily="49" charset="-122"/>
            </a:endParaRPr>
          </a:p>
          <a:p>
            <a:pPr marL="0" indent="0">
              <a:lnSpc>
                <a:spcPct val="150000"/>
              </a:lnSpc>
              <a:buNone/>
            </a:pPr>
            <a:r>
              <a:rPr lang="zh-CN" altLang="en-US" sz="2000" b="1" dirty="0">
                <a:latin typeface="黑体" panose="02010609060101010101" pitchFamily="49" charset="-122"/>
                <a:ea typeface="黑体" panose="02010609060101010101" pitchFamily="49" charset="-122"/>
              </a:rPr>
              <a:t>关键问题：</a:t>
            </a:r>
            <a:r>
              <a:rPr lang="zh-CN" altLang="en-US" sz="2000" dirty="0">
                <a:latin typeface="FangSong" panose="02010609060101010101" pitchFamily="49" charset="-122"/>
                <a:ea typeface="FangSong" panose="02010609060101010101" pitchFamily="49" charset="-122"/>
              </a:rPr>
              <a:t>湍流来流条件下粗糙壁的孔隙与孔喉的准确定义与模型构建。</a:t>
            </a:r>
            <a:endParaRPr lang="en-US" altLang="zh-CN" sz="2000" dirty="0">
              <a:latin typeface="FangSong" panose="02010609060101010101" pitchFamily="49" charset="-122"/>
              <a:ea typeface="FangSong" panose="02010609060101010101" pitchFamily="49" charset="-122"/>
            </a:endParaRPr>
          </a:p>
          <a:p>
            <a:pPr marL="0" indent="0">
              <a:buNone/>
            </a:pPr>
            <a:endParaRPr lang="en-US" altLang="zh-CN" sz="2000" b="1"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5041E5F4-CC55-A47B-CE51-4BC351FD43E0}"/>
              </a:ext>
            </a:extLst>
          </p:cNvPr>
          <p:cNvSpPr txBox="1"/>
          <p:nvPr/>
        </p:nvSpPr>
        <p:spPr>
          <a:xfrm>
            <a:off x="57977" y="104362"/>
            <a:ext cx="10315733" cy="461665"/>
          </a:xfrm>
          <a:prstGeom prst="rect">
            <a:avLst/>
          </a:prstGeom>
          <a:noFill/>
        </p:spPr>
        <p:txBody>
          <a:bodyPr wrap="square">
            <a:spAutoFit/>
          </a:bodyPr>
          <a:lstStyle/>
          <a:p>
            <a:r>
              <a:rPr lang="zh-CN" altLang="en-US" sz="2400" b="1" dirty="0">
                <a:latin typeface="Times New Roman" panose="02020603050405020304" pitchFamily="18" charset="0"/>
                <a:cs typeface="Times New Roman" panose="02020603050405020304" pitchFamily="18" charset="0"/>
              </a:rPr>
              <a:t>研究内容一</a:t>
            </a:r>
            <a:endParaRPr lang="en-US" sz="2400" b="1"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DA0D6542-13AB-C3A7-D951-D92DF8C0ECEC}"/>
              </a:ext>
            </a:extLst>
          </p:cNvPr>
          <p:cNvCxnSpPr>
            <a:cxnSpLocks/>
          </p:cNvCxnSpPr>
          <p:nvPr/>
        </p:nvCxnSpPr>
        <p:spPr>
          <a:xfrm>
            <a:off x="79513" y="620084"/>
            <a:ext cx="1203297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0706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CC756-68DE-6CE5-5880-E2999B75A558}"/>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7924CF32-345D-E43D-66A3-3D694E522D47}"/>
              </a:ext>
            </a:extLst>
          </p:cNvPr>
          <p:cNvSpPr>
            <a:spLocks noGrp="1"/>
          </p:cNvSpPr>
          <p:nvPr>
            <p:ph idx="1"/>
          </p:nvPr>
        </p:nvSpPr>
        <p:spPr>
          <a:xfrm>
            <a:off x="57978" y="830317"/>
            <a:ext cx="12032974" cy="5923321"/>
          </a:xfrm>
        </p:spPr>
        <p:txBody>
          <a:bodyPr>
            <a:normAutofit/>
          </a:bodyPr>
          <a:lstStyle/>
          <a:p>
            <a:pPr marL="0" indent="0">
              <a:lnSpc>
                <a:spcPct val="150000"/>
              </a:lnSpc>
              <a:buNone/>
            </a:pPr>
            <a:r>
              <a:rPr lang="zh-CN" altLang="en-US" sz="2000" b="1" dirty="0">
                <a:latin typeface="黑体" panose="02010609060101010101" pitchFamily="49" charset="-122"/>
                <a:ea typeface="黑体" panose="02010609060101010101" pitchFamily="49" charset="-122"/>
              </a:rPr>
              <a:t>研究目标：</a:t>
            </a:r>
            <a:r>
              <a:rPr lang="zh-CN" altLang="en-US" sz="2000" dirty="0">
                <a:latin typeface="FangSong" panose="02010609060101010101" pitchFamily="49" charset="-122"/>
                <a:ea typeface="FangSong" panose="02010609060101010101" pitchFamily="49" charset="-122"/>
              </a:rPr>
              <a:t>结合</a:t>
            </a:r>
            <a:r>
              <a:rPr lang="en-US" altLang="zh-CN" sz="2000" dirty="0">
                <a:latin typeface="FangSong" panose="02010609060101010101" pitchFamily="49" charset="-122"/>
                <a:ea typeface="FangSong" panose="02010609060101010101" pitchFamily="49" charset="-122"/>
              </a:rPr>
              <a:t>Transformer</a:t>
            </a:r>
            <a:r>
              <a:rPr lang="zh-CN" altLang="en-US" sz="2000" dirty="0">
                <a:latin typeface="FangSong" panose="02010609060101010101" pitchFamily="49" charset="-122"/>
                <a:ea typeface="FangSong" panose="02010609060101010101" pitchFamily="49" charset="-122"/>
              </a:rPr>
              <a:t>框架，构建具有泛化能力的粗糙壁节点阻抗，作为壁面对流动的响应模型。</a:t>
            </a:r>
            <a:endParaRPr lang="en-US" altLang="zh-CN" sz="2000" dirty="0">
              <a:latin typeface="FangSong" panose="02010609060101010101" pitchFamily="49" charset="-122"/>
              <a:ea typeface="FangSong" panose="02010609060101010101" pitchFamily="49" charset="-122"/>
            </a:endParaRPr>
          </a:p>
          <a:p>
            <a:pPr marL="0" indent="0">
              <a:lnSpc>
                <a:spcPct val="150000"/>
              </a:lnSpc>
              <a:buNone/>
            </a:pPr>
            <a:r>
              <a:rPr lang="zh-CN" altLang="en-US" sz="2000" b="1" dirty="0">
                <a:latin typeface="黑体" panose="02010609060101010101" pitchFamily="49" charset="-122"/>
                <a:ea typeface="黑体" panose="02010609060101010101" pitchFamily="49" charset="-122"/>
              </a:rPr>
              <a:t>研究内容：</a:t>
            </a:r>
            <a:endParaRPr lang="en-US" altLang="zh-CN" sz="2000" b="1" dirty="0">
              <a:latin typeface="黑体" panose="02010609060101010101" pitchFamily="49" charset="-122"/>
              <a:ea typeface="黑体" panose="02010609060101010101" pitchFamily="49" charset="-122"/>
            </a:endParaRPr>
          </a:p>
          <a:p>
            <a:pPr>
              <a:lnSpc>
                <a:spcPct val="150000"/>
              </a:lnSpc>
            </a:pPr>
            <a:r>
              <a:rPr lang="zh-CN" altLang="en-US" sz="2000" dirty="0">
                <a:latin typeface="FangSong" panose="02010609060101010101" pitchFamily="49" charset="-122"/>
                <a:ea typeface="FangSong" panose="02010609060101010101" pitchFamily="49" charset="-122"/>
              </a:rPr>
              <a:t>将研究内容一中所形成的粗糙壁图网络嵌入</a:t>
            </a:r>
            <a:r>
              <a:rPr lang="en-US" altLang="zh-CN" sz="2000" dirty="0">
                <a:latin typeface="FangSong" panose="02010609060101010101" pitchFamily="49" charset="-122"/>
                <a:ea typeface="FangSong" panose="02010609060101010101" pitchFamily="49" charset="-122"/>
              </a:rPr>
              <a:t>Transformer</a:t>
            </a:r>
            <a:r>
              <a:rPr lang="zh-CN" altLang="en-US" sz="2000" dirty="0">
                <a:latin typeface="FangSong" panose="02010609060101010101" pitchFamily="49" charset="-122"/>
                <a:ea typeface="FangSong" panose="02010609060101010101" pitchFamily="49" charset="-122"/>
              </a:rPr>
              <a:t>框架之中。</a:t>
            </a:r>
            <a:endParaRPr lang="en-US" altLang="zh-CN" sz="2000" dirty="0">
              <a:latin typeface="FangSong" panose="02010609060101010101" pitchFamily="49" charset="-122"/>
              <a:ea typeface="FangSong" panose="02010609060101010101" pitchFamily="49" charset="-122"/>
            </a:endParaRPr>
          </a:p>
          <a:p>
            <a:pPr>
              <a:lnSpc>
                <a:spcPct val="150000"/>
              </a:lnSpc>
            </a:pPr>
            <a:r>
              <a:rPr lang="zh-CN" altLang="en-US" sz="2000" dirty="0">
                <a:latin typeface="FangSong" panose="02010609060101010101" pitchFamily="49" charset="-122"/>
                <a:ea typeface="FangSong" panose="02010609060101010101" pitchFamily="49" charset="-122"/>
              </a:rPr>
              <a:t>基于流动数据及所构建的框架，训练并生成构建广义节点阻抗，作为</a:t>
            </a:r>
            <a:r>
              <a:rPr lang="en-US" altLang="zh-CN" sz="2000" dirty="0" err="1">
                <a:latin typeface="FangSong" panose="02010609060101010101" pitchFamily="49" charset="-122"/>
                <a:ea typeface="FangSong" panose="02010609060101010101" pitchFamily="49" charset="-122"/>
              </a:rPr>
              <a:t>i</a:t>
            </a:r>
            <a:r>
              <a:rPr lang="en-US" altLang="zh-CN" sz="2000" dirty="0">
                <a:latin typeface="FangSong" panose="02010609060101010101" pitchFamily="49" charset="-122"/>
                <a:ea typeface="FangSong" panose="02010609060101010101" pitchFamily="49" charset="-122"/>
              </a:rPr>
              <a:t>)</a:t>
            </a:r>
            <a:r>
              <a:rPr lang="zh-CN" altLang="en-US" sz="2000" dirty="0">
                <a:latin typeface="FangSong" panose="02010609060101010101" pitchFamily="49" charset="-122"/>
                <a:ea typeface="FangSong" panose="02010609060101010101" pitchFamily="49" charset="-122"/>
              </a:rPr>
              <a:t>对湍流来流的响应模型（密度、速度、温度和压力等）</a:t>
            </a:r>
            <a:r>
              <a:rPr lang="en-US" altLang="zh-CN" sz="2000" dirty="0">
                <a:latin typeface="FangSong" panose="02010609060101010101" pitchFamily="49" charset="-122"/>
                <a:ea typeface="FangSong" panose="02010609060101010101" pitchFamily="49" charset="-122"/>
              </a:rPr>
              <a:t>ii</a:t>
            </a:r>
            <a:r>
              <a:rPr lang="zh-CN" altLang="en-US" sz="2000" dirty="0">
                <a:latin typeface="FangSong" panose="02010609060101010101" pitchFamily="49" charset="-122"/>
                <a:ea typeface="FangSong" panose="02010609060101010101" pitchFamily="49" charset="-122"/>
              </a:rPr>
              <a:t>）根据湍流来流预测当地剪切力和热流。</a:t>
            </a:r>
            <a:endParaRPr lang="en-US" altLang="zh-CN" sz="2000" dirty="0">
              <a:latin typeface="FangSong" panose="02010609060101010101" pitchFamily="49" charset="-122"/>
              <a:ea typeface="FangSong" panose="02010609060101010101" pitchFamily="49" charset="-122"/>
            </a:endParaRPr>
          </a:p>
          <a:p>
            <a:pPr>
              <a:lnSpc>
                <a:spcPct val="150000"/>
              </a:lnSpc>
            </a:pPr>
            <a:r>
              <a:rPr lang="zh-CN" altLang="en-US" sz="2000" dirty="0">
                <a:latin typeface="FangSong" panose="02010609060101010101" pitchFamily="49" charset="-122"/>
                <a:ea typeface="FangSong" panose="02010609060101010101" pitchFamily="49" charset="-122"/>
              </a:rPr>
              <a:t>对所构建的生成式阻抗模型进行优化和迭代，系统性评估其泛化能力。</a:t>
            </a:r>
            <a:endParaRPr lang="en-US" altLang="zh-CN" sz="2000" dirty="0">
              <a:latin typeface="FangSong" panose="02010609060101010101" pitchFamily="49" charset="-122"/>
              <a:ea typeface="FangSong" panose="02010609060101010101" pitchFamily="49" charset="-122"/>
            </a:endParaRPr>
          </a:p>
          <a:p>
            <a:pPr marL="0" indent="0">
              <a:lnSpc>
                <a:spcPct val="150000"/>
              </a:lnSpc>
              <a:buNone/>
            </a:pPr>
            <a:r>
              <a:rPr lang="zh-CN" altLang="en-US" sz="2000" b="1" dirty="0">
                <a:latin typeface="黑体" panose="02010609060101010101" pitchFamily="49" charset="-122"/>
                <a:ea typeface="黑体" panose="02010609060101010101" pitchFamily="49" charset="-122"/>
              </a:rPr>
              <a:t>主要创新点：</a:t>
            </a:r>
            <a:r>
              <a:rPr lang="zh-CN" altLang="en-US" sz="2000" dirty="0">
                <a:latin typeface="FangSong" panose="02010609060101010101" pitchFamily="49" charset="-122"/>
                <a:ea typeface="FangSong" panose="02010609060101010101" pitchFamily="49" charset="-122"/>
              </a:rPr>
              <a:t>基于</a:t>
            </a:r>
            <a:r>
              <a:rPr lang="en-US" altLang="zh-CN" sz="2000" dirty="0">
                <a:latin typeface="FangSong" panose="02010609060101010101" pitchFamily="49" charset="-122"/>
                <a:ea typeface="FangSong" panose="02010609060101010101" pitchFamily="49" charset="-122"/>
              </a:rPr>
              <a:t>Transformer</a:t>
            </a:r>
            <a:r>
              <a:rPr lang="zh-CN" altLang="en-US" sz="2000" dirty="0">
                <a:latin typeface="FangSong" panose="02010609060101010101" pitchFamily="49" charset="-122"/>
                <a:ea typeface="FangSong" panose="02010609060101010101" pitchFamily="49" charset="-122"/>
              </a:rPr>
              <a:t>框架，构建广义生成式节点阻抗，提升模型泛化能力。</a:t>
            </a:r>
            <a:endParaRPr lang="en-US" altLang="zh-CN" sz="2000" dirty="0">
              <a:latin typeface="FangSong" panose="02010609060101010101" pitchFamily="49" charset="-122"/>
              <a:ea typeface="FangSong" panose="02010609060101010101" pitchFamily="49" charset="-122"/>
            </a:endParaRPr>
          </a:p>
          <a:p>
            <a:pPr marL="0" indent="0">
              <a:lnSpc>
                <a:spcPct val="150000"/>
              </a:lnSpc>
              <a:buNone/>
            </a:pPr>
            <a:r>
              <a:rPr lang="zh-CN" altLang="en-US" sz="2000" b="1" dirty="0">
                <a:latin typeface="黑体" panose="02010609060101010101" pitchFamily="49" charset="-122"/>
                <a:ea typeface="黑体" panose="02010609060101010101" pitchFamily="49" charset="-122"/>
              </a:rPr>
              <a:t>关键问题：</a:t>
            </a:r>
            <a:r>
              <a:rPr lang="zh-CN" altLang="en-US" sz="2000" dirty="0">
                <a:latin typeface="FangSong" panose="02010609060101010101" pitchFamily="49" charset="-122"/>
                <a:ea typeface="FangSong" panose="02010609060101010101" pitchFamily="49" charset="-122"/>
              </a:rPr>
              <a:t>图神经网络的节点和边信息在</a:t>
            </a:r>
            <a:r>
              <a:rPr lang="en-US" altLang="zh-CN" sz="2000" dirty="0">
                <a:latin typeface="FangSong" panose="02010609060101010101" pitchFamily="49" charset="-122"/>
                <a:ea typeface="FangSong" panose="02010609060101010101" pitchFamily="49" charset="-122"/>
              </a:rPr>
              <a:t>Transformer</a:t>
            </a:r>
            <a:r>
              <a:rPr lang="zh-CN" altLang="en-US" sz="2000" dirty="0">
                <a:latin typeface="FangSong" panose="02010609060101010101" pitchFamily="49" charset="-122"/>
                <a:ea typeface="FangSong" panose="02010609060101010101" pitchFamily="49" charset="-122"/>
              </a:rPr>
              <a:t>中的角色：作为</a:t>
            </a:r>
            <a:r>
              <a:rPr lang="en-US" altLang="zh-CN" sz="2000" dirty="0">
                <a:latin typeface="FangSong" panose="02010609060101010101" pitchFamily="49" charset="-122"/>
                <a:ea typeface="FangSong" panose="02010609060101010101" pitchFamily="49" charset="-122"/>
              </a:rPr>
              <a:t>token</a:t>
            </a:r>
            <a:r>
              <a:rPr lang="zh-CN" altLang="en-US" sz="2000" dirty="0">
                <a:latin typeface="FangSong" panose="02010609060101010101" pitchFamily="49" charset="-122"/>
                <a:ea typeface="FangSong" panose="02010609060101010101" pitchFamily="49" charset="-122"/>
              </a:rPr>
              <a:t>输入</a:t>
            </a:r>
            <a:r>
              <a:rPr lang="en-US" altLang="zh-CN" sz="2000" dirty="0">
                <a:latin typeface="FangSong" panose="02010609060101010101" pitchFamily="49" charset="-122"/>
                <a:ea typeface="FangSong" panose="02010609060101010101" pitchFamily="49" charset="-122"/>
              </a:rPr>
              <a:t>/</a:t>
            </a:r>
            <a:r>
              <a:rPr lang="zh-CN" altLang="en-US" sz="2000" dirty="0">
                <a:latin typeface="FangSong" panose="02010609060101010101" pitchFamily="49" charset="-122"/>
                <a:ea typeface="FangSong" panose="02010609060101010101" pitchFamily="49" charset="-122"/>
              </a:rPr>
              <a:t>基本骨架</a:t>
            </a:r>
            <a:r>
              <a:rPr lang="en-US" altLang="zh-CN" sz="2000" dirty="0">
                <a:latin typeface="FangSong" panose="02010609060101010101" pitchFamily="49" charset="-122"/>
                <a:ea typeface="FangSong" panose="02010609060101010101" pitchFamily="49" charset="-122"/>
              </a:rPr>
              <a:t>/</a:t>
            </a:r>
            <a:r>
              <a:rPr lang="zh-CN" altLang="en-US" sz="2000" dirty="0">
                <a:latin typeface="FangSong" panose="02010609060101010101" pitchFamily="49" charset="-122"/>
                <a:ea typeface="FangSong" panose="02010609060101010101" pitchFamily="49" charset="-122"/>
              </a:rPr>
              <a:t>二者兼有</a:t>
            </a:r>
          </a:p>
          <a:p>
            <a:pPr marL="0" indent="0">
              <a:lnSpc>
                <a:spcPct val="150000"/>
              </a:lnSpc>
              <a:buNone/>
            </a:pPr>
            <a:endParaRPr lang="en-US" altLang="zh-CN" sz="2000" b="1" dirty="0">
              <a:latin typeface="黑体" panose="02010609060101010101" pitchFamily="49" charset="-122"/>
              <a:ea typeface="黑体" panose="02010609060101010101" pitchFamily="49" charset="-122"/>
            </a:endParaRPr>
          </a:p>
          <a:p>
            <a:pPr marL="0" indent="0">
              <a:buNone/>
            </a:pPr>
            <a:endParaRPr lang="en-US" altLang="zh-CN" sz="2000" b="1"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02A21797-F576-5C00-C1F4-6B1515E98ACE}"/>
              </a:ext>
            </a:extLst>
          </p:cNvPr>
          <p:cNvSpPr txBox="1"/>
          <p:nvPr/>
        </p:nvSpPr>
        <p:spPr>
          <a:xfrm>
            <a:off x="57977" y="104362"/>
            <a:ext cx="10315733" cy="461665"/>
          </a:xfrm>
          <a:prstGeom prst="rect">
            <a:avLst/>
          </a:prstGeom>
          <a:noFill/>
        </p:spPr>
        <p:txBody>
          <a:bodyPr wrap="square">
            <a:spAutoFit/>
          </a:bodyPr>
          <a:lstStyle/>
          <a:p>
            <a:r>
              <a:rPr lang="zh-CN" altLang="en-US" sz="2400" b="1" dirty="0">
                <a:latin typeface="Times New Roman" panose="02020603050405020304" pitchFamily="18" charset="0"/>
                <a:cs typeface="Times New Roman" panose="02020603050405020304" pitchFamily="18" charset="0"/>
              </a:rPr>
              <a:t>研究内容二</a:t>
            </a:r>
            <a:endParaRPr lang="en-US" sz="2400" b="1"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1FEF8278-43E6-DC3A-CF1D-85EF1F41659B}"/>
              </a:ext>
            </a:extLst>
          </p:cNvPr>
          <p:cNvCxnSpPr>
            <a:cxnSpLocks/>
          </p:cNvCxnSpPr>
          <p:nvPr/>
        </p:nvCxnSpPr>
        <p:spPr>
          <a:xfrm>
            <a:off x="79513" y="620084"/>
            <a:ext cx="1203297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9185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1AEB3-3EFA-1BE7-0678-362C13E4D210}"/>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40123058-0DE9-88B4-3D13-CA3E6C5DF06C}"/>
              </a:ext>
            </a:extLst>
          </p:cNvPr>
          <p:cNvSpPr>
            <a:spLocks noGrp="1"/>
          </p:cNvSpPr>
          <p:nvPr>
            <p:ph idx="1"/>
          </p:nvPr>
        </p:nvSpPr>
        <p:spPr>
          <a:xfrm>
            <a:off x="57978" y="830317"/>
            <a:ext cx="12032974" cy="5923321"/>
          </a:xfrm>
        </p:spPr>
        <p:txBody>
          <a:bodyPr>
            <a:normAutofit/>
          </a:bodyPr>
          <a:lstStyle/>
          <a:p>
            <a:pPr marL="0" indent="0">
              <a:lnSpc>
                <a:spcPct val="150000"/>
              </a:lnSpc>
              <a:buNone/>
            </a:pPr>
            <a:r>
              <a:rPr lang="zh-CN" altLang="en-US" sz="2000" b="1" dirty="0">
                <a:latin typeface="黑体" panose="02010609060101010101" pitchFamily="49" charset="-122"/>
                <a:ea typeface="黑体" panose="02010609060101010101" pitchFamily="49" charset="-122"/>
              </a:rPr>
              <a:t>研究目标：</a:t>
            </a:r>
            <a:r>
              <a:rPr lang="zh-CN" altLang="en-US" sz="2000" dirty="0">
                <a:latin typeface="FangSong" panose="02010609060101010101" pitchFamily="49" charset="-122"/>
                <a:ea typeface="FangSong" panose="02010609060101010101" pitchFamily="49" charset="-122"/>
              </a:rPr>
              <a:t>基于时域阻抗边界条件形成高超声速粗糙壁湍流简化模拟方法。</a:t>
            </a:r>
            <a:endParaRPr lang="en-US" altLang="zh-CN" sz="2000" dirty="0">
              <a:latin typeface="FangSong" panose="02010609060101010101" pitchFamily="49" charset="-122"/>
              <a:ea typeface="FangSong" panose="02010609060101010101" pitchFamily="49" charset="-122"/>
            </a:endParaRPr>
          </a:p>
          <a:p>
            <a:pPr marL="0" indent="0">
              <a:lnSpc>
                <a:spcPct val="150000"/>
              </a:lnSpc>
              <a:buNone/>
            </a:pPr>
            <a:r>
              <a:rPr lang="zh-CN" altLang="en-US" sz="2000" b="1" dirty="0">
                <a:latin typeface="黑体" panose="02010609060101010101" pitchFamily="49" charset="-122"/>
                <a:ea typeface="黑体" panose="02010609060101010101" pitchFamily="49" charset="-122"/>
              </a:rPr>
              <a:t>研究内容：</a:t>
            </a:r>
            <a:endParaRPr lang="en-US" altLang="zh-CN" sz="2000" b="1" dirty="0">
              <a:latin typeface="黑体" panose="02010609060101010101" pitchFamily="49" charset="-122"/>
              <a:ea typeface="黑体" panose="02010609060101010101" pitchFamily="49" charset="-122"/>
            </a:endParaRPr>
          </a:p>
          <a:p>
            <a:pPr>
              <a:lnSpc>
                <a:spcPct val="150000"/>
              </a:lnSpc>
            </a:pPr>
            <a:r>
              <a:rPr lang="zh-CN" altLang="en-US" sz="2000" dirty="0">
                <a:latin typeface="FangSong" panose="02010609060101010101" pitchFamily="49" charset="-122"/>
                <a:ea typeface="FangSong" panose="02010609060101010101" pitchFamily="49" charset="-122"/>
              </a:rPr>
              <a:t>基于研究内容二所形成的阻抗模型，结合时域阻抗边界条件，形成高超声速粗糙壁湍流简化模拟方法。</a:t>
            </a:r>
            <a:endParaRPr lang="en-US" altLang="zh-CN" sz="2000" dirty="0">
              <a:latin typeface="FangSong" panose="02010609060101010101" pitchFamily="49" charset="-122"/>
              <a:ea typeface="FangSong" panose="02010609060101010101" pitchFamily="49" charset="-122"/>
            </a:endParaRPr>
          </a:p>
          <a:p>
            <a:pPr>
              <a:lnSpc>
                <a:spcPct val="150000"/>
              </a:lnSpc>
            </a:pPr>
            <a:r>
              <a:rPr lang="zh-CN" altLang="en-US" sz="2000" dirty="0">
                <a:latin typeface="FangSong" panose="02010609060101010101" pitchFamily="49" charset="-122"/>
                <a:ea typeface="FangSong" panose="02010609060101010101" pitchFamily="49" charset="-122"/>
              </a:rPr>
              <a:t>获取实际粗糙壁外形和试验数据（需要联系外协单位），利用所形成的简化模拟方法进行数值模拟，验证并优化模型与模拟方法。改变工况并开展数值模拟，形成数据集。</a:t>
            </a:r>
            <a:endParaRPr lang="en-US" altLang="zh-CN" sz="2000" dirty="0">
              <a:latin typeface="FangSong" panose="02010609060101010101" pitchFamily="49" charset="-122"/>
              <a:ea typeface="FangSong" panose="02010609060101010101" pitchFamily="49" charset="-122"/>
            </a:endParaRPr>
          </a:p>
          <a:p>
            <a:pPr>
              <a:lnSpc>
                <a:spcPct val="150000"/>
              </a:lnSpc>
            </a:pPr>
            <a:r>
              <a:rPr lang="zh-CN" altLang="en-US" sz="2000" dirty="0">
                <a:latin typeface="FangSong" panose="02010609060101010101" pitchFamily="49" charset="-122"/>
                <a:ea typeface="FangSong" panose="02010609060101010101" pitchFamily="49" charset="-122"/>
              </a:rPr>
              <a:t>基于前述内容所产生的数据，探究粗糙壁流动中近壁面湍流的局部高温成因及其与近壁面复杂波系的关联。（流动控制？）</a:t>
            </a:r>
            <a:endParaRPr lang="en-US" altLang="zh-CN" sz="2000" dirty="0">
              <a:latin typeface="FangSong" panose="02010609060101010101" pitchFamily="49" charset="-122"/>
              <a:ea typeface="FangSong" panose="02010609060101010101" pitchFamily="49" charset="-122"/>
            </a:endParaRPr>
          </a:p>
          <a:p>
            <a:pPr marL="0" indent="0">
              <a:lnSpc>
                <a:spcPct val="150000"/>
              </a:lnSpc>
              <a:buNone/>
            </a:pPr>
            <a:r>
              <a:rPr lang="zh-CN" altLang="en-US" sz="2000" b="1" dirty="0">
                <a:latin typeface="黑体" panose="02010609060101010101" pitchFamily="49" charset="-122"/>
                <a:ea typeface="黑体" panose="02010609060101010101" pitchFamily="49" charset="-122"/>
              </a:rPr>
              <a:t>主要创新点：</a:t>
            </a:r>
            <a:r>
              <a:rPr lang="zh-CN" altLang="en-US" sz="2000" dirty="0">
                <a:latin typeface="FangSong" panose="02010609060101010101" pitchFamily="49" charset="-122"/>
                <a:ea typeface="FangSong" panose="02010609060101010101" pitchFamily="49" charset="-122"/>
              </a:rPr>
              <a:t>基于生成式阻抗的简化模拟方法。</a:t>
            </a:r>
            <a:endParaRPr lang="en-US" altLang="zh-CN" sz="2000" dirty="0">
              <a:latin typeface="FangSong" panose="02010609060101010101" pitchFamily="49" charset="-122"/>
              <a:ea typeface="FangSong" panose="02010609060101010101" pitchFamily="49" charset="-122"/>
            </a:endParaRPr>
          </a:p>
          <a:p>
            <a:pPr marL="0" indent="0">
              <a:lnSpc>
                <a:spcPct val="150000"/>
              </a:lnSpc>
              <a:buNone/>
            </a:pPr>
            <a:r>
              <a:rPr lang="zh-CN" altLang="en-US" sz="2000" b="1" dirty="0">
                <a:latin typeface="黑体" panose="02010609060101010101" pitchFamily="49" charset="-122"/>
                <a:ea typeface="黑体" panose="02010609060101010101" pitchFamily="49" charset="-122"/>
              </a:rPr>
              <a:t>关键问题：</a:t>
            </a:r>
            <a:r>
              <a:rPr lang="zh-CN" altLang="en-US" sz="2000" dirty="0">
                <a:latin typeface="FangSong" panose="02010609060101010101" pitchFamily="49" charset="-122"/>
                <a:ea typeface="FangSong" panose="02010609060101010101" pitchFamily="49" charset="-122"/>
              </a:rPr>
              <a:t>时域阻抗边界条件中广义生成式阻抗模型的</a:t>
            </a:r>
            <a:r>
              <a:rPr lang="zh-CN" altLang="en-US" sz="2000">
                <a:latin typeface="FangSong" panose="02010609060101010101" pitchFamily="49" charset="-122"/>
                <a:ea typeface="FangSong" panose="02010609060101010101" pitchFamily="49" charset="-122"/>
              </a:rPr>
              <a:t>因果性和真实性。</a:t>
            </a:r>
            <a:endParaRPr lang="en-US" altLang="zh-CN" sz="2000" dirty="0">
              <a:latin typeface="FangSong" panose="02010609060101010101" pitchFamily="49" charset="-122"/>
              <a:ea typeface="FangSong" panose="02010609060101010101" pitchFamily="49" charset="-122"/>
            </a:endParaRPr>
          </a:p>
          <a:p>
            <a:pPr marL="0" indent="0">
              <a:buNone/>
            </a:pPr>
            <a:endParaRPr lang="en-US" altLang="zh-CN" sz="2000" b="1"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CF186EF3-327A-D856-A858-DF0970EB46CE}"/>
              </a:ext>
            </a:extLst>
          </p:cNvPr>
          <p:cNvSpPr txBox="1"/>
          <p:nvPr/>
        </p:nvSpPr>
        <p:spPr>
          <a:xfrm>
            <a:off x="57977" y="104362"/>
            <a:ext cx="10315733" cy="461665"/>
          </a:xfrm>
          <a:prstGeom prst="rect">
            <a:avLst/>
          </a:prstGeom>
          <a:noFill/>
        </p:spPr>
        <p:txBody>
          <a:bodyPr wrap="square">
            <a:spAutoFit/>
          </a:bodyPr>
          <a:lstStyle/>
          <a:p>
            <a:r>
              <a:rPr lang="zh-CN" altLang="en-US" sz="2400" b="1" dirty="0">
                <a:latin typeface="Times New Roman" panose="02020603050405020304" pitchFamily="18" charset="0"/>
                <a:cs typeface="Times New Roman" panose="02020603050405020304" pitchFamily="18" charset="0"/>
              </a:rPr>
              <a:t>研究内容三</a:t>
            </a:r>
            <a:endParaRPr lang="en-US" sz="2400" b="1"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60EBFD30-63A6-2D73-DD4D-4D12F0F7C381}"/>
              </a:ext>
            </a:extLst>
          </p:cNvPr>
          <p:cNvCxnSpPr>
            <a:cxnSpLocks/>
          </p:cNvCxnSpPr>
          <p:nvPr/>
        </p:nvCxnSpPr>
        <p:spPr>
          <a:xfrm>
            <a:off x="79513" y="620084"/>
            <a:ext cx="1203297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866572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1442</TotalTime>
  <Words>726</Words>
  <Application>Microsoft Macintosh PowerPoint</Application>
  <PresentationFormat>Widescreen</PresentationFormat>
  <Paragraphs>29</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FangSong</vt:lpstr>
      <vt:lpstr>黑体</vt:lpstr>
      <vt:lpstr>Aptos</vt:lpstr>
      <vt:lpstr>Aptos Display</vt:lpstr>
      <vt:lpstr>Arial</vt:lpstr>
      <vt:lpstr>Times New Roman</vt:lpstr>
      <vt:lpstr>Office 主题​​</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Yongkai Chen</dc:creator>
  <cp:lastModifiedBy>Yongkai Chen</cp:lastModifiedBy>
  <cp:revision>74</cp:revision>
  <dcterms:created xsi:type="dcterms:W3CDTF">2025-12-29T02:35:34Z</dcterms:created>
  <dcterms:modified xsi:type="dcterms:W3CDTF">2026-01-10T11:06:50Z</dcterms:modified>
</cp:coreProperties>
</file>